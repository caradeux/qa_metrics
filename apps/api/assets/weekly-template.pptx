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257" r:id="rId6"/>
    <p:sldId id="269" r:id="rId7"/>
    <p:sldId id="270" r:id="rId8"/>
    <p:sldId id="271" r:id="rId9"/>
    <p:sldId id="275" r:id="rId10"/>
    <p:sldId id="273" r:id="rId11"/>
    <p:sldId id="274" r:id="rId12"/>
    <p:sldId id="277" r:id="rId13"/>
    <p:sldId id="278" r:id="rId14"/>
    <p:sldId id="279" r:id="rId15"/>
    <p:sldId id="280" r:id="rId16"/>
    <p:sldId id="281" r:id="rId17"/>
    <p:sldId id="282" r:id="rId18"/>
    <p:sldId id="285" r:id="rId19"/>
    <p:sldId id="286" r:id="rId20"/>
    <p:sldId id="268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9459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550AF-2BD9-0BEF-AA93-AED5F3A6B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F1764-779C-F3A2-2765-DB2A7A6BE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B9375A-8F82-E19B-A80A-DDC71DCC91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24638-C1B9-F7F9-23F7-8D6E8C0B97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92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B0916-FA69-9CBD-307D-17262B87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FCB1F-92A1-3302-6452-29BD6A378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B6C06-2B99-8D09-2A91-6B7E66722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F9ECA-932B-E7DE-892B-BA44980108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3498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C1A58-A94D-094C-D721-832F0A796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817AD-CCD7-C3E9-A4DF-F423224F9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07F21-79E2-7552-2EAE-305B06974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93133-E1E4-AD7F-9948-6DFD5524C9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41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055A1-F4CA-6011-8851-FCBE82AFF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F93DD0-710A-591D-17E6-32D096987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F54DB1-3840-F1E7-FCF1-662A8B5635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ED602-1214-1D70-DDFB-38FB2AAAA7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5412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B169-07EC-CDB0-6436-E2E53E95E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3236B9-2685-FD37-38C7-94300B736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3696FF-FF49-77A4-EA49-A95BAAFDA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9158ED-68C5-DA87-3926-BCFA5EBCE9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7770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0340A-7DD0-5EA2-6F36-B04C507CC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F6F4E0-E032-87F2-5A87-6F5DAEA7E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1EFA2-F679-868A-ED05-BE6021AA4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F87EF-E696-8ECC-F5B7-91FB2FF3B6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168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66E4-953E-DB35-62A1-5020A7704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25AB6B-628D-9437-C561-9E4129932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19A50E-5FAD-259F-57B4-7610DB5DF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90A302-24D4-D984-8265-C21428722E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9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94059-7C82-B1A1-A314-8E09B6B0B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129092-AC6C-2B98-A374-BDB39A0665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665AB-7885-185E-A818-43C7D23C0C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111FF-1D65-AB68-D256-A84A1722A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1779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BAC2F-EB86-D360-50C5-62579D0C5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7423A3-800E-C5F9-A9C9-11AC2944CE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20288F-3B3D-2D6F-E797-3047581884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1C36A-40A5-A2A2-FD6F-2E449C3934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8257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731520"/>
            <a:ext cx="18288" cy="36576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4" name="Shape 2"/>
          <p:cNvSpPr/>
          <p:nvPr/>
        </p:nvSpPr>
        <p:spPr>
          <a:xfrm>
            <a:off x="8046720" y="3840480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/>
          <p:cNvSpPr/>
          <p:nvPr/>
        </p:nvSpPr>
        <p:spPr>
          <a:xfrm>
            <a:off x="8174736" y="3840480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6" name="Shape 4"/>
          <p:cNvSpPr/>
          <p:nvPr/>
        </p:nvSpPr>
        <p:spPr>
          <a:xfrm>
            <a:off x="8302752" y="3840480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" name="Shape 5"/>
          <p:cNvSpPr/>
          <p:nvPr/>
        </p:nvSpPr>
        <p:spPr>
          <a:xfrm>
            <a:off x="8430768" y="384048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8" name="Shape 6"/>
          <p:cNvSpPr/>
          <p:nvPr/>
        </p:nvSpPr>
        <p:spPr>
          <a:xfrm>
            <a:off x="8046720" y="3968496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9" name="Shape 7"/>
          <p:cNvSpPr/>
          <p:nvPr/>
        </p:nvSpPr>
        <p:spPr>
          <a:xfrm>
            <a:off x="8174736" y="3968496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0" name="Shape 8"/>
          <p:cNvSpPr/>
          <p:nvPr/>
        </p:nvSpPr>
        <p:spPr>
          <a:xfrm>
            <a:off x="8302752" y="3968496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1" name="Shape 9"/>
          <p:cNvSpPr/>
          <p:nvPr/>
        </p:nvSpPr>
        <p:spPr>
          <a:xfrm>
            <a:off x="8430768" y="3968496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2" name="Shape 10"/>
          <p:cNvSpPr/>
          <p:nvPr/>
        </p:nvSpPr>
        <p:spPr>
          <a:xfrm>
            <a:off x="8046720" y="4096512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3" name="Shape 11"/>
          <p:cNvSpPr/>
          <p:nvPr/>
        </p:nvSpPr>
        <p:spPr>
          <a:xfrm>
            <a:off x="8174736" y="4096512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4" name="Shape 12"/>
          <p:cNvSpPr/>
          <p:nvPr/>
        </p:nvSpPr>
        <p:spPr>
          <a:xfrm>
            <a:off x="8302752" y="4096512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5" name="Shape 13"/>
          <p:cNvSpPr/>
          <p:nvPr/>
        </p:nvSpPr>
        <p:spPr>
          <a:xfrm>
            <a:off x="8430768" y="4096512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"/>
            <a:ext cx="1463040" cy="28346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77240" y="2176272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s-CL" sz="4600" b="1" noProof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</a:t>
            </a:r>
            <a:endParaRPr lang="es-CL" sz="4600" noProof="0" dirty="0"/>
          </a:p>
        </p:txBody>
      </p:sp>
      <p:sp>
        <p:nvSpPr>
          <p:cNvPr id="19" name="Text 16"/>
          <p:cNvSpPr/>
          <p:nvPr/>
        </p:nvSpPr>
        <p:spPr>
          <a:xfrm>
            <a:off x="777240" y="2816352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s-CL" sz="4600" b="1" noProof="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 QA</a:t>
            </a:r>
            <a:endParaRPr lang="es-CL" sz="4600" noProof="0" dirty="0"/>
          </a:p>
        </p:txBody>
      </p:sp>
      <p:sp>
        <p:nvSpPr>
          <p:cNvPr id="20" name="Shape 17"/>
          <p:cNvSpPr/>
          <p:nvPr/>
        </p:nvSpPr>
        <p:spPr>
          <a:xfrm>
            <a:off x="822960" y="3703320"/>
            <a:ext cx="2286000" cy="7315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21" name="Text 18"/>
          <p:cNvSpPr/>
          <p:nvPr/>
        </p:nvSpPr>
        <p:spPr>
          <a:xfrm>
            <a:off x="82296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1300" noProof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Aseguramiento de Calidad &amp; Seguridad | </a:t>
            </a:r>
            <a:r>
              <a:rPr lang="es-CL" sz="1300" noProof="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InovaBiz</a:t>
            </a:r>
            <a:endParaRPr lang="es-CL" sz="1300" noProof="0" dirty="0"/>
          </a:p>
        </p:txBody>
      </p:sp>
      <p:sp>
        <p:nvSpPr>
          <p:cNvPr id="22" name="Text 19"/>
          <p:cNvSpPr/>
          <p:nvPr/>
        </p:nvSpPr>
        <p:spPr>
          <a:xfrm>
            <a:off x="822960" y="46634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850" kern="0" spc="200" noProof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s-CL" sz="850" noProof="0" dirty="0"/>
          </a:p>
        </p:txBody>
      </p:sp>
      <p:sp>
        <p:nvSpPr>
          <p:cNvPr id="23" name="Text 20"/>
          <p:cNvSpPr/>
          <p:nvPr/>
        </p:nvSpPr>
        <p:spPr>
          <a:xfrm>
            <a:off x="5943600" y="46634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CL" sz="850" kern="0" spc="200" noProof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CONFIDENCIAL</a:t>
            </a:r>
            <a:endParaRPr lang="es-CL" sz="850" noProof="0" dirty="0"/>
          </a:p>
        </p:txBody>
      </p:sp>
      <p:sp>
        <p:nvSpPr>
          <p:cNvPr id="24" name="Shape 21"/>
          <p:cNvSpPr/>
          <p:nvPr/>
        </p:nvSpPr>
        <p:spPr>
          <a:xfrm>
            <a:off x="0" y="5074920"/>
            <a:ext cx="4572000" cy="1828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25" name="Shape 22"/>
          <p:cNvSpPr/>
          <p:nvPr/>
        </p:nvSpPr>
        <p:spPr>
          <a:xfrm>
            <a:off x="4572000" y="5074920"/>
            <a:ext cx="457200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pic>
        <p:nvPicPr>
          <p:cNvPr id="27" name="Picture 2" descr="Logos - Imagen UDD">
            <a:extLst>
              <a:ext uri="{FF2B5EF4-FFF2-40B4-BE49-F238E27FC236}">
                <a16:creationId xmlns:a16="http://schemas.microsoft.com/office/drawing/2014/main" id="{06175E62-4F1A-F5B5-0C80-77AAA5A4F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3400" b="1" noProof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Trayectorias</a:t>
            </a:r>
            <a:endParaRPr lang="es-CL" sz="34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6576" cy="8686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22C55E"/>
                </a:solidFill>
                <a:latin typeface="Arial" pitchFamily="34" charset="0"/>
                <a:cs typeface="Arial" pitchFamily="34" charset="-120"/>
              </a:rPr>
              <a:t>EQUIPO</a:t>
            </a:r>
            <a:endParaRPr lang="es-CL" sz="75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Jefe de Proyecto	: Alex Zúñiga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Analista QA 	: Jose Flores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Asignación 	: 100%</a:t>
            </a:r>
          </a:p>
        </p:txBody>
      </p:sp>
      <p:sp>
        <p:nvSpPr>
          <p:cNvPr id="16" name="Shape 14"/>
          <p:cNvSpPr/>
          <p:nvPr/>
        </p:nvSpPr>
        <p:spPr>
          <a:xfrm>
            <a:off x="484632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7" name="Shape 15"/>
          <p:cNvSpPr/>
          <p:nvPr/>
        </p:nvSpPr>
        <p:spPr>
          <a:xfrm>
            <a:off x="4846320" y="1051560"/>
            <a:ext cx="36576" cy="8686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8" name="Text 16"/>
          <p:cNvSpPr/>
          <p:nvPr/>
        </p:nvSpPr>
        <p:spPr>
          <a:xfrm>
            <a:off x="502920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OBSERVACIONES</a:t>
            </a:r>
            <a:endParaRPr lang="es-CL" sz="750" noProof="0" dirty="0"/>
          </a:p>
        </p:txBody>
      </p:sp>
      <p:sp>
        <p:nvSpPr>
          <p:cNvPr id="19" name="Text 17"/>
          <p:cNvSpPr/>
          <p:nvPr/>
        </p:nvSpPr>
        <p:spPr>
          <a:xfrm>
            <a:off x="5029200" y="13258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tema pendiente por </a:t>
            </a:r>
            <a:r>
              <a:rPr lang="es-CL" sz="950" noProof="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V°B°</a:t>
            </a: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plan de pruebas</a:t>
            </a:r>
            <a:endParaRPr lang="es-CL" sz="950" noProof="0" dirty="0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48640" y="4709160"/>
            <a:ext cx="914400" cy="17373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CL" sz="900" noProof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13</a:t>
            </a:r>
            <a:endParaRPr lang="es-CL" sz="900" noProof="0" dirty="0"/>
          </a:p>
        </p:txBody>
      </p:sp>
      <p:graphicFrame>
        <p:nvGraphicFramePr>
          <p:cNvPr id="35" name="Tabla QA Metricas 211">
            <a:extLst>
              <a:ext uri="{FF2B5EF4-FFF2-40B4-BE49-F238E27FC236}">
                <a16:creationId xmlns:a16="http://schemas.microsoft.com/office/drawing/2014/main" id="{767D4CEB-2FE3-815D-1C21-2C62727A47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809535"/>
              </p:ext>
            </p:extLst>
          </p:nvPr>
        </p:nvGraphicFramePr>
        <p:xfrm>
          <a:off x="509449" y="2805425"/>
          <a:ext cx="6702607" cy="1673352"/>
        </p:xfrm>
        <a:graphic>
          <a:graphicData uri="http://schemas.openxmlformats.org/drawingml/2006/table">
            <a:tbl>
              <a:tblPr firstRow="1"/>
              <a:tblGrid>
                <a:gridCol w="26060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50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66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Historia de Usuario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Diseñados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Ejecutados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Bugs
Detectados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5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l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HU: #12720 - Cupos Compartidos (Ciclo 4)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s-CL" sz="820" b="1" kern="1200" noProof="0" dirty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+mn-cs"/>
                        </a:rPr>
                        <a:t>Dev a Desarrollo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i="1" noProof="0" dirty="0">
                          <a:solidFill>
                            <a:srgbClr val="1C2833"/>
                          </a:solidFill>
                          <a:latin typeface="Calibri"/>
                        </a:rPr>
                        <a:t>Observación UAT 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3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l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HU: #13571 - </a:t>
                      </a:r>
                      <a:r>
                        <a:rPr lang="es-CL" sz="820" b="0" noProof="0" dirty="0" err="1">
                          <a:solidFill>
                            <a:srgbClr val="1C2833"/>
                          </a:solidFill>
                          <a:latin typeface="Calibri"/>
                        </a:rPr>
                        <a:t>Endpoint</a:t>
                      </a:r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 /</a:t>
                      </a:r>
                      <a:r>
                        <a:rPr lang="es-CL" sz="820" b="0" noProof="0" dirty="0" err="1">
                          <a:solidFill>
                            <a:srgbClr val="1C2833"/>
                          </a:solidFill>
                          <a:latin typeface="Calibri"/>
                        </a:rPr>
                        <a:t>CargaAcademicaAlumno</a:t>
                      </a:r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s-CL" sz="820" b="1" kern="1200" noProof="0" dirty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+mn-cs"/>
                        </a:rPr>
                        <a:t>En Diseño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5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l"/>
                      <a:r>
                        <a:rPr lang="es-ES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HU: #14593 - Habilitar unidad que imparte</a:t>
                      </a:r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s-CL" sz="820" b="1" kern="1200" noProof="0" dirty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+mn-cs"/>
                        </a:rPr>
                        <a:t>A la espera de Ambientación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858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+mn-lt"/>
                        </a:rPr>
                        <a:t>HU: #14587 - Procesos Programados Certificaciones</a:t>
                      </a:r>
                      <a:endParaRPr lang="es-CL" sz="900" noProof="0" dirty="0"/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CL" sz="820" b="1" kern="1200" noProof="0" dirty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+mn-cs"/>
                        </a:rPr>
                        <a:t>En Diseño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552128"/>
                  </a:ext>
                </a:extLst>
              </a:tr>
              <a:tr h="17858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noProof="0" dirty="0"/>
                        <a:t>HU: #14594 - Vigencia de certificaciones</a:t>
                      </a:r>
                      <a:endParaRPr lang="es-CL" sz="900" noProof="0" dirty="0"/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820" b="1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 la espera de Ambientación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4033212"/>
                  </a:ext>
                </a:extLst>
              </a:tr>
            </a:tbl>
          </a:graphicData>
        </a:graphic>
      </p:graphicFrame>
      <p:sp>
        <p:nvSpPr>
          <p:cNvPr id="37" name="LabelBar 210">
            <a:extLst>
              <a:ext uri="{FF2B5EF4-FFF2-40B4-BE49-F238E27FC236}">
                <a16:creationId xmlns:a16="http://schemas.microsoft.com/office/drawing/2014/main" id="{D8333D47-DB26-7668-942B-A20E1572DFCC}"/>
              </a:ext>
            </a:extLst>
          </p:cNvPr>
          <p:cNvSpPr txBox="1"/>
          <p:nvPr/>
        </p:nvSpPr>
        <p:spPr>
          <a:xfrm>
            <a:off x="509449" y="2498717"/>
            <a:ext cx="6702608" cy="280000"/>
          </a:xfrm>
          <a:prstGeom prst="rect">
            <a:avLst/>
          </a:prstGeom>
          <a:solidFill>
            <a:srgbClr val="2D8DBB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MÉTRICAS POR HISTORIA DE USUARIO — TRAYECTORIAS</a:t>
            </a:r>
          </a:p>
        </p:txBody>
      </p:sp>
      <p:pic>
        <p:nvPicPr>
          <p:cNvPr id="1026" name="Picture 2" descr="Logos - Imagen UDD">
            <a:extLst>
              <a:ext uri="{FF2B5EF4-FFF2-40B4-BE49-F238E27FC236}">
                <a16:creationId xmlns:a16="http://schemas.microsoft.com/office/drawing/2014/main" id="{A2D161E9-0EB2-C2BE-5931-A0A429F34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24F093-D7FD-398D-15E2-23EEF293F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C10D4D-3176-3D89-FC7C-0C53776FCEF6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8BAAC41-420B-C973-DDB9-87DA06CF58FF}"/>
              </a:ext>
            </a:extLst>
          </p:cNvPr>
          <p:cNvSpPr/>
          <p:nvPr/>
        </p:nvSpPr>
        <p:spPr>
          <a:xfrm>
            <a:off x="457200" y="320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3400" b="1" noProof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COIL</a:t>
            </a:r>
            <a:endParaRPr lang="es-CL" sz="34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791270D-077B-1CE4-1F55-F04E84022F68}"/>
              </a:ext>
            </a:extLst>
          </p:cNvPr>
          <p:cNvSpPr/>
          <p:nvPr/>
        </p:nvSpPr>
        <p:spPr>
          <a:xfrm>
            <a:off x="45720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42610E4-5A1A-2CD8-EDE6-57974EB94D92}"/>
              </a:ext>
            </a:extLst>
          </p:cNvPr>
          <p:cNvSpPr/>
          <p:nvPr/>
        </p:nvSpPr>
        <p:spPr>
          <a:xfrm>
            <a:off x="457200" y="1051560"/>
            <a:ext cx="36576" cy="8686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04A945C-BF83-36EE-697D-0106A7CF067F}"/>
              </a:ext>
            </a:extLst>
          </p:cNvPr>
          <p:cNvSpPr/>
          <p:nvPr/>
        </p:nvSpPr>
        <p:spPr>
          <a:xfrm>
            <a:off x="64008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22C55E"/>
                </a:solidFill>
                <a:latin typeface="Arial" pitchFamily="34" charset="0"/>
                <a:cs typeface="Arial" pitchFamily="34" charset="-120"/>
              </a:rPr>
              <a:t>EQUIPO</a:t>
            </a:r>
            <a:endParaRPr lang="es-CL" sz="75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223DE-9570-7EF2-46F2-0A462509B225}"/>
              </a:ext>
            </a:extLst>
          </p:cNvPr>
          <p:cNvSpPr/>
          <p:nvPr/>
        </p:nvSpPr>
        <p:spPr>
          <a:xfrm>
            <a:off x="640080" y="132588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Jefe de Proyecto: Alex Zúñiga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Analista QA : Jose Flores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Asignación Analista : 100%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FB4BFCF-285E-9A32-74F0-0A814B59B59A}"/>
              </a:ext>
            </a:extLst>
          </p:cNvPr>
          <p:cNvSpPr/>
          <p:nvPr/>
        </p:nvSpPr>
        <p:spPr>
          <a:xfrm>
            <a:off x="484632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01BFFF1-6361-BE25-EDFF-3E509AA2014A}"/>
              </a:ext>
            </a:extLst>
          </p:cNvPr>
          <p:cNvSpPr/>
          <p:nvPr/>
        </p:nvSpPr>
        <p:spPr>
          <a:xfrm>
            <a:off x="4846320" y="1051560"/>
            <a:ext cx="36576" cy="8686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E2B7F44-2C0A-37B3-D95B-14E10A2E0171}"/>
              </a:ext>
            </a:extLst>
          </p:cNvPr>
          <p:cNvSpPr/>
          <p:nvPr/>
        </p:nvSpPr>
        <p:spPr>
          <a:xfrm>
            <a:off x="502920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OBSERVACIONES</a:t>
            </a:r>
            <a:endParaRPr lang="es-CL" sz="750" noProof="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CA086D2-3399-044D-343C-19DF63533926}"/>
              </a:ext>
            </a:extLst>
          </p:cNvPr>
          <p:cNvSpPr/>
          <p:nvPr/>
        </p:nvSpPr>
        <p:spPr>
          <a:xfrm>
            <a:off x="5029200" y="13258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Se envía diseño con las correcciones de usuarias. Estamos a la espera</a:t>
            </a:r>
            <a:endParaRPr lang="es-CL" sz="950" noProof="0" dirty="0"/>
          </a:p>
        </p:txBody>
      </p:sp>
      <p:pic>
        <p:nvPicPr>
          <p:cNvPr id="28" name="Image 0" descr="preencoded.png">
            <a:extLst>
              <a:ext uri="{FF2B5EF4-FFF2-40B4-BE49-F238E27FC236}">
                <a16:creationId xmlns:a16="http://schemas.microsoft.com/office/drawing/2014/main" id="{C228E6BF-2DD8-821F-68E8-21C04FE5268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48640" y="4709160"/>
            <a:ext cx="914400" cy="173736"/>
          </a:xfrm>
          <a:prstGeom prst="rect">
            <a:avLst/>
          </a:prstGeom>
        </p:spPr>
      </p:pic>
      <p:sp>
        <p:nvSpPr>
          <p:cNvPr id="29" name="Text 26">
            <a:extLst>
              <a:ext uri="{FF2B5EF4-FFF2-40B4-BE49-F238E27FC236}">
                <a16:creationId xmlns:a16="http://schemas.microsoft.com/office/drawing/2014/main" id="{015A18B9-CAC5-86E5-1636-50119AB849BC}"/>
              </a:ext>
            </a:extLst>
          </p:cNvPr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CL" sz="900" noProof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13</a:t>
            </a:r>
            <a:endParaRPr lang="es-CL" sz="900" noProof="0" dirty="0"/>
          </a:p>
        </p:txBody>
      </p:sp>
      <p:graphicFrame>
        <p:nvGraphicFramePr>
          <p:cNvPr id="35" name="Tabla QA Metricas 211">
            <a:extLst>
              <a:ext uri="{FF2B5EF4-FFF2-40B4-BE49-F238E27FC236}">
                <a16:creationId xmlns:a16="http://schemas.microsoft.com/office/drawing/2014/main" id="{C94E374C-4D3B-B4CE-D4E2-308306F8B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90925"/>
              </p:ext>
            </p:extLst>
          </p:nvPr>
        </p:nvGraphicFramePr>
        <p:xfrm>
          <a:off x="493776" y="3200632"/>
          <a:ext cx="6718282" cy="557784"/>
        </p:xfrm>
        <a:graphic>
          <a:graphicData uri="http://schemas.openxmlformats.org/drawingml/2006/table">
            <a:tbl>
              <a:tblPr firstRow="1"/>
              <a:tblGrid>
                <a:gridCol w="2621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50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66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785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Historia de Usuario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Diseñados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Ejecutados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Bugs
Detectados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5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l"/>
                      <a:r>
                        <a:rPr lang="es-CL" sz="820" b="0" noProof="0" dirty="0" err="1">
                          <a:solidFill>
                            <a:srgbClr val="1C2833"/>
                          </a:solidFill>
                          <a:latin typeface="Calibri"/>
                        </a:rPr>
                        <a:t>Coil</a:t>
                      </a:r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noProof="0" dirty="0">
                          <a:solidFill>
                            <a:schemeClr val="tx1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7" name="LabelBar 210">
            <a:extLst>
              <a:ext uri="{FF2B5EF4-FFF2-40B4-BE49-F238E27FC236}">
                <a16:creationId xmlns:a16="http://schemas.microsoft.com/office/drawing/2014/main" id="{09AC0208-D314-B219-9124-CE50C8AAF38A}"/>
              </a:ext>
            </a:extLst>
          </p:cNvPr>
          <p:cNvSpPr txBox="1"/>
          <p:nvPr/>
        </p:nvSpPr>
        <p:spPr>
          <a:xfrm>
            <a:off x="479359" y="2901039"/>
            <a:ext cx="6732699" cy="280000"/>
          </a:xfrm>
          <a:prstGeom prst="rect">
            <a:avLst/>
          </a:prstGeom>
          <a:solidFill>
            <a:srgbClr val="2D8DBB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MÉTRICAS POR HISTORIA DE USUARIO — COIL</a:t>
            </a:r>
          </a:p>
        </p:txBody>
      </p:sp>
      <p:pic>
        <p:nvPicPr>
          <p:cNvPr id="8" name="Picture 2" descr="Logos - Imagen UDD">
            <a:extLst>
              <a:ext uri="{FF2B5EF4-FFF2-40B4-BE49-F238E27FC236}">
                <a16:creationId xmlns:a16="http://schemas.microsoft.com/office/drawing/2014/main" id="{455D3C60-2DDF-731F-5DF5-0D9A0C36E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9381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3F657E-10CA-CED9-2E08-C7F01CE3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D893DB-04AE-75E3-F67C-9F21E06FC191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A7D5F2-B3EE-D01A-E282-8838154F07F4}"/>
              </a:ext>
            </a:extLst>
          </p:cNvPr>
          <p:cNvSpPr/>
          <p:nvPr/>
        </p:nvSpPr>
        <p:spPr>
          <a:xfrm>
            <a:off x="457200" y="320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3400" b="1" noProof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Certificaciones</a:t>
            </a:r>
            <a:endParaRPr lang="es-CL" sz="34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29165D3-21C0-ABF3-4C4A-0A6C76FD2C3A}"/>
              </a:ext>
            </a:extLst>
          </p:cNvPr>
          <p:cNvSpPr/>
          <p:nvPr/>
        </p:nvSpPr>
        <p:spPr>
          <a:xfrm>
            <a:off x="45720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AC9F571-C0A9-4A48-ED01-57FDCE359AE7}"/>
              </a:ext>
            </a:extLst>
          </p:cNvPr>
          <p:cNvSpPr/>
          <p:nvPr/>
        </p:nvSpPr>
        <p:spPr>
          <a:xfrm>
            <a:off x="457200" y="1051560"/>
            <a:ext cx="36576" cy="8686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8E5C4F1-9C00-EE53-D065-275F4D8263F1}"/>
              </a:ext>
            </a:extLst>
          </p:cNvPr>
          <p:cNvSpPr/>
          <p:nvPr/>
        </p:nvSpPr>
        <p:spPr>
          <a:xfrm>
            <a:off x="64008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22C55E"/>
                </a:solidFill>
                <a:latin typeface="Arial" pitchFamily="34" charset="0"/>
                <a:cs typeface="Arial" pitchFamily="34" charset="-120"/>
              </a:rPr>
              <a:t>EQUIPO</a:t>
            </a:r>
            <a:endParaRPr lang="es-CL" sz="75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B46429A-A696-E88D-3333-5B44C5B468EC}"/>
              </a:ext>
            </a:extLst>
          </p:cNvPr>
          <p:cNvSpPr/>
          <p:nvPr/>
        </p:nvSpPr>
        <p:spPr>
          <a:xfrm>
            <a:off x="640080" y="132588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Jefe de Proyecto: Alex Zúñiga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Analista QA : Jose Flores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Asignación Analista : 100%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E9677EAB-B69D-308B-1047-657122E730B6}"/>
              </a:ext>
            </a:extLst>
          </p:cNvPr>
          <p:cNvSpPr/>
          <p:nvPr/>
        </p:nvSpPr>
        <p:spPr>
          <a:xfrm>
            <a:off x="484632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3DB2CFC-1E80-3A4D-48D4-AFE0048DA46A}"/>
              </a:ext>
            </a:extLst>
          </p:cNvPr>
          <p:cNvSpPr/>
          <p:nvPr/>
        </p:nvSpPr>
        <p:spPr>
          <a:xfrm>
            <a:off x="4846320" y="1051560"/>
            <a:ext cx="36576" cy="8686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E49E116-2CC6-9116-2D69-20422FC02487}"/>
              </a:ext>
            </a:extLst>
          </p:cNvPr>
          <p:cNvSpPr/>
          <p:nvPr/>
        </p:nvSpPr>
        <p:spPr>
          <a:xfrm>
            <a:off x="502920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OBSERVACIONES</a:t>
            </a:r>
            <a:endParaRPr lang="es-CL" sz="750" noProof="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FF7FD43-0D9F-C275-D566-E1A669BBC272}"/>
              </a:ext>
            </a:extLst>
          </p:cNvPr>
          <p:cNvSpPr/>
          <p:nvPr/>
        </p:nvSpPr>
        <p:spPr>
          <a:xfrm>
            <a:off x="5029200" y="13258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Se aprobó el UAT, a la espera de instalación en producción</a:t>
            </a:r>
            <a:endParaRPr lang="es-CL" sz="950" noProof="0" dirty="0"/>
          </a:p>
        </p:txBody>
      </p:sp>
      <p:pic>
        <p:nvPicPr>
          <p:cNvPr id="28" name="Image 0" descr="preencoded.png">
            <a:extLst>
              <a:ext uri="{FF2B5EF4-FFF2-40B4-BE49-F238E27FC236}">
                <a16:creationId xmlns:a16="http://schemas.microsoft.com/office/drawing/2014/main" id="{5B53A2F4-BD28-8ACB-384D-1B181667A1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48640" y="4709160"/>
            <a:ext cx="914400" cy="173736"/>
          </a:xfrm>
          <a:prstGeom prst="rect">
            <a:avLst/>
          </a:prstGeom>
        </p:spPr>
      </p:pic>
      <p:sp>
        <p:nvSpPr>
          <p:cNvPr id="29" name="Text 26">
            <a:extLst>
              <a:ext uri="{FF2B5EF4-FFF2-40B4-BE49-F238E27FC236}">
                <a16:creationId xmlns:a16="http://schemas.microsoft.com/office/drawing/2014/main" id="{C310B732-E9B1-F96A-ACDA-EFF6E7F38097}"/>
              </a:ext>
            </a:extLst>
          </p:cNvPr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CL" sz="900" noProof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de 13</a:t>
            </a:r>
            <a:endParaRPr lang="es-CL" sz="900" noProof="0" dirty="0"/>
          </a:p>
        </p:txBody>
      </p:sp>
      <p:graphicFrame>
        <p:nvGraphicFramePr>
          <p:cNvPr id="35" name="Tabla QA Metricas 211">
            <a:extLst>
              <a:ext uri="{FF2B5EF4-FFF2-40B4-BE49-F238E27FC236}">
                <a16:creationId xmlns:a16="http://schemas.microsoft.com/office/drawing/2014/main" id="{895B580D-B490-7C88-FABB-544C7772A1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17132"/>
              </p:ext>
            </p:extLst>
          </p:nvPr>
        </p:nvGraphicFramePr>
        <p:xfrm>
          <a:off x="493776" y="3200632"/>
          <a:ext cx="6718282" cy="557784"/>
        </p:xfrm>
        <a:graphic>
          <a:graphicData uri="http://schemas.openxmlformats.org/drawingml/2006/table">
            <a:tbl>
              <a:tblPr firstRow="1"/>
              <a:tblGrid>
                <a:gridCol w="2621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50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66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785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Historia de Usuario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Diseñados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Ejecutados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Bugs
Detectados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5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HU Procesamiento Certificaciones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noProof="0" dirty="0">
                          <a:solidFill>
                            <a:srgbClr val="1A5276"/>
                          </a:solidFill>
                          <a:latin typeface="Calibri"/>
                        </a:rPr>
                        <a:t>UAT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7" name="LabelBar 210">
            <a:extLst>
              <a:ext uri="{FF2B5EF4-FFF2-40B4-BE49-F238E27FC236}">
                <a16:creationId xmlns:a16="http://schemas.microsoft.com/office/drawing/2014/main" id="{1AD24F37-0859-121E-88AA-DACD9F8A1E88}"/>
              </a:ext>
            </a:extLst>
          </p:cNvPr>
          <p:cNvSpPr txBox="1"/>
          <p:nvPr/>
        </p:nvSpPr>
        <p:spPr>
          <a:xfrm>
            <a:off x="479359" y="2901039"/>
            <a:ext cx="6732699" cy="280000"/>
          </a:xfrm>
          <a:prstGeom prst="rect">
            <a:avLst/>
          </a:prstGeom>
          <a:solidFill>
            <a:srgbClr val="2D8DBB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MÉTRICAS POR HISTORIA DE USUARIO — CERTIFICACIONES</a:t>
            </a:r>
          </a:p>
        </p:txBody>
      </p:sp>
      <p:pic>
        <p:nvPicPr>
          <p:cNvPr id="8" name="Picture 2" descr="Logos - Imagen UDD">
            <a:extLst>
              <a:ext uri="{FF2B5EF4-FFF2-40B4-BE49-F238E27FC236}">
                <a16:creationId xmlns:a16="http://schemas.microsoft.com/office/drawing/2014/main" id="{DCC2DA4E-75E2-19A0-53C4-8591F7FC7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2824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E5C152-1A58-8A44-150D-30DDCA647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513E20-D024-F37E-8B54-039DE53F74DD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CD2C68B-0D63-856C-DBD3-3A92A3CBDE88}"/>
              </a:ext>
            </a:extLst>
          </p:cNvPr>
          <p:cNvSpPr/>
          <p:nvPr/>
        </p:nvSpPr>
        <p:spPr>
          <a:xfrm>
            <a:off x="457200" y="320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3400" b="1" noProof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</a:t>
            </a:r>
            <a:endParaRPr lang="es-CL" sz="34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495C67C-364E-48C2-ECFC-E1E313F39474}"/>
              </a:ext>
            </a:extLst>
          </p:cNvPr>
          <p:cNvSpPr/>
          <p:nvPr/>
        </p:nvSpPr>
        <p:spPr>
          <a:xfrm>
            <a:off x="45720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C4C80B-9E93-B507-08A3-FEAFE7414AB5}"/>
              </a:ext>
            </a:extLst>
          </p:cNvPr>
          <p:cNvSpPr/>
          <p:nvPr/>
        </p:nvSpPr>
        <p:spPr>
          <a:xfrm>
            <a:off x="457200" y="1051560"/>
            <a:ext cx="36576" cy="8686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88ED4D4-D1F0-A3FD-719C-3E8D7302067C}"/>
              </a:ext>
            </a:extLst>
          </p:cNvPr>
          <p:cNvSpPr/>
          <p:nvPr/>
        </p:nvSpPr>
        <p:spPr>
          <a:xfrm>
            <a:off x="64008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22C55E"/>
                </a:solidFill>
                <a:latin typeface="Arial" pitchFamily="34" charset="0"/>
                <a:cs typeface="Arial" pitchFamily="34" charset="-120"/>
              </a:rPr>
              <a:t>EQUIPO</a:t>
            </a:r>
            <a:endParaRPr lang="es-CL" sz="75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6B1EFF0-1A5D-83B4-4A49-D9C4F8B9BDF7}"/>
              </a:ext>
            </a:extLst>
          </p:cNvPr>
          <p:cNvSpPr/>
          <p:nvPr/>
        </p:nvSpPr>
        <p:spPr>
          <a:xfrm>
            <a:off x="640080" y="132588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Jefe de Proyecto	: Juan Ruz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Analista QA 	: Renato Garcia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Asignación	: 50%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45FA368-B290-A769-44C1-1AF9AF4E6397}"/>
              </a:ext>
            </a:extLst>
          </p:cNvPr>
          <p:cNvSpPr/>
          <p:nvPr/>
        </p:nvSpPr>
        <p:spPr>
          <a:xfrm>
            <a:off x="484632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2925E53-4069-312E-71CA-BE33244690BB}"/>
              </a:ext>
            </a:extLst>
          </p:cNvPr>
          <p:cNvSpPr/>
          <p:nvPr/>
        </p:nvSpPr>
        <p:spPr>
          <a:xfrm>
            <a:off x="4846320" y="1051560"/>
            <a:ext cx="36576" cy="8686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431C16C-3E11-CA1C-AFE0-80DB109BC320}"/>
              </a:ext>
            </a:extLst>
          </p:cNvPr>
          <p:cNvSpPr/>
          <p:nvPr/>
        </p:nvSpPr>
        <p:spPr>
          <a:xfrm>
            <a:off x="502920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OBSERVACIONES</a:t>
            </a:r>
            <a:endParaRPr lang="es-CL" sz="750" noProof="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2A8AE22-A9ED-B5F2-D682-B69E36CD19B0}"/>
              </a:ext>
            </a:extLst>
          </p:cNvPr>
          <p:cNvSpPr/>
          <p:nvPr/>
        </p:nvSpPr>
        <p:spPr>
          <a:xfrm>
            <a:off x="5029200" y="13258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14812: Se Acepto UAT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14811: A la espera de respuesta de usuarias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18213 – 18925 - 14244  : A la espera de revisión de criterios de aceptación</a:t>
            </a:r>
          </a:p>
        </p:txBody>
      </p:sp>
      <p:pic>
        <p:nvPicPr>
          <p:cNvPr id="28" name="Image 0" descr="preencoded.png">
            <a:extLst>
              <a:ext uri="{FF2B5EF4-FFF2-40B4-BE49-F238E27FC236}">
                <a16:creationId xmlns:a16="http://schemas.microsoft.com/office/drawing/2014/main" id="{F4A5EFCE-32F0-FC72-D774-BCF3FC0B0D5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48640" y="4709160"/>
            <a:ext cx="914400" cy="173736"/>
          </a:xfrm>
          <a:prstGeom prst="rect">
            <a:avLst/>
          </a:prstGeom>
        </p:spPr>
      </p:pic>
      <p:sp>
        <p:nvSpPr>
          <p:cNvPr id="29" name="Text 26">
            <a:extLst>
              <a:ext uri="{FF2B5EF4-FFF2-40B4-BE49-F238E27FC236}">
                <a16:creationId xmlns:a16="http://schemas.microsoft.com/office/drawing/2014/main" id="{A55A8AD9-65BD-D0BF-50AB-C01C976CE124}"/>
              </a:ext>
            </a:extLst>
          </p:cNvPr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CL" sz="900" noProof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de 13</a:t>
            </a:r>
            <a:endParaRPr lang="es-CL" sz="900" noProof="0" dirty="0"/>
          </a:p>
        </p:txBody>
      </p:sp>
      <p:sp>
        <p:nvSpPr>
          <p:cNvPr id="37" name="LabelBar 210">
            <a:extLst>
              <a:ext uri="{FF2B5EF4-FFF2-40B4-BE49-F238E27FC236}">
                <a16:creationId xmlns:a16="http://schemas.microsoft.com/office/drawing/2014/main" id="{D246370E-DC51-5084-D5E8-ADF9D9449244}"/>
              </a:ext>
            </a:extLst>
          </p:cNvPr>
          <p:cNvSpPr txBox="1"/>
          <p:nvPr/>
        </p:nvSpPr>
        <p:spPr>
          <a:xfrm>
            <a:off x="548640" y="2100270"/>
            <a:ext cx="6094339" cy="280000"/>
          </a:xfrm>
          <a:prstGeom prst="rect">
            <a:avLst/>
          </a:prstGeom>
          <a:solidFill>
            <a:srgbClr val="2D8DBB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MÉTRICAS POR HISTORIA DE USUARIO — TRACKING</a:t>
            </a:r>
          </a:p>
        </p:txBody>
      </p:sp>
      <p:graphicFrame>
        <p:nvGraphicFramePr>
          <p:cNvPr id="11" name="Tabla QA Metricas 271">
            <a:extLst>
              <a:ext uri="{FF2B5EF4-FFF2-40B4-BE49-F238E27FC236}">
                <a16:creationId xmlns:a16="http://schemas.microsoft.com/office/drawing/2014/main" id="{D0EF9AE8-53B6-7DFC-8E82-39694EB734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77553"/>
              </p:ext>
            </p:extLst>
          </p:nvPr>
        </p:nvGraphicFramePr>
        <p:xfrm>
          <a:off x="556525" y="2406396"/>
          <a:ext cx="6086454" cy="2424866"/>
        </p:xfrm>
        <a:graphic>
          <a:graphicData uri="http://schemas.openxmlformats.org/drawingml/2006/table">
            <a:tbl>
              <a:tblPr firstRow="1"/>
              <a:tblGrid>
                <a:gridCol w="2405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3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81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2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Historia de Usuario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Diseñados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Ejecutados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Bugs
Detectados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l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HU: #18213 - Agregar nueva columna en tabla buscador de fecha resolución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00" b="1" noProof="0" dirty="0">
                          <a:solidFill>
                            <a:schemeClr val="tx1"/>
                          </a:solidFill>
                          <a:latin typeface="Calibri"/>
                        </a:rPr>
                        <a:t>En Análisis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l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HU: #14812 - Asegurar las URLS de visualización de informes  generados en el módulo del buscador mediante token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00" b="1" noProof="0" dirty="0">
                          <a:solidFill>
                            <a:schemeClr val="tx1"/>
                          </a:solidFill>
                          <a:latin typeface="Calibri"/>
                        </a:rPr>
                        <a:t>UAT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229">
                <a:tc>
                  <a:txBody>
                    <a:bodyPr/>
                    <a:lstStyle/>
                    <a:p>
                      <a:pPr algn="l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+mn-lt"/>
                        </a:rPr>
                        <a:t>HU: #14811 - Filtrar solicitudes por rol</a:t>
                      </a:r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00" b="1" noProof="0" dirty="0">
                          <a:solidFill>
                            <a:schemeClr val="tx1"/>
                          </a:solidFill>
                          <a:latin typeface="Calibri"/>
                        </a:rPr>
                        <a:t>UAT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092207"/>
                  </a:ext>
                </a:extLst>
              </a:tr>
              <a:tr h="342229">
                <a:tc>
                  <a:txBody>
                    <a:bodyPr/>
                    <a:lstStyle/>
                    <a:p>
                      <a:pPr algn="l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+mn-lt"/>
                        </a:rPr>
                        <a:t>HU: #18925 - Permitir generación de informe PDF con alerta de archivos que no se agregaron al consolidado</a:t>
                      </a:r>
                    </a:p>
                    <a:p>
                      <a:pPr algn="l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800" b="1" noProof="0" dirty="0">
                          <a:solidFill>
                            <a:schemeClr val="tx1"/>
                          </a:solidFill>
                          <a:latin typeface="+mn-lt"/>
                        </a:rPr>
                        <a:t>En Análisis</a:t>
                      </a:r>
                    </a:p>
                    <a:p>
                      <a:pPr algn="ctr"/>
                      <a:endParaRPr lang="es-CL" sz="800" b="1" noProof="0" dirty="0">
                        <a:solidFill>
                          <a:schemeClr val="tx1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408396"/>
                  </a:ext>
                </a:extLst>
              </a:tr>
              <a:tr h="342229">
                <a:tc>
                  <a:txBody>
                    <a:bodyPr/>
                    <a:lstStyle/>
                    <a:p>
                      <a:pPr algn="l"/>
                      <a:r>
                        <a:rPr lang="es-CL" sz="820" b="0" kern="1200" noProof="0" dirty="0">
                          <a:solidFill>
                            <a:srgbClr val="1C2833"/>
                          </a:solidFill>
                          <a:latin typeface="+mn-lt"/>
                          <a:ea typeface="+mn-ea"/>
                          <a:cs typeface="+mn-cs"/>
                        </a:rPr>
                        <a:t>HU: #14244 - Solicitudes con flujo de hasta dos pasos no quedan terminadas al finalizar solicitud</a:t>
                      </a:r>
                    </a:p>
                    <a:p>
                      <a:pPr algn="l"/>
                      <a:endParaRPr lang="es-CL" sz="820" b="0" kern="1200" noProof="0" dirty="0">
                        <a:solidFill>
                          <a:srgbClr val="1C2833"/>
                        </a:solidFill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800" b="1" noProof="0" dirty="0">
                          <a:solidFill>
                            <a:schemeClr val="tx1"/>
                          </a:solidFill>
                          <a:latin typeface="+mn-lt"/>
                        </a:rPr>
                        <a:t>En Análisis</a:t>
                      </a:r>
                    </a:p>
                    <a:p>
                      <a:pPr algn="ctr"/>
                      <a:endParaRPr lang="es-CL" sz="800" b="1" noProof="0" dirty="0">
                        <a:solidFill>
                          <a:schemeClr val="tx1"/>
                        </a:solidFill>
                        <a:latin typeface="Calibri"/>
                      </a:endParaRP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061576"/>
                  </a:ext>
                </a:extLst>
              </a:tr>
            </a:tbl>
          </a:graphicData>
        </a:graphic>
      </p:graphicFrame>
      <p:pic>
        <p:nvPicPr>
          <p:cNvPr id="12" name="Picture 2" descr="Logos - Imagen UDD">
            <a:extLst>
              <a:ext uri="{FF2B5EF4-FFF2-40B4-BE49-F238E27FC236}">
                <a16:creationId xmlns:a16="http://schemas.microsoft.com/office/drawing/2014/main" id="{049F0F5D-6839-EFE0-6DD2-00FF2ABE67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965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D8D64C-447A-E4C5-637D-BDAB5FF47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E62DC11-E522-5981-A64B-0A5049498400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pic>
        <p:nvPicPr>
          <p:cNvPr id="12" name="Picture 2" descr="Logos - Imagen UDD">
            <a:extLst>
              <a:ext uri="{FF2B5EF4-FFF2-40B4-BE49-F238E27FC236}">
                <a16:creationId xmlns:a16="http://schemas.microsoft.com/office/drawing/2014/main" id="{063B85D3-6BE5-05FE-6B13-76368B089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 1"/>
          <p:cNvSpPr/>
          <p:nvPr/>
        </p:nvSpPr>
        <p:spPr>
          <a:xfrm>
            <a:off x="457200" y="320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3400" b="1" noProof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DB_RESERVA-QA</a:t>
            </a:r>
            <a:endParaRPr lang="es-CL" sz="3400" noProof="0" dirty="0"/>
          </a:p>
        </p:txBody>
      </p:sp>
      <p:sp>
        <p:nvSpPr>
          <p:cNvPr id="9" name="Shape 2"/>
          <p:cNvSpPr/>
          <p:nvPr/>
        </p:nvSpPr>
        <p:spPr>
          <a:xfrm>
            <a:off x="457200" y="1051559"/>
            <a:ext cx="3840480" cy="128651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0" name="Shape 3"/>
          <p:cNvSpPr/>
          <p:nvPr/>
        </p:nvSpPr>
        <p:spPr>
          <a:xfrm>
            <a:off x="457200" y="1051560"/>
            <a:ext cx="36576" cy="8686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3" name="Text 4"/>
          <p:cNvSpPr/>
          <p:nvPr/>
        </p:nvSpPr>
        <p:spPr>
          <a:xfrm>
            <a:off x="64008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22C55E"/>
                </a:solidFill>
                <a:latin typeface="Arial" pitchFamily="34" charset="0"/>
                <a:cs typeface="Arial" pitchFamily="34" charset="-120"/>
              </a:rPr>
              <a:t>EQUIPO</a:t>
            </a:r>
            <a:endParaRPr lang="es-CL" sz="750" noProof="0" dirty="0"/>
          </a:p>
        </p:txBody>
      </p:sp>
      <p:sp>
        <p:nvSpPr>
          <p:cNvPr id="14" name="Text 5"/>
          <p:cNvSpPr/>
          <p:nvPr/>
        </p:nvSpPr>
        <p:spPr>
          <a:xfrm>
            <a:off x="621792" y="1446535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Jefe de Proyecto: Alex Zuñiga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Analista QA: Renato Garcia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Asignación: 50%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Complejidad diseño: Media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Complejidad ejecución: Media</a:t>
            </a:r>
          </a:p>
        </p:txBody>
      </p:sp>
      <p:sp>
        <p:nvSpPr>
          <p:cNvPr id="15" name="Shape 14"/>
          <p:cNvSpPr/>
          <p:nvPr/>
        </p:nvSpPr>
        <p:spPr>
          <a:xfrm>
            <a:off x="484632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20" name="Shape 15"/>
          <p:cNvSpPr/>
          <p:nvPr/>
        </p:nvSpPr>
        <p:spPr>
          <a:xfrm>
            <a:off x="4846320" y="1051560"/>
            <a:ext cx="36576" cy="8686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21" name="Text 16"/>
          <p:cNvSpPr/>
          <p:nvPr/>
        </p:nvSpPr>
        <p:spPr>
          <a:xfrm>
            <a:off x="502920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OBSERVACIONES</a:t>
            </a:r>
            <a:endParaRPr lang="es-CL" sz="750" noProof="0" dirty="0"/>
          </a:p>
        </p:txBody>
      </p:sp>
      <p:sp>
        <p:nvSpPr>
          <p:cNvPr id="22" name="Text 17"/>
          <p:cNvSpPr/>
          <p:nvPr/>
        </p:nvSpPr>
        <p:spPr>
          <a:xfrm>
            <a:off x="5029200" y="13258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br>
              <a:rPr lang="es-CL" sz="950" noProof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es-CL" sz="950" noProof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s-CL" sz="950" noProof="0" dirty="0"/>
          </a:p>
        </p:txBody>
      </p:sp>
      <p:graphicFrame>
        <p:nvGraphicFramePr>
          <p:cNvPr id="35" name="Tabla QA Metricas 211">
            <a:extLst>
              <a:ext uri="{FF2B5EF4-FFF2-40B4-BE49-F238E27FC236}">
                <a16:creationId xmlns:a16="http://schemas.microsoft.com/office/drawing/2014/main" id="{767D4CEB-2FE3-815D-1C21-2C62727A47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905438"/>
              </p:ext>
            </p:extLst>
          </p:nvPr>
        </p:nvGraphicFramePr>
        <p:xfrm>
          <a:off x="509449" y="2805425"/>
          <a:ext cx="6702607" cy="682752"/>
        </p:xfrm>
        <a:graphic>
          <a:graphicData uri="http://schemas.openxmlformats.org/drawingml/2006/table">
            <a:tbl>
              <a:tblPr firstRow="1"/>
              <a:tblGrid>
                <a:gridCol w="26060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50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66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Historia de Usuario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Diseñados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Ejecutados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Bugs
Detectados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5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l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18184 — Asegurar el correcto funcionamiento del sistema REF y otros sistemas que utilicen la BD DB_RESERVA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s-CL" sz="820" b="1" kern="1200" noProof="0" dirty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+mn-cs"/>
                        </a:rPr>
                        <a:t>En Diseño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" name="LabelBar 210">
            <a:extLst>
              <a:ext uri="{FF2B5EF4-FFF2-40B4-BE49-F238E27FC236}">
                <a16:creationId xmlns:a16="http://schemas.microsoft.com/office/drawing/2014/main" id="{D8333D47-DB26-7668-942B-A20E1572DFCC}"/>
              </a:ext>
            </a:extLst>
          </p:cNvPr>
          <p:cNvSpPr txBox="1"/>
          <p:nvPr/>
        </p:nvSpPr>
        <p:spPr>
          <a:xfrm>
            <a:off x="509448" y="2498717"/>
            <a:ext cx="6727375" cy="280000"/>
          </a:xfrm>
          <a:prstGeom prst="rect">
            <a:avLst/>
          </a:prstGeom>
          <a:solidFill>
            <a:srgbClr val="2D8DBB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MÉTRICAS POR HISTORIA DE USUARIO — MIGRACIÓN DB_RESERVA-QA</a:t>
            </a:r>
          </a:p>
        </p:txBody>
      </p:sp>
    </p:spTree>
    <p:extLst>
      <p:ext uri="{BB962C8B-B14F-4D97-AF65-F5344CB8AC3E}">
        <p14:creationId xmlns:p14="http://schemas.microsoft.com/office/powerpoint/2010/main" val="2090436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657DBB-BCB1-5E8E-7B29-3B612E7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28D6702-6D3E-6EF7-38A4-21F04358430B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6BC3ABB-9F94-AB81-E336-D83048AA2718}"/>
              </a:ext>
            </a:extLst>
          </p:cNvPr>
          <p:cNvSpPr/>
          <p:nvPr/>
        </p:nvSpPr>
        <p:spPr>
          <a:xfrm>
            <a:off x="457200" y="320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3400" b="1" noProof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Notas</a:t>
            </a:r>
            <a:endParaRPr lang="es-CL" sz="34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A271C25-81DC-5CBA-FA06-B91ADF9AAEF8}"/>
              </a:ext>
            </a:extLst>
          </p:cNvPr>
          <p:cNvSpPr/>
          <p:nvPr/>
        </p:nvSpPr>
        <p:spPr>
          <a:xfrm>
            <a:off x="45720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5B446F2-345B-90AC-6C3C-7DF4471650E9}"/>
              </a:ext>
            </a:extLst>
          </p:cNvPr>
          <p:cNvSpPr/>
          <p:nvPr/>
        </p:nvSpPr>
        <p:spPr>
          <a:xfrm>
            <a:off x="457200" y="1051560"/>
            <a:ext cx="36576" cy="8686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EB58EAB-C6EB-3AF9-1FAB-3AE4A65E3DFD}"/>
              </a:ext>
            </a:extLst>
          </p:cNvPr>
          <p:cNvSpPr/>
          <p:nvPr/>
        </p:nvSpPr>
        <p:spPr>
          <a:xfrm>
            <a:off x="64008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22C55E"/>
                </a:solidFill>
                <a:latin typeface="Arial" pitchFamily="34" charset="0"/>
                <a:cs typeface="Arial" pitchFamily="34" charset="-120"/>
              </a:rPr>
              <a:t>EQUIPO</a:t>
            </a:r>
            <a:endParaRPr lang="es-CL" sz="75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1D0071A-FCB5-9D1F-DF92-531412CC702F}"/>
              </a:ext>
            </a:extLst>
          </p:cNvPr>
          <p:cNvSpPr/>
          <p:nvPr/>
        </p:nvSpPr>
        <p:spPr>
          <a:xfrm>
            <a:off x="640080" y="132588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Jefe de Proyecto	: Mauricio Larrondo – Alex Zuñiga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Analista QA 	: Renato Garcia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Asignación	: 50%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EE692644-6E67-FE86-F469-AA31F6722A06}"/>
              </a:ext>
            </a:extLst>
          </p:cNvPr>
          <p:cNvSpPr/>
          <p:nvPr/>
        </p:nvSpPr>
        <p:spPr>
          <a:xfrm>
            <a:off x="484632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9E0348D-511F-A2A1-A92D-46E5694F1820}"/>
              </a:ext>
            </a:extLst>
          </p:cNvPr>
          <p:cNvSpPr/>
          <p:nvPr/>
        </p:nvSpPr>
        <p:spPr>
          <a:xfrm>
            <a:off x="4846320" y="1051560"/>
            <a:ext cx="36576" cy="8686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BC20F33-92DD-F165-10F2-A5726BD568F3}"/>
              </a:ext>
            </a:extLst>
          </p:cNvPr>
          <p:cNvSpPr/>
          <p:nvPr/>
        </p:nvSpPr>
        <p:spPr>
          <a:xfrm>
            <a:off x="502920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OBSERVACIONES</a:t>
            </a:r>
            <a:endParaRPr lang="es-CL" sz="750" noProof="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B9AD6D8-2C4F-D12C-707B-D2EA1CC173D9}"/>
              </a:ext>
            </a:extLst>
          </p:cNvPr>
          <p:cNvSpPr/>
          <p:nvPr/>
        </p:nvSpPr>
        <p:spPr>
          <a:xfrm>
            <a:off x="5029200" y="13258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Diseño enviado a aprobación</a:t>
            </a:r>
          </a:p>
        </p:txBody>
      </p:sp>
      <p:pic>
        <p:nvPicPr>
          <p:cNvPr id="28" name="Image 0" descr="preencoded.png">
            <a:extLst>
              <a:ext uri="{FF2B5EF4-FFF2-40B4-BE49-F238E27FC236}">
                <a16:creationId xmlns:a16="http://schemas.microsoft.com/office/drawing/2014/main" id="{3D8E3641-F37A-3F81-FCBE-8BFC6C4447D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48640" y="4709160"/>
            <a:ext cx="914400" cy="173736"/>
          </a:xfrm>
          <a:prstGeom prst="rect">
            <a:avLst/>
          </a:prstGeom>
        </p:spPr>
      </p:pic>
      <p:sp>
        <p:nvSpPr>
          <p:cNvPr id="29" name="Text 26">
            <a:extLst>
              <a:ext uri="{FF2B5EF4-FFF2-40B4-BE49-F238E27FC236}">
                <a16:creationId xmlns:a16="http://schemas.microsoft.com/office/drawing/2014/main" id="{A05C261F-59E4-BD0D-47B4-185E7AB14245}"/>
              </a:ext>
            </a:extLst>
          </p:cNvPr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CL" sz="900" noProof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de 13</a:t>
            </a:r>
            <a:endParaRPr lang="es-CL" sz="900" noProof="0" dirty="0"/>
          </a:p>
        </p:txBody>
      </p:sp>
      <p:sp>
        <p:nvSpPr>
          <p:cNvPr id="37" name="LabelBar 210">
            <a:extLst>
              <a:ext uri="{FF2B5EF4-FFF2-40B4-BE49-F238E27FC236}">
                <a16:creationId xmlns:a16="http://schemas.microsoft.com/office/drawing/2014/main" id="{16855040-7617-8962-BE06-4A1FEF1E3440}"/>
              </a:ext>
            </a:extLst>
          </p:cNvPr>
          <p:cNvSpPr txBox="1"/>
          <p:nvPr/>
        </p:nvSpPr>
        <p:spPr>
          <a:xfrm>
            <a:off x="457200" y="2328945"/>
            <a:ext cx="6721348" cy="280000"/>
          </a:xfrm>
          <a:prstGeom prst="rect">
            <a:avLst/>
          </a:prstGeom>
          <a:solidFill>
            <a:srgbClr val="2D8DBB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MÉTRICAS POR HISTORIA DE USUARIO — TRACKING</a:t>
            </a:r>
          </a:p>
        </p:txBody>
      </p:sp>
      <p:graphicFrame>
        <p:nvGraphicFramePr>
          <p:cNvPr id="8" name="Tabla QA Metricas 211">
            <a:extLst>
              <a:ext uri="{FF2B5EF4-FFF2-40B4-BE49-F238E27FC236}">
                <a16:creationId xmlns:a16="http://schemas.microsoft.com/office/drawing/2014/main" id="{FB7CF036-9C61-B14A-B3F9-57235681E9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321398"/>
              </p:ext>
            </p:extLst>
          </p:nvPr>
        </p:nvGraphicFramePr>
        <p:xfrm>
          <a:off x="457200" y="2633615"/>
          <a:ext cx="6702607" cy="774192"/>
        </p:xfrm>
        <a:graphic>
          <a:graphicData uri="http://schemas.openxmlformats.org/drawingml/2006/table">
            <a:tbl>
              <a:tblPr firstRow="1"/>
              <a:tblGrid>
                <a:gridCol w="26060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50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73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66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Historia de Usuario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Diseñados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Ejecutados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Bugs
Detectados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586">
                <a:tc>
                  <a:txBody>
                    <a:bodyPr/>
                    <a:lstStyle/>
                    <a:p>
                      <a:pPr algn="l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+mn-lt"/>
                        </a:rPr>
                        <a:t>RM01 – Contexto inicial de parametrización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CL" sz="820" b="1" kern="1200" noProof="0" dirty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+mn-cs"/>
                        </a:rPr>
                        <a:t>En Diseño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203510"/>
                  </a:ext>
                </a:extLst>
              </a:tr>
              <a:tr h="1785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RM03 – Identificación visual de notas aperturables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s-CL" sz="820" b="1" kern="1200" noProof="0" dirty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+mn-cs"/>
                        </a:rPr>
                        <a:t>En Diseño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960" marR="60960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Open Sans"/>
                        </a:defRPr>
                      </a:lvl9pPr>
                    </a:lstStyle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0960" marR="60960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8346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2EACCC-42D7-D653-0807-B36E40732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EFDE1B2-4108-D617-3380-E61459A03B29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E09F3BC-0A1A-EA83-ADCD-E395AE07BB70}"/>
              </a:ext>
            </a:extLst>
          </p:cNvPr>
          <p:cNvSpPr/>
          <p:nvPr/>
        </p:nvSpPr>
        <p:spPr>
          <a:xfrm>
            <a:off x="457200" y="320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3400" b="1" noProof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s-CL" sz="34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064D77-F616-C842-D6FF-088CC259C858}"/>
              </a:ext>
            </a:extLst>
          </p:cNvPr>
          <p:cNvSpPr/>
          <p:nvPr/>
        </p:nvSpPr>
        <p:spPr>
          <a:xfrm>
            <a:off x="457200" y="1051560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6002413-95E9-DDC8-4EE1-2E9D74BE65E4}"/>
              </a:ext>
            </a:extLst>
          </p:cNvPr>
          <p:cNvSpPr/>
          <p:nvPr/>
        </p:nvSpPr>
        <p:spPr>
          <a:xfrm>
            <a:off x="457200" y="1051560"/>
            <a:ext cx="36576" cy="8686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03DF601-F2B4-015F-A780-BEA5DE8F3E22}"/>
              </a:ext>
            </a:extLst>
          </p:cNvPr>
          <p:cNvSpPr/>
          <p:nvPr/>
        </p:nvSpPr>
        <p:spPr>
          <a:xfrm>
            <a:off x="640080" y="11247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22C55E"/>
                </a:solidFill>
                <a:latin typeface="Arial" pitchFamily="34" charset="0"/>
                <a:cs typeface="Arial" pitchFamily="34" charset="-120"/>
              </a:rPr>
              <a:t>EQUIPO</a:t>
            </a:r>
            <a:endParaRPr lang="es-CL" sz="75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97162A-0CE8-4A2F-F9D6-D874F2616B75}"/>
              </a:ext>
            </a:extLst>
          </p:cNvPr>
          <p:cNvSpPr/>
          <p:nvPr/>
        </p:nvSpPr>
        <p:spPr>
          <a:xfrm>
            <a:off x="640080" y="132588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Jefe de Proyecto	: Jorge Collao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Analista QA 	: Braulio Benardis</a:t>
            </a:r>
          </a:p>
          <a:p>
            <a:pPr>
              <a:lnSpc>
                <a:spcPct val="120000"/>
              </a:lnSpc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Asignación	: 100%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0A0A893-6479-F2C8-E3DE-193F192F61AE}"/>
              </a:ext>
            </a:extLst>
          </p:cNvPr>
          <p:cNvSpPr/>
          <p:nvPr/>
        </p:nvSpPr>
        <p:spPr>
          <a:xfrm>
            <a:off x="4846320" y="1051559"/>
            <a:ext cx="3840480" cy="868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B487FDC-BB90-8861-4BB4-614623520EFD}"/>
              </a:ext>
            </a:extLst>
          </p:cNvPr>
          <p:cNvSpPr/>
          <p:nvPr/>
        </p:nvSpPr>
        <p:spPr>
          <a:xfrm>
            <a:off x="4846320" y="1051560"/>
            <a:ext cx="36576" cy="8686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E21DA9C-CCC3-E1E0-7C24-A77997FEC729}"/>
              </a:ext>
            </a:extLst>
          </p:cNvPr>
          <p:cNvSpPr/>
          <p:nvPr/>
        </p:nvSpPr>
        <p:spPr>
          <a:xfrm>
            <a:off x="4846320" y="103012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L" sz="750" b="1" kern="0" spc="150" noProof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OBSERVACIONES</a:t>
            </a:r>
            <a:endParaRPr lang="es-CL" sz="750" noProof="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D20E4DD-E148-954D-C211-7543380C8434}"/>
              </a:ext>
            </a:extLst>
          </p:cNvPr>
          <p:cNvSpPr/>
          <p:nvPr/>
        </p:nvSpPr>
        <p:spPr>
          <a:xfrm>
            <a:off x="4846320" y="1234439"/>
            <a:ext cx="3474720" cy="480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HU 13936 : Se envía correo solicitando el UAT a usuarios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CL" sz="950" noProof="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HU 14844 : A la espera de priorización</a:t>
            </a:r>
          </a:p>
        </p:txBody>
      </p:sp>
      <p:pic>
        <p:nvPicPr>
          <p:cNvPr id="28" name="Image 0" descr="preencoded.png">
            <a:extLst>
              <a:ext uri="{FF2B5EF4-FFF2-40B4-BE49-F238E27FC236}">
                <a16:creationId xmlns:a16="http://schemas.microsoft.com/office/drawing/2014/main" id="{2C0DC1FA-17D6-5453-9C3D-B17AC2F0CE5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48640" y="4709160"/>
            <a:ext cx="914400" cy="173736"/>
          </a:xfrm>
          <a:prstGeom prst="rect">
            <a:avLst/>
          </a:prstGeom>
        </p:spPr>
      </p:pic>
      <p:sp>
        <p:nvSpPr>
          <p:cNvPr id="29" name="Text 26">
            <a:extLst>
              <a:ext uri="{FF2B5EF4-FFF2-40B4-BE49-F238E27FC236}">
                <a16:creationId xmlns:a16="http://schemas.microsoft.com/office/drawing/2014/main" id="{CAB5E275-E291-F8DC-F86B-9785912FD3B9}"/>
              </a:ext>
            </a:extLst>
          </p:cNvPr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CL" sz="900" noProof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de 13</a:t>
            </a:r>
            <a:endParaRPr lang="es-CL" sz="900" noProof="0" dirty="0"/>
          </a:p>
        </p:txBody>
      </p:sp>
      <p:sp>
        <p:nvSpPr>
          <p:cNvPr id="37" name="LabelBar 210">
            <a:extLst>
              <a:ext uri="{FF2B5EF4-FFF2-40B4-BE49-F238E27FC236}">
                <a16:creationId xmlns:a16="http://schemas.microsoft.com/office/drawing/2014/main" id="{0E6249AF-FE81-DC33-7F9D-A8FE00E4BCCB}"/>
              </a:ext>
            </a:extLst>
          </p:cNvPr>
          <p:cNvSpPr txBox="1"/>
          <p:nvPr/>
        </p:nvSpPr>
        <p:spPr>
          <a:xfrm>
            <a:off x="493777" y="2431750"/>
            <a:ext cx="6743148" cy="280000"/>
          </a:xfrm>
          <a:prstGeom prst="rect">
            <a:avLst/>
          </a:prstGeom>
          <a:solidFill>
            <a:srgbClr val="2D8DBB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MÉTRICAS POR HISTORIA DE USUARIO — DEC</a:t>
            </a:r>
          </a:p>
        </p:txBody>
      </p:sp>
      <p:graphicFrame>
        <p:nvGraphicFramePr>
          <p:cNvPr id="8" name="Tabla QA Metricas 311">
            <a:extLst>
              <a:ext uri="{FF2B5EF4-FFF2-40B4-BE49-F238E27FC236}">
                <a16:creationId xmlns:a16="http://schemas.microsoft.com/office/drawing/2014/main" id="{80CA3E8F-E537-59BA-2E6F-B971F5084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561890"/>
              </p:ext>
            </p:extLst>
          </p:nvPr>
        </p:nvGraphicFramePr>
        <p:xfrm>
          <a:off x="493778" y="2709447"/>
          <a:ext cx="6743147" cy="2102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35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7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62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24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608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000">
                <a:tc>
                  <a:txBody>
                    <a:bodyPr/>
                    <a:lstStyle/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Historia de Usuario</a:t>
                      </a:r>
                    </a:p>
                  </a:txBody>
                  <a:tcPr marL="60960" marR="60960"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60960" marR="60960"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Diseñados</a:t>
                      </a:r>
                    </a:p>
                  </a:txBody>
                  <a:tcPr marL="60960" marR="60960"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Casos
Ejecutados</a:t>
                      </a:r>
                    </a:p>
                  </a:txBody>
                  <a:tcPr marL="60960" marR="60960"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1" spc="-10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Bugs
Detectados</a:t>
                      </a:r>
                    </a:p>
                  </a:txBody>
                  <a:tcPr marL="60960" marR="60960"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pPr algn="l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Incidente 14977 — Cuando una persona se matricula y da la oportunidad por ganada, el servicio cambia datos en Salesforce (nombre, apellidos, nacionalidad) (Ciclo 2)</a:t>
                      </a:r>
                    </a:p>
                  </a:txBody>
                  <a:tcPr marL="60960" marR="60960"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00" b="1" noProof="0" dirty="0">
                          <a:solidFill>
                            <a:schemeClr val="tx1"/>
                          </a:solidFill>
                          <a:latin typeface="+mn-lt"/>
                        </a:rPr>
                        <a:t>Devuelto a Desarrollo</a:t>
                      </a:r>
                    </a:p>
                  </a:txBody>
                  <a:tcPr marL="60960" marR="6096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EB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EB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pPr algn="l"/>
                      <a:r>
                        <a:rPr lang="es-CL" sz="820" b="0" noProof="0" dirty="0" err="1">
                          <a:solidFill>
                            <a:srgbClr val="1C2833"/>
                          </a:solidFill>
                          <a:latin typeface="Calibri"/>
                        </a:rPr>
                        <a:t>User</a:t>
                      </a:r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 </a:t>
                      </a:r>
                      <a:r>
                        <a:rPr lang="es-CL" sz="820" b="0" noProof="0" dirty="0" err="1">
                          <a:solidFill>
                            <a:srgbClr val="1C2833"/>
                          </a:solidFill>
                          <a:latin typeface="Calibri"/>
                        </a:rPr>
                        <a:t>Story</a:t>
                      </a:r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 13936— </a:t>
                      </a:r>
                      <a:r>
                        <a:rPr lang="es-CL" sz="820" b="0" noProof="0" dirty="0" err="1">
                          <a:solidFill>
                            <a:srgbClr val="1C2833"/>
                          </a:solidFill>
                          <a:latin typeface="Calibri"/>
                        </a:rPr>
                        <a:t>Enpoint</a:t>
                      </a:r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 de creación de postulación para Salesforce. (Ciclo 4)</a:t>
                      </a: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1" noProof="0" dirty="0">
                          <a:solidFill>
                            <a:schemeClr val="tx1"/>
                          </a:solidFill>
                          <a:latin typeface="+mn-lt"/>
                        </a:rPr>
                        <a:t>UAT</a:t>
                      </a:r>
                    </a:p>
                  </a:txBody>
                  <a:tcPr marL="60960" marR="60960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0" noProof="0" dirty="0">
                          <a:solidFill>
                            <a:srgbClr val="1C283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82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Incidente 14937 — No se puede postular en programas de la DEC a personas con pasaporte.</a:t>
                      </a: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1" noProof="0" dirty="0">
                          <a:solidFill>
                            <a:schemeClr val="tx1"/>
                          </a:solidFill>
                          <a:latin typeface="Calibri"/>
                        </a:rPr>
                        <a:t>Devuelto a Desarrollo</a:t>
                      </a:r>
                    </a:p>
                  </a:txBody>
                  <a:tcPr marL="60960" marR="6096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808602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820" b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14844 - </a:t>
                      </a:r>
                      <a:r>
                        <a:rPr lang="es-ES" sz="82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 la postulación individual y masiva de la DEC al agregar una postulación pisa la fecha de nacimiento y la dirección</a:t>
                      </a:r>
                      <a:endParaRPr lang="es-CL" sz="820" b="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820" b="1" noProof="0" dirty="0">
                          <a:solidFill>
                            <a:schemeClr val="tx1"/>
                          </a:solidFill>
                          <a:latin typeface="Calibri"/>
                        </a:rPr>
                        <a:t>Detenido</a:t>
                      </a:r>
                    </a:p>
                  </a:txBody>
                  <a:tcPr marL="60960" marR="6096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820" b="0" noProof="0" dirty="0">
                        <a:solidFill>
                          <a:srgbClr val="1C2833"/>
                        </a:solidFill>
                        <a:latin typeface="Calibri"/>
                      </a:endParaRPr>
                    </a:p>
                  </a:txBody>
                  <a:tcPr marL="60960" marR="60960"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897412"/>
                  </a:ext>
                </a:extLst>
              </a:tr>
            </a:tbl>
          </a:graphicData>
        </a:graphic>
      </p:graphicFrame>
      <p:pic>
        <p:nvPicPr>
          <p:cNvPr id="9" name="Picture 2" descr="Logos - Imagen UDD">
            <a:extLst>
              <a:ext uri="{FF2B5EF4-FFF2-40B4-BE49-F238E27FC236}">
                <a16:creationId xmlns:a16="http://schemas.microsoft.com/office/drawing/2014/main" id="{D7B8349A-D193-6D92-0CB4-3F52867D2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7512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Diseño de Casos por Semana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Distribución de casos diseñados durante la semana — 7 iniciativas activas</a:t>
            </a:r>
          </a:p>
        </p:txBody>
      </p:sp>
      <p:sp>
        <p:nvSpPr>
          <p:cNvPr id="100" name="KPI0"/>
          <p:cNvSpPr/>
          <p:nvPr/>
        </p:nvSpPr>
        <p:spPr>
          <a:xfrm>
            <a:off x="502920" y="118872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1" name="KPI0bar"/>
          <p:cNvSpPr/>
          <p:nvPr/>
        </p:nvSpPr>
        <p:spPr>
          <a:xfrm>
            <a:off x="502920" y="1188720"/>
            <a:ext cx="2331720" cy="457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2" name="KPI0big"/>
          <p:cNvSpPr/>
          <p:nvPr/>
        </p:nvSpPr>
        <p:spPr>
          <a:xfrm>
            <a:off x="502920" y="1298448"/>
            <a:ext cx="233172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40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103" name="KPI0lbl"/>
          <p:cNvSpPr/>
          <p:nvPr/>
        </p:nvSpPr>
        <p:spPr>
          <a:xfrm>
            <a:off x="502920" y="1792224"/>
            <a:ext cx="233172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Total Diseñados</a:t>
            </a:r>
          </a:p>
        </p:txBody>
      </p:sp>
      <p:sp>
        <p:nvSpPr>
          <p:cNvPr id="104" name="KPI0sub"/>
          <p:cNvSpPr/>
          <p:nvPr/>
        </p:nvSpPr>
        <p:spPr>
          <a:xfrm>
            <a:off x="502920" y="1984248"/>
            <a:ext cx="233172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Semana 16-06</a:t>
            </a:r>
          </a:p>
        </p:txBody>
      </p:sp>
      <p:sp>
        <p:nvSpPr>
          <p:cNvPr id="105" name="KPI1"/>
          <p:cNvSpPr/>
          <p:nvPr/>
        </p:nvSpPr>
        <p:spPr>
          <a:xfrm>
            <a:off x="2971800" y="118872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6" name="KPI1bar"/>
          <p:cNvSpPr/>
          <p:nvPr/>
        </p:nvSpPr>
        <p:spPr>
          <a:xfrm>
            <a:off x="2971800" y="1188720"/>
            <a:ext cx="2331720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7" name="KPI1big"/>
          <p:cNvSpPr/>
          <p:nvPr/>
        </p:nvSpPr>
        <p:spPr>
          <a:xfrm>
            <a:off x="2971800" y="1298448"/>
            <a:ext cx="233172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40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8" name="KPI1lbl"/>
          <p:cNvSpPr/>
          <p:nvPr/>
        </p:nvSpPr>
        <p:spPr>
          <a:xfrm>
            <a:off x="2971800" y="1792224"/>
            <a:ext cx="233172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Iniciativas</a:t>
            </a:r>
          </a:p>
        </p:txBody>
      </p:sp>
      <p:sp>
        <p:nvSpPr>
          <p:cNvPr id="109" name="KPI1sub"/>
          <p:cNvSpPr/>
          <p:nvPr/>
        </p:nvSpPr>
        <p:spPr>
          <a:xfrm>
            <a:off x="2971800" y="1984248"/>
            <a:ext cx="233172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con diseño</a:t>
            </a:r>
          </a:p>
        </p:txBody>
      </p:sp>
      <p:sp>
        <p:nvSpPr>
          <p:cNvPr id="110" name="KPI2"/>
          <p:cNvSpPr/>
          <p:nvPr/>
        </p:nvSpPr>
        <p:spPr>
          <a:xfrm>
            <a:off x="5440680" y="118872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1" name="KPI2bar"/>
          <p:cNvSpPr/>
          <p:nvPr/>
        </p:nvSpPr>
        <p:spPr>
          <a:xfrm>
            <a:off x="5440680" y="1188720"/>
            <a:ext cx="23317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2" name="KPI2big"/>
          <p:cNvSpPr/>
          <p:nvPr/>
        </p:nvSpPr>
        <p:spPr>
          <a:xfrm>
            <a:off x="5440680" y="1298448"/>
            <a:ext cx="233172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40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3" name="KPI2lbl"/>
          <p:cNvSpPr/>
          <p:nvPr/>
        </p:nvSpPr>
        <p:spPr>
          <a:xfrm>
            <a:off x="5440680" y="1792224"/>
            <a:ext cx="233172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Promedio</a:t>
            </a:r>
          </a:p>
        </p:txBody>
      </p:sp>
      <p:sp>
        <p:nvSpPr>
          <p:cNvPr id="114" name="KPI2sub"/>
          <p:cNvSpPr/>
          <p:nvPr/>
        </p:nvSpPr>
        <p:spPr>
          <a:xfrm>
            <a:off x="5440680" y="1984248"/>
            <a:ext cx="233172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por iniciativa</a:t>
            </a:r>
          </a:p>
        </p:txBody>
      </p:sp>
      <p:sp>
        <p:nvSpPr>
          <p:cNvPr id="115" name="ChartBg"/>
          <p:cNvSpPr/>
          <p:nvPr/>
        </p:nvSpPr>
        <p:spPr>
          <a:xfrm>
            <a:off x="502920" y="2468880"/>
            <a:ext cx="7223760" cy="20116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6" name="ChartTitle"/>
          <p:cNvSpPr/>
          <p:nvPr/>
        </p:nvSpPr>
        <p:spPr>
          <a:xfrm>
            <a:off x="731520" y="2560320"/>
            <a:ext cx="676656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CASOS DISEÑADOS — SEMANA ACTUAL POR INICIATIVA</a:t>
            </a:r>
          </a:p>
        </p:txBody>
      </p:sp>
      <p:sp>
        <p:nvSpPr>
          <p:cNvPr id="117" name="Lbl0"/>
          <p:cNvSpPr/>
          <p:nvPr/>
        </p:nvSpPr>
        <p:spPr>
          <a:xfrm>
            <a:off x="731520" y="2926080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18" name="BarBg0"/>
          <p:cNvSpPr/>
          <p:nvPr/>
        </p:nvSpPr>
        <p:spPr>
          <a:xfrm>
            <a:off x="2331720" y="2973106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9" name="Bar0"/>
          <p:cNvSpPr/>
          <p:nvPr/>
        </p:nvSpPr>
        <p:spPr>
          <a:xfrm>
            <a:off x="2331720" y="2973106"/>
            <a:ext cx="3555187" cy="11495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0" name="Val0"/>
          <p:cNvSpPr/>
          <p:nvPr/>
        </p:nvSpPr>
        <p:spPr>
          <a:xfrm>
            <a:off x="5978347" y="2926080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21" name="Lbl1"/>
          <p:cNvSpPr/>
          <p:nvPr/>
        </p:nvSpPr>
        <p:spPr>
          <a:xfrm>
            <a:off x="731520" y="3135085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COIL</a:t>
            </a:r>
          </a:p>
        </p:txBody>
      </p:sp>
      <p:sp>
        <p:nvSpPr>
          <p:cNvPr id="122" name="BarBg1"/>
          <p:cNvSpPr/>
          <p:nvPr/>
        </p:nvSpPr>
        <p:spPr>
          <a:xfrm>
            <a:off x="2331720" y="3182111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3" name="Val1"/>
          <p:cNvSpPr/>
          <p:nvPr/>
        </p:nvSpPr>
        <p:spPr>
          <a:xfrm>
            <a:off x="2423160" y="3135085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4" name="Lbl2"/>
          <p:cNvSpPr/>
          <p:nvPr/>
        </p:nvSpPr>
        <p:spPr>
          <a:xfrm>
            <a:off x="731520" y="3344090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Certificaciones</a:t>
            </a:r>
          </a:p>
        </p:txBody>
      </p:sp>
      <p:sp>
        <p:nvSpPr>
          <p:cNvPr id="125" name="BarBg2"/>
          <p:cNvSpPr/>
          <p:nvPr/>
        </p:nvSpPr>
        <p:spPr>
          <a:xfrm>
            <a:off x="2331720" y="3391116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6" name="Val2"/>
          <p:cNvSpPr/>
          <p:nvPr/>
        </p:nvSpPr>
        <p:spPr>
          <a:xfrm>
            <a:off x="2423160" y="3344090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7" name="Lbl3"/>
          <p:cNvSpPr/>
          <p:nvPr/>
        </p:nvSpPr>
        <p:spPr>
          <a:xfrm>
            <a:off x="731520" y="3553095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128" name="BarBg3"/>
          <p:cNvSpPr/>
          <p:nvPr/>
        </p:nvSpPr>
        <p:spPr>
          <a:xfrm>
            <a:off x="2331720" y="3600121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9" name="Val3"/>
          <p:cNvSpPr/>
          <p:nvPr/>
        </p:nvSpPr>
        <p:spPr>
          <a:xfrm>
            <a:off x="2423160" y="3553095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0" name="Lbl4"/>
          <p:cNvSpPr/>
          <p:nvPr/>
        </p:nvSpPr>
        <p:spPr>
          <a:xfrm>
            <a:off x="731520" y="3762100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Migración DB_RESERVA</a:t>
            </a:r>
          </a:p>
        </p:txBody>
      </p:sp>
      <p:sp>
        <p:nvSpPr>
          <p:cNvPr id="131" name="BarBg4"/>
          <p:cNvSpPr/>
          <p:nvPr/>
        </p:nvSpPr>
        <p:spPr>
          <a:xfrm>
            <a:off x="2331720" y="3809126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2" name="Bar4"/>
          <p:cNvSpPr/>
          <p:nvPr/>
        </p:nvSpPr>
        <p:spPr>
          <a:xfrm>
            <a:off x="2331720" y="3809126"/>
            <a:ext cx="4937760" cy="114952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3" name="Val4"/>
          <p:cNvSpPr/>
          <p:nvPr/>
        </p:nvSpPr>
        <p:spPr>
          <a:xfrm>
            <a:off x="7360920" y="3762100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1" dirty="0">
                <a:solidFill>
                  <a:srgbClr val="EC48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34" name="Lbl5"/>
          <p:cNvSpPr/>
          <p:nvPr/>
        </p:nvSpPr>
        <p:spPr>
          <a:xfrm>
            <a:off x="731520" y="3971105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Sistema de Notas</a:t>
            </a:r>
          </a:p>
        </p:txBody>
      </p:sp>
      <p:sp>
        <p:nvSpPr>
          <p:cNvPr id="135" name="BarBg5"/>
          <p:cNvSpPr/>
          <p:nvPr/>
        </p:nvSpPr>
        <p:spPr>
          <a:xfrm>
            <a:off x="2331720" y="4018131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6" name="Bar5"/>
          <p:cNvSpPr/>
          <p:nvPr/>
        </p:nvSpPr>
        <p:spPr>
          <a:xfrm>
            <a:off x="2331720" y="4018131"/>
            <a:ext cx="3950208" cy="114952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7" name="Val5"/>
          <p:cNvSpPr/>
          <p:nvPr/>
        </p:nvSpPr>
        <p:spPr>
          <a:xfrm>
            <a:off x="6373368" y="3971105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1" dirty="0">
                <a:solidFill>
                  <a:srgbClr val="0369A1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38" name="Lbl6"/>
          <p:cNvSpPr/>
          <p:nvPr/>
        </p:nvSpPr>
        <p:spPr>
          <a:xfrm>
            <a:off x="731520" y="4180110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139" name="BarBg6"/>
          <p:cNvSpPr/>
          <p:nvPr/>
        </p:nvSpPr>
        <p:spPr>
          <a:xfrm>
            <a:off x="2331720" y="4227136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0" name="Val6"/>
          <p:cNvSpPr/>
          <p:nvPr/>
        </p:nvSpPr>
        <p:spPr>
          <a:xfrm>
            <a:off x="2423160" y="4180110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1" name="Note"/>
          <p:cNvSpPr/>
          <p:nvPr/>
        </p:nvSpPr>
        <p:spPr>
          <a:xfrm>
            <a:off x="502920" y="4572000"/>
            <a:ext cx="6400800" cy="2286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s-CL" sz="900" b="0" i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Datos de la semana del 16-06-2026  •  Casos de prueba diseñados por el equipo QA</a:t>
            </a:r>
          </a:p>
        </p:txBody>
      </p:sp>
      <p:sp>
        <p:nvSpPr>
          <p:cNvPr id="99" name="PageNum"/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r">
              <a:buNone/>
            </a:pPr>
            <a:r>
              <a:rPr lang="es-CL" sz="900" b="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9 de 20</a:t>
            </a:r>
          </a:p>
        </p:txBody>
      </p:sp>
      <p:pic>
        <p:nvPicPr>
          <p:cNvPr id="9" name="Picture UD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Diseños por Iniciativas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Distribución de casos diseñados entre las 7 iniciativas de la semana</a:t>
            </a:r>
          </a:p>
        </p:txBody>
      </p:sp>
      <p:sp>
        <p:nvSpPr>
          <p:cNvPr id="100" name="TotalCard"/>
          <p:cNvSpPr/>
          <p:nvPr/>
        </p:nvSpPr>
        <p:spPr>
          <a:xfrm>
            <a:off x="502920" y="1143000"/>
            <a:ext cx="3017520" cy="10972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1" name="TotalBar"/>
          <p:cNvSpPr/>
          <p:nvPr/>
        </p:nvSpPr>
        <p:spPr>
          <a:xfrm>
            <a:off x="502920" y="1143000"/>
            <a:ext cx="3017520" cy="457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2" name="TotalNum"/>
          <p:cNvSpPr/>
          <p:nvPr/>
        </p:nvSpPr>
        <p:spPr>
          <a:xfrm>
            <a:off x="502920" y="1234440"/>
            <a:ext cx="3017520" cy="64008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54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103" name="TotalLbl"/>
          <p:cNvSpPr/>
          <p:nvPr/>
        </p:nvSpPr>
        <p:spPr>
          <a:xfrm>
            <a:off x="502920" y="1828800"/>
            <a:ext cx="301752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CASOS DISEÑADOS EN TOTAL</a:t>
            </a:r>
          </a:p>
        </p:txBody>
      </p:sp>
      <p:sp>
        <p:nvSpPr>
          <p:cNvPr id="108" name="HdrBg"/>
          <p:cNvSpPr/>
          <p:nvPr/>
        </p:nvSpPr>
        <p:spPr>
          <a:xfrm>
            <a:off x="502920" y="2423160"/>
            <a:ext cx="7223760" cy="32004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9" name="H1"/>
          <p:cNvSpPr/>
          <p:nvPr/>
        </p:nvSpPr>
        <p:spPr>
          <a:xfrm>
            <a:off x="640080" y="2423160"/>
            <a:ext cx="265176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INICIATIVA</a:t>
            </a:r>
          </a:p>
        </p:txBody>
      </p:sp>
      <p:sp>
        <p:nvSpPr>
          <p:cNvPr id="110" name="H2"/>
          <p:cNvSpPr/>
          <p:nvPr/>
        </p:nvSpPr>
        <p:spPr>
          <a:xfrm>
            <a:off x="3154680" y="2423160"/>
            <a:ext cx="109728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DISEÑADOS</a:t>
            </a:r>
          </a:p>
        </p:txBody>
      </p:sp>
      <p:sp>
        <p:nvSpPr>
          <p:cNvPr id="111" name="H3"/>
          <p:cNvSpPr/>
          <p:nvPr/>
        </p:nvSpPr>
        <p:spPr>
          <a:xfrm>
            <a:off x="4251960" y="2423160"/>
            <a:ext cx="100584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%</a:t>
            </a:r>
          </a:p>
        </p:txBody>
      </p:sp>
      <p:sp>
        <p:nvSpPr>
          <p:cNvPr id="112" name="H4"/>
          <p:cNvSpPr/>
          <p:nvPr/>
        </p:nvSpPr>
        <p:spPr>
          <a:xfrm>
            <a:off x="5349240" y="2423160"/>
            <a:ext cx="246888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DISTRIBUCIÓN</a:t>
            </a:r>
          </a:p>
        </p:txBody>
      </p:sp>
      <p:sp>
        <p:nvSpPr>
          <p:cNvPr id="113" name="Row0bg"/>
          <p:cNvSpPr/>
          <p:nvPr/>
        </p:nvSpPr>
        <p:spPr>
          <a:xfrm>
            <a:off x="502920" y="2743200"/>
            <a:ext cx="7223760" cy="29260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4" name="Dot0"/>
          <p:cNvSpPr/>
          <p:nvPr/>
        </p:nvSpPr>
        <p:spPr>
          <a:xfrm>
            <a:off x="640080" y="2820924"/>
            <a:ext cx="137160" cy="137160"/>
          </a:xfrm>
          <a:prstGeom prst="roundRect">
            <a:avLst>
              <a:gd name="adj" fmla="val 8000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5" name="N0"/>
          <p:cNvSpPr/>
          <p:nvPr/>
        </p:nvSpPr>
        <p:spPr>
          <a:xfrm>
            <a:off x="868680" y="2743200"/>
            <a:ext cx="242316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Migración DB_RESERVA</a:t>
            </a:r>
          </a:p>
        </p:txBody>
      </p:sp>
      <p:sp>
        <p:nvSpPr>
          <p:cNvPr id="116" name="C0"/>
          <p:cNvSpPr/>
          <p:nvPr/>
        </p:nvSpPr>
        <p:spPr>
          <a:xfrm>
            <a:off x="3154680" y="2743200"/>
            <a:ext cx="109728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EC48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17" name="P0"/>
          <p:cNvSpPr/>
          <p:nvPr/>
        </p:nvSpPr>
        <p:spPr>
          <a:xfrm>
            <a:off x="4251960" y="2743200"/>
            <a:ext cx="100584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18" name="BB0"/>
          <p:cNvSpPr/>
          <p:nvPr/>
        </p:nvSpPr>
        <p:spPr>
          <a:xfrm>
            <a:off x="5349240" y="2834640"/>
            <a:ext cx="2331720" cy="109728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9" name="BV0"/>
          <p:cNvSpPr/>
          <p:nvPr/>
        </p:nvSpPr>
        <p:spPr>
          <a:xfrm>
            <a:off x="5349240" y="2834640"/>
            <a:ext cx="2331720" cy="109728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0" name="Row1bg"/>
          <p:cNvSpPr/>
          <p:nvPr/>
        </p:nvSpPr>
        <p:spPr>
          <a:xfrm>
            <a:off x="502920" y="3035808"/>
            <a:ext cx="7223760" cy="29260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1" name="Dot1"/>
          <p:cNvSpPr/>
          <p:nvPr/>
        </p:nvSpPr>
        <p:spPr>
          <a:xfrm>
            <a:off x="640080" y="3113532"/>
            <a:ext cx="137160" cy="137160"/>
          </a:xfrm>
          <a:prstGeom prst="roundRect">
            <a:avLst>
              <a:gd name="adj" fmla="val 8000"/>
            </a:avLst>
          </a:prstGeom>
          <a:solidFill>
            <a:srgbClr val="0369A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2" name="N1"/>
          <p:cNvSpPr/>
          <p:nvPr/>
        </p:nvSpPr>
        <p:spPr>
          <a:xfrm>
            <a:off x="868680" y="3035808"/>
            <a:ext cx="242316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Sistema de Notas</a:t>
            </a:r>
          </a:p>
        </p:txBody>
      </p:sp>
      <p:sp>
        <p:nvSpPr>
          <p:cNvPr id="123" name="C1"/>
          <p:cNvSpPr/>
          <p:nvPr/>
        </p:nvSpPr>
        <p:spPr>
          <a:xfrm>
            <a:off x="3154680" y="3035808"/>
            <a:ext cx="109728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0369A1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24" name="P1"/>
          <p:cNvSpPr/>
          <p:nvPr/>
        </p:nvSpPr>
        <p:spPr>
          <a:xfrm>
            <a:off x="4251960" y="3035808"/>
            <a:ext cx="100584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32%</a:t>
            </a:r>
          </a:p>
        </p:txBody>
      </p:sp>
      <p:sp>
        <p:nvSpPr>
          <p:cNvPr id="125" name="BB1"/>
          <p:cNvSpPr/>
          <p:nvPr/>
        </p:nvSpPr>
        <p:spPr>
          <a:xfrm>
            <a:off x="5349240" y="3127248"/>
            <a:ext cx="2331720" cy="109728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6" name="BV1"/>
          <p:cNvSpPr/>
          <p:nvPr/>
        </p:nvSpPr>
        <p:spPr>
          <a:xfrm>
            <a:off x="5349240" y="3127248"/>
            <a:ext cx="1865376" cy="10972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7" name="Row2bg"/>
          <p:cNvSpPr/>
          <p:nvPr/>
        </p:nvSpPr>
        <p:spPr>
          <a:xfrm>
            <a:off x="502920" y="3328416"/>
            <a:ext cx="7223760" cy="29260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8" name="Dot2"/>
          <p:cNvSpPr/>
          <p:nvPr/>
        </p:nvSpPr>
        <p:spPr>
          <a:xfrm>
            <a:off x="640080" y="340614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9" name="N2"/>
          <p:cNvSpPr/>
          <p:nvPr/>
        </p:nvSpPr>
        <p:spPr>
          <a:xfrm>
            <a:off x="868680" y="3328416"/>
            <a:ext cx="242316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30" name="C2"/>
          <p:cNvSpPr/>
          <p:nvPr/>
        </p:nvSpPr>
        <p:spPr>
          <a:xfrm>
            <a:off x="3154680" y="3328416"/>
            <a:ext cx="109728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31" name="P2"/>
          <p:cNvSpPr/>
          <p:nvPr/>
        </p:nvSpPr>
        <p:spPr>
          <a:xfrm>
            <a:off x="4251960" y="3328416"/>
            <a:ext cx="100584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29%</a:t>
            </a:r>
          </a:p>
        </p:txBody>
      </p:sp>
      <p:sp>
        <p:nvSpPr>
          <p:cNvPr id="132" name="BB2"/>
          <p:cNvSpPr/>
          <p:nvPr/>
        </p:nvSpPr>
        <p:spPr>
          <a:xfrm>
            <a:off x="5349240" y="3419856"/>
            <a:ext cx="2331720" cy="109728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3" name="BV2"/>
          <p:cNvSpPr/>
          <p:nvPr/>
        </p:nvSpPr>
        <p:spPr>
          <a:xfrm>
            <a:off x="5349240" y="3419856"/>
            <a:ext cx="1678838" cy="1097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4" name="Row3bg"/>
          <p:cNvSpPr/>
          <p:nvPr/>
        </p:nvSpPr>
        <p:spPr>
          <a:xfrm>
            <a:off x="502920" y="3621024"/>
            <a:ext cx="7223760" cy="29260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5" name="Dot3"/>
          <p:cNvSpPr/>
          <p:nvPr/>
        </p:nvSpPr>
        <p:spPr>
          <a:xfrm>
            <a:off x="640080" y="3698748"/>
            <a:ext cx="137160" cy="13716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6" name="N3"/>
          <p:cNvSpPr/>
          <p:nvPr/>
        </p:nvSpPr>
        <p:spPr>
          <a:xfrm>
            <a:off x="868680" y="3621024"/>
            <a:ext cx="242316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COIL</a:t>
            </a:r>
          </a:p>
        </p:txBody>
      </p:sp>
      <p:sp>
        <p:nvSpPr>
          <p:cNvPr id="137" name="C3"/>
          <p:cNvSpPr/>
          <p:nvPr/>
        </p:nvSpPr>
        <p:spPr>
          <a:xfrm>
            <a:off x="3154680" y="3621024"/>
            <a:ext cx="109728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8" name="P3"/>
          <p:cNvSpPr/>
          <p:nvPr/>
        </p:nvSpPr>
        <p:spPr>
          <a:xfrm>
            <a:off x="4251960" y="3621024"/>
            <a:ext cx="100584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39" name="BB3"/>
          <p:cNvSpPr/>
          <p:nvPr/>
        </p:nvSpPr>
        <p:spPr>
          <a:xfrm>
            <a:off x="5349240" y="3712464"/>
            <a:ext cx="2331720" cy="109728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0" name="Row4bg"/>
          <p:cNvSpPr/>
          <p:nvPr/>
        </p:nvSpPr>
        <p:spPr>
          <a:xfrm>
            <a:off x="502920" y="3913632"/>
            <a:ext cx="7223760" cy="29260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1" name="Dot4"/>
          <p:cNvSpPr/>
          <p:nvPr/>
        </p:nvSpPr>
        <p:spPr>
          <a:xfrm>
            <a:off x="640080" y="3991356"/>
            <a:ext cx="137160" cy="137160"/>
          </a:xfrm>
          <a:prstGeom prst="roundRect">
            <a:avLst>
              <a:gd name="adj" fmla="val 8000"/>
            </a:avLst>
          </a:prstGeom>
          <a:solidFill>
            <a:srgbClr val="A855F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2" name="N4"/>
          <p:cNvSpPr/>
          <p:nvPr/>
        </p:nvSpPr>
        <p:spPr>
          <a:xfrm>
            <a:off x="868680" y="3913632"/>
            <a:ext cx="242316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Certificaciones</a:t>
            </a:r>
          </a:p>
        </p:txBody>
      </p:sp>
      <p:sp>
        <p:nvSpPr>
          <p:cNvPr id="143" name="C4"/>
          <p:cNvSpPr/>
          <p:nvPr/>
        </p:nvSpPr>
        <p:spPr>
          <a:xfrm>
            <a:off x="3154680" y="3913632"/>
            <a:ext cx="109728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A855F7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4" name="P4"/>
          <p:cNvSpPr/>
          <p:nvPr/>
        </p:nvSpPr>
        <p:spPr>
          <a:xfrm>
            <a:off x="4251960" y="3913632"/>
            <a:ext cx="100584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45" name="BB4"/>
          <p:cNvSpPr/>
          <p:nvPr/>
        </p:nvSpPr>
        <p:spPr>
          <a:xfrm>
            <a:off x="5349240" y="4005072"/>
            <a:ext cx="2331720" cy="109728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6" name="Row5bg"/>
          <p:cNvSpPr/>
          <p:nvPr/>
        </p:nvSpPr>
        <p:spPr>
          <a:xfrm>
            <a:off x="502920" y="4206240"/>
            <a:ext cx="7223760" cy="29260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7" name="Dot5"/>
          <p:cNvSpPr/>
          <p:nvPr/>
        </p:nvSpPr>
        <p:spPr>
          <a:xfrm>
            <a:off x="640080" y="4283964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8" name="N5"/>
          <p:cNvSpPr/>
          <p:nvPr/>
        </p:nvSpPr>
        <p:spPr>
          <a:xfrm>
            <a:off x="868680" y="4206240"/>
            <a:ext cx="242316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149" name="C5"/>
          <p:cNvSpPr/>
          <p:nvPr/>
        </p:nvSpPr>
        <p:spPr>
          <a:xfrm>
            <a:off x="3154680" y="4206240"/>
            <a:ext cx="109728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0" name="P5"/>
          <p:cNvSpPr/>
          <p:nvPr/>
        </p:nvSpPr>
        <p:spPr>
          <a:xfrm>
            <a:off x="4251960" y="4206240"/>
            <a:ext cx="100584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51" name="BB5"/>
          <p:cNvSpPr/>
          <p:nvPr/>
        </p:nvSpPr>
        <p:spPr>
          <a:xfrm>
            <a:off x="5349240" y="4297680"/>
            <a:ext cx="2331720" cy="109728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2" name="Row6bg"/>
          <p:cNvSpPr/>
          <p:nvPr/>
        </p:nvSpPr>
        <p:spPr>
          <a:xfrm>
            <a:off x="502920" y="4498848"/>
            <a:ext cx="7223760" cy="29260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3" name="Dot6"/>
          <p:cNvSpPr/>
          <p:nvPr/>
        </p:nvSpPr>
        <p:spPr>
          <a:xfrm>
            <a:off x="640080" y="4576572"/>
            <a:ext cx="137160" cy="13716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4" name="N6"/>
          <p:cNvSpPr/>
          <p:nvPr/>
        </p:nvSpPr>
        <p:spPr>
          <a:xfrm>
            <a:off x="868680" y="4498848"/>
            <a:ext cx="242316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155" name="C6"/>
          <p:cNvSpPr/>
          <p:nvPr/>
        </p:nvSpPr>
        <p:spPr>
          <a:xfrm>
            <a:off x="3154680" y="4498848"/>
            <a:ext cx="109728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EF44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6" name="P6"/>
          <p:cNvSpPr/>
          <p:nvPr/>
        </p:nvSpPr>
        <p:spPr>
          <a:xfrm>
            <a:off x="4251960" y="4498848"/>
            <a:ext cx="1005840" cy="29260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57" name="BB6"/>
          <p:cNvSpPr/>
          <p:nvPr/>
        </p:nvSpPr>
        <p:spPr>
          <a:xfrm>
            <a:off x="5349240" y="4590288"/>
            <a:ext cx="2331720" cy="109728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9" name="PageNum"/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r">
              <a:buNone/>
            </a:pPr>
            <a:r>
              <a:rPr lang="es-CL" sz="900" b="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10 de 20</a:t>
            </a:r>
          </a:p>
        </p:txBody>
      </p:sp>
      <p:pic>
        <p:nvPicPr>
          <p:cNvPr id="9" name="Picture UD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Promedio de Diseño por Semana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Media de casos de prueba diseñados por iniciativa</a:t>
            </a:r>
          </a:p>
        </p:txBody>
      </p:sp>
      <p:sp>
        <p:nvSpPr>
          <p:cNvPr id="100" name="HeroCard"/>
          <p:cNvSpPr/>
          <p:nvPr/>
        </p:nvSpPr>
        <p:spPr>
          <a:xfrm>
            <a:off x="502920" y="118872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1" name="HeroBar"/>
          <p:cNvSpPr/>
          <p:nvPr/>
        </p:nvSpPr>
        <p:spPr>
          <a:xfrm>
            <a:off x="502920" y="1188720"/>
            <a:ext cx="3657600" cy="457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2" name="HeroLbl"/>
          <p:cNvSpPr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1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PROMEDIO SEMANAL</a:t>
            </a:r>
          </a:p>
        </p:txBody>
      </p:sp>
      <p:sp>
        <p:nvSpPr>
          <p:cNvPr id="103" name="HeroNum"/>
          <p:cNvSpPr/>
          <p:nvPr/>
        </p:nvSpPr>
        <p:spPr>
          <a:xfrm>
            <a:off x="502920" y="1691640"/>
            <a:ext cx="3657600" cy="11887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9.0</a:t>
            </a:r>
          </a:p>
        </p:txBody>
      </p:sp>
      <p:sp>
        <p:nvSpPr>
          <p:cNvPr id="104" name="HeroSub"/>
          <p:cNvSpPr/>
          <p:nvPr/>
        </p:nvSpPr>
        <p:spPr>
          <a:xfrm>
            <a:off x="5029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3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casos por iniciativa</a:t>
            </a:r>
          </a:p>
        </p:txBody>
      </p:sp>
      <p:sp>
        <p:nvSpPr>
          <p:cNvPr id="105" name="HeroSub2"/>
          <p:cNvSpPr/>
          <p:nvPr/>
        </p:nvSpPr>
        <p:spPr>
          <a:xfrm>
            <a:off x="50292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i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Base: 63 casos / 7 iniciativas</a:t>
            </a:r>
          </a:p>
        </p:txBody>
      </p:sp>
      <p:sp>
        <p:nvSpPr>
          <p:cNvPr id="106" name="S0"/>
          <p:cNvSpPr/>
          <p:nvPr/>
        </p:nvSpPr>
        <p:spPr>
          <a:xfrm>
            <a:off x="4343400" y="1188720"/>
            <a:ext cx="3383280" cy="5029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7" name="Sbar0"/>
          <p:cNvSpPr/>
          <p:nvPr/>
        </p:nvSpPr>
        <p:spPr>
          <a:xfrm>
            <a:off x="4343400" y="1188720"/>
            <a:ext cx="73152" cy="5029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8" name="Snum0"/>
          <p:cNvSpPr/>
          <p:nvPr/>
        </p:nvSpPr>
        <p:spPr>
          <a:xfrm>
            <a:off x="4572000" y="1188720"/>
            <a:ext cx="100584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4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109" name="Slbl0"/>
          <p:cNvSpPr/>
          <p:nvPr/>
        </p:nvSpPr>
        <p:spPr>
          <a:xfrm>
            <a:off x="557784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Total casos diseñados</a:t>
            </a:r>
          </a:p>
        </p:txBody>
      </p:sp>
      <p:sp>
        <p:nvSpPr>
          <p:cNvPr id="110" name="S1"/>
          <p:cNvSpPr/>
          <p:nvPr/>
        </p:nvSpPr>
        <p:spPr>
          <a:xfrm>
            <a:off x="4343400" y="1764792"/>
            <a:ext cx="3383280" cy="5029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1" name="Sbar1"/>
          <p:cNvSpPr/>
          <p:nvPr/>
        </p:nvSpPr>
        <p:spPr>
          <a:xfrm>
            <a:off x="4343400" y="1764792"/>
            <a:ext cx="73152" cy="5029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2" name="Snum1"/>
          <p:cNvSpPr/>
          <p:nvPr/>
        </p:nvSpPr>
        <p:spPr>
          <a:xfrm>
            <a:off x="4572000" y="1764792"/>
            <a:ext cx="100584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400" b="1" dirty="0">
                <a:solidFill>
                  <a:srgbClr val="EC48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13" name="Slbl1"/>
          <p:cNvSpPr/>
          <p:nvPr/>
        </p:nvSpPr>
        <p:spPr>
          <a:xfrm>
            <a:off x="5577840" y="1764792"/>
            <a:ext cx="20116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Máximo (Migración)</a:t>
            </a:r>
          </a:p>
        </p:txBody>
      </p:sp>
      <p:sp>
        <p:nvSpPr>
          <p:cNvPr id="114" name="S2"/>
          <p:cNvSpPr/>
          <p:nvPr/>
        </p:nvSpPr>
        <p:spPr>
          <a:xfrm>
            <a:off x="4343400" y="2340864"/>
            <a:ext cx="3383280" cy="5029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5" name="Sbar2"/>
          <p:cNvSpPr/>
          <p:nvPr/>
        </p:nvSpPr>
        <p:spPr>
          <a:xfrm>
            <a:off x="4343400" y="2340864"/>
            <a:ext cx="73152" cy="5029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6" name="Snum2"/>
          <p:cNvSpPr/>
          <p:nvPr/>
        </p:nvSpPr>
        <p:spPr>
          <a:xfrm>
            <a:off x="4572000" y="2340864"/>
            <a:ext cx="100584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4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7" name="Slbl2"/>
          <p:cNvSpPr/>
          <p:nvPr/>
        </p:nvSpPr>
        <p:spPr>
          <a:xfrm>
            <a:off x="5577840" y="2340864"/>
            <a:ext cx="20116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Iniciativas con diseño</a:t>
            </a:r>
          </a:p>
        </p:txBody>
      </p:sp>
      <p:sp>
        <p:nvSpPr>
          <p:cNvPr id="118" name="S3"/>
          <p:cNvSpPr/>
          <p:nvPr/>
        </p:nvSpPr>
        <p:spPr>
          <a:xfrm>
            <a:off x="4343400" y="2916936"/>
            <a:ext cx="3383280" cy="5029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9" name="Sbar3"/>
          <p:cNvSpPr/>
          <p:nvPr/>
        </p:nvSpPr>
        <p:spPr>
          <a:xfrm>
            <a:off x="4343400" y="2916936"/>
            <a:ext cx="73152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0" name="Snum3"/>
          <p:cNvSpPr/>
          <p:nvPr/>
        </p:nvSpPr>
        <p:spPr>
          <a:xfrm>
            <a:off x="4572000" y="2916936"/>
            <a:ext cx="100584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4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1" name="Slbl3"/>
          <p:cNvSpPr/>
          <p:nvPr/>
        </p:nvSpPr>
        <p:spPr>
          <a:xfrm>
            <a:off x="5577840" y="2916936"/>
            <a:ext cx="20116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Iniciativas sin diseño</a:t>
            </a:r>
          </a:p>
        </p:txBody>
      </p:sp>
      <p:sp>
        <p:nvSpPr>
          <p:cNvPr id="122" name="Note"/>
          <p:cNvSpPr/>
          <p:nvPr/>
        </p:nvSpPr>
        <p:spPr>
          <a:xfrm>
            <a:off x="502920" y="4251960"/>
            <a:ext cx="722376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s-CL" sz="10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Promedio calculado sobre el total de casos diseñados esta semana dividido entre las iniciativas activas.</a:t>
            </a:r>
          </a:p>
        </p:txBody>
      </p:sp>
      <p:sp>
        <p:nvSpPr>
          <p:cNvPr id="99" name="PageNum"/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r">
              <a:buNone/>
            </a:pPr>
            <a:r>
              <a:rPr lang="es-CL" sz="900" b="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11 de 20</a:t>
            </a:r>
          </a:p>
        </p:txBody>
      </p:sp>
      <p:pic>
        <p:nvPicPr>
          <p:cNvPr id="9" name="Picture UD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Ejecución de Casos por Semana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Casos de prueba ejecutados durante la semana</a:t>
            </a:r>
          </a:p>
        </p:txBody>
      </p:sp>
      <p:sp>
        <p:nvSpPr>
          <p:cNvPr id="100" name="KPI0"/>
          <p:cNvSpPr/>
          <p:nvPr/>
        </p:nvSpPr>
        <p:spPr>
          <a:xfrm>
            <a:off x="502920" y="118872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1" name="KPI0bar"/>
          <p:cNvSpPr/>
          <p:nvPr/>
        </p:nvSpPr>
        <p:spPr>
          <a:xfrm>
            <a:off x="502920" y="1188720"/>
            <a:ext cx="2331720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2" name="KPI0big"/>
          <p:cNvSpPr/>
          <p:nvPr/>
        </p:nvSpPr>
        <p:spPr>
          <a:xfrm>
            <a:off x="502920" y="1298448"/>
            <a:ext cx="233172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40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78</a:t>
            </a:r>
          </a:p>
        </p:txBody>
      </p:sp>
      <p:sp>
        <p:nvSpPr>
          <p:cNvPr id="103" name="KPI0lbl"/>
          <p:cNvSpPr/>
          <p:nvPr/>
        </p:nvSpPr>
        <p:spPr>
          <a:xfrm>
            <a:off x="502920" y="1792224"/>
            <a:ext cx="233172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Total Ejecutados</a:t>
            </a:r>
          </a:p>
        </p:txBody>
      </p:sp>
      <p:sp>
        <p:nvSpPr>
          <p:cNvPr id="104" name="KPI0sub"/>
          <p:cNvSpPr/>
          <p:nvPr/>
        </p:nvSpPr>
        <p:spPr>
          <a:xfrm>
            <a:off x="502920" y="1984248"/>
            <a:ext cx="233172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Semana 16-06</a:t>
            </a:r>
          </a:p>
        </p:txBody>
      </p:sp>
      <p:sp>
        <p:nvSpPr>
          <p:cNvPr id="105" name="KPI1"/>
          <p:cNvSpPr/>
          <p:nvPr/>
        </p:nvSpPr>
        <p:spPr>
          <a:xfrm>
            <a:off x="2971800" y="118872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6" name="KPI1bar"/>
          <p:cNvSpPr/>
          <p:nvPr/>
        </p:nvSpPr>
        <p:spPr>
          <a:xfrm>
            <a:off x="2971800" y="1188720"/>
            <a:ext cx="233172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7" name="KPI1big"/>
          <p:cNvSpPr/>
          <p:nvPr/>
        </p:nvSpPr>
        <p:spPr>
          <a:xfrm>
            <a:off x="2971800" y="1298448"/>
            <a:ext cx="233172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4000" b="1" dirty="0">
                <a:solidFill>
                  <a:srgbClr val="EF4444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108" name="KPI1lbl"/>
          <p:cNvSpPr/>
          <p:nvPr/>
        </p:nvSpPr>
        <p:spPr>
          <a:xfrm>
            <a:off x="2971800" y="1792224"/>
            <a:ext cx="233172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Máximo (DEC)</a:t>
            </a:r>
          </a:p>
        </p:txBody>
      </p:sp>
      <p:sp>
        <p:nvSpPr>
          <p:cNvPr id="109" name="KPI1sub"/>
          <p:cNvSpPr/>
          <p:nvPr/>
        </p:nvSpPr>
        <p:spPr>
          <a:xfrm>
            <a:off x="2971800" y="1984248"/>
            <a:ext cx="233172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HU #13936</a:t>
            </a:r>
          </a:p>
        </p:txBody>
      </p:sp>
      <p:sp>
        <p:nvSpPr>
          <p:cNvPr id="110" name="KPI2"/>
          <p:cNvSpPr/>
          <p:nvPr/>
        </p:nvSpPr>
        <p:spPr>
          <a:xfrm>
            <a:off x="5440680" y="118872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1" name="KPI2bar"/>
          <p:cNvSpPr/>
          <p:nvPr/>
        </p:nvSpPr>
        <p:spPr>
          <a:xfrm>
            <a:off x="5440680" y="1188720"/>
            <a:ext cx="2331720" cy="457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2" name="KPI2big"/>
          <p:cNvSpPr/>
          <p:nvPr/>
        </p:nvSpPr>
        <p:spPr>
          <a:xfrm>
            <a:off x="5440680" y="1298448"/>
            <a:ext cx="233172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40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3" name="KPI2lbl"/>
          <p:cNvSpPr/>
          <p:nvPr/>
        </p:nvSpPr>
        <p:spPr>
          <a:xfrm>
            <a:off x="5440680" y="1792224"/>
            <a:ext cx="233172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2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Iniciativas</a:t>
            </a:r>
          </a:p>
        </p:txBody>
      </p:sp>
      <p:sp>
        <p:nvSpPr>
          <p:cNvPr id="114" name="KPI2sub"/>
          <p:cNvSpPr/>
          <p:nvPr/>
        </p:nvSpPr>
        <p:spPr>
          <a:xfrm>
            <a:off x="5440680" y="1984248"/>
            <a:ext cx="233172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con ejecución</a:t>
            </a:r>
          </a:p>
        </p:txBody>
      </p:sp>
      <p:sp>
        <p:nvSpPr>
          <p:cNvPr id="115" name="ChartBg"/>
          <p:cNvSpPr/>
          <p:nvPr/>
        </p:nvSpPr>
        <p:spPr>
          <a:xfrm>
            <a:off x="502920" y="2468880"/>
            <a:ext cx="7223760" cy="20116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6" name="ChartTitle"/>
          <p:cNvSpPr/>
          <p:nvPr/>
        </p:nvSpPr>
        <p:spPr>
          <a:xfrm>
            <a:off x="731520" y="2560320"/>
            <a:ext cx="676656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CASOS EJECUTADOS — SEMANA ACTUAL POR INICIATIVA</a:t>
            </a:r>
          </a:p>
        </p:txBody>
      </p:sp>
      <p:sp>
        <p:nvSpPr>
          <p:cNvPr id="117" name="Lbl0"/>
          <p:cNvSpPr/>
          <p:nvPr/>
        </p:nvSpPr>
        <p:spPr>
          <a:xfrm>
            <a:off x="731520" y="2926080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18" name="BarBg0"/>
          <p:cNvSpPr/>
          <p:nvPr/>
        </p:nvSpPr>
        <p:spPr>
          <a:xfrm>
            <a:off x="2331720" y="2973106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9" name="Bar0"/>
          <p:cNvSpPr/>
          <p:nvPr/>
        </p:nvSpPr>
        <p:spPr>
          <a:xfrm>
            <a:off x="2331720" y="2973106"/>
            <a:ext cx="1175657" cy="11495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0" name="Val0"/>
          <p:cNvSpPr/>
          <p:nvPr/>
        </p:nvSpPr>
        <p:spPr>
          <a:xfrm>
            <a:off x="3598817" y="2926080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21" name="Lbl1"/>
          <p:cNvSpPr/>
          <p:nvPr/>
        </p:nvSpPr>
        <p:spPr>
          <a:xfrm>
            <a:off x="731520" y="3135085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COIL</a:t>
            </a:r>
          </a:p>
        </p:txBody>
      </p:sp>
      <p:sp>
        <p:nvSpPr>
          <p:cNvPr id="122" name="BarBg1"/>
          <p:cNvSpPr/>
          <p:nvPr/>
        </p:nvSpPr>
        <p:spPr>
          <a:xfrm>
            <a:off x="2331720" y="3182111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3" name="Val1"/>
          <p:cNvSpPr/>
          <p:nvPr/>
        </p:nvSpPr>
        <p:spPr>
          <a:xfrm>
            <a:off x="2423160" y="3135085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4" name="Lbl2"/>
          <p:cNvSpPr/>
          <p:nvPr/>
        </p:nvSpPr>
        <p:spPr>
          <a:xfrm>
            <a:off x="731520" y="3344090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Certificaciones</a:t>
            </a:r>
          </a:p>
        </p:txBody>
      </p:sp>
      <p:sp>
        <p:nvSpPr>
          <p:cNvPr id="125" name="BarBg2"/>
          <p:cNvSpPr/>
          <p:nvPr/>
        </p:nvSpPr>
        <p:spPr>
          <a:xfrm>
            <a:off x="2331720" y="3391116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6" name="Val2"/>
          <p:cNvSpPr/>
          <p:nvPr/>
        </p:nvSpPr>
        <p:spPr>
          <a:xfrm>
            <a:off x="2423160" y="3344090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7" name="Lbl3"/>
          <p:cNvSpPr/>
          <p:nvPr/>
        </p:nvSpPr>
        <p:spPr>
          <a:xfrm>
            <a:off x="731520" y="3553095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128" name="BarBg3"/>
          <p:cNvSpPr/>
          <p:nvPr/>
        </p:nvSpPr>
        <p:spPr>
          <a:xfrm>
            <a:off x="2331720" y="3600121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9" name="Val3"/>
          <p:cNvSpPr/>
          <p:nvPr/>
        </p:nvSpPr>
        <p:spPr>
          <a:xfrm>
            <a:off x="2423160" y="3553095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0" name="Lbl4"/>
          <p:cNvSpPr/>
          <p:nvPr/>
        </p:nvSpPr>
        <p:spPr>
          <a:xfrm>
            <a:off x="731520" y="3762100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Migración DB_RESERVA</a:t>
            </a:r>
          </a:p>
        </p:txBody>
      </p:sp>
      <p:sp>
        <p:nvSpPr>
          <p:cNvPr id="131" name="BarBg4"/>
          <p:cNvSpPr/>
          <p:nvPr/>
        </p:nvSpPr>
        <p:spPr>
          <a:xfrm>
            <a:off x="2331720" y="3809126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2" name="Val4"/>
          <p:cNvSpPr/>
          <p:nvPr/>
        </p:nvSpPr>
        <p:spPr>
          <a:xfrm>
            <a:off x="2423160" y="3762100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3" name="Lbl5"/>
          <p:cNvSpPr/>
          <p:nvPr/>
        </p:nvSpPr>
        <p:spPr>
          <a:xfrm>
            <a:off x="731520" y="3971105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Sistema de Notas</a:t>
            </a:r>
          </a:p>
        </p:txBody>
      </p:sp>
      <p:sp>
        <p:nvSpPr>
          <p:cNvPr id="134" name="BarBg5"/>
          <p:cNvSpPr/>
          <p:nvPr/>
        </p:nvSpPr>
        <p:spPr>
          <a:xfrm>
            <a:off x="2331720" y="4018131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5" name="Val5"/>
          <p:cNvSpPr/>
          <p:nvPr/>
        </p:nvSpPr>
        <p:spPr>
          <a:xfrm>
            <a:off x="2423160" y="3971105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0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6" name="Lbl6"/>
          <p:cNvSpPr/>
          <p:nvPr/>
        </p:nvSpPr>
        <p:spPr>
          <a:xfrm>
            <a:off x="731520" y="4180110"/>
            <a:ext cx="169164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137" name="BarBg6"/>
          <p:cNvSpPr/>
          <p:nvPr/>
        </p:nvSpPr>
        <p:spPr>
          <a:xfrm>
            <a:off x="2331720" y="4227136"/>
            <a:ext cx="4937760" cy="11495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8" name="Bar6"/>
          <p:cNvSpPr/>
          <p:nvPr/>
        </p:nvSpPr>
        <p:spPr>
          <a:xfrm>
            <a:off x="2331720" y="4227136"/>
            <a:ext cx="4937760" cy="11495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9" name="Val6"/>
          <p:cNvSpPr/>
          <p:nvPr/>
        </p:nvSpPr>
        <p:spPr>
          <a:xfrm>
            <a:off x="7360920" y="4180110"/>
            <a:ext cx="914400" cy="20900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1" dirty="0">
                <a:solidFill>
                  <a:srgbClr val="EF4444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140" name="Note"/>
          <p:cNvSpPr/>
          <p:nvPr/>
        </p:nvSpPr>
        <p:spPr>
          <a:xfrm>
            <a:off x="502920" y="4572000"/>
            <a:ext cx="6858000" cy="2286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s-CL" sz="900" b="0" i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Trayectorias y DEC registran ejecución esta semana — el resto en fase de diseño o ambientación.</a:t>
            </a:r>
          </a:p>
        </p:txBody>
      </p:sp>
      <p:sp>
        <p:nvSpPr>
          <p:cNvPr id="99" name="PageNum"/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r">
              <a:buNone/>
            </a:pPr>
            <a:r>
              <a:rPr lang="es-CL" sz="900" b="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12 de 20</a:t>
            </a:r>
          </a:p>
        </p:txBody>
      </p:sp>
      <p:pic>
        <p:nvPicPr>
          <p:cNvPr id="9" name="Picture U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Ejecución por Iniciativas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Relación entre casos diseñados y ejecutados por cada iniciativa</a:t>
            </a:r>
          </a:p>
        </p:txBody>
      </p:sp>
      <p:sp>
        <p:nvSpPr>
          <p:cNvPr id="100" name="HdrBg"/>
          <p:cNvSpPr/>
          <p:nvPr/>
        </p:nvSpPr>
        <p:spPr>
          <a:xfrm>
            <a:off x="502920" y="1188720"/>
            <a:ext cx="5682343" cy="36576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1" name="H1"/>
          <p:cNvSpPr/>
          <p:nvPr/>
        </p:nvSpPr>
        <p:spPr>
          <a:xfrm>
            <a:off x="640080" y="1188720"/>
            <a:ext cx="2103120" cy="3657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INICIATIVA</a:t>
            </a:r>
          </a:p>
        </p:txBody>
      </p:sp>
      <p:sp>
        <p:nvSpPr>
          <p:cNvPr id="102" name="H2"/>
          <p:cNvSpPr/>
          <p:nvPr/>
        </p:nvSpPr>
        <p:spPr>
          <a:xfrm>
            <a:off x="2606040" y="1188720"/>
            <a:ext cx="1097280" cy="3657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DISEÑADOS</a:t>
            </a:r>
          </a:p>
        </p:txBody>
      </p:sp>
      <p:sp>
        <p:nvSpPr>
          <p:cNvPr id="103" name="H3"/>
          <p:cNvSpPr/>
          <p:nvPr/>
        </p:nvSpPr>
        <p:spPr>
          <a:xfrm>
            <a:off x="3703320" y="1188720"/>
            <a:ext cx="1097280" cy="3657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EJECUTADOS</a:t>
            </a:r>
          </a:p>
        </p:txBody>
      </p:sp>
      <p:sp>
        <p:nvSpPr>
          <p:cNvPr id="106" name="H6"/>
          <p:cNvSpPr/>
          <p:nvPr/>
        </p:nvSpPr>
        <p:spPr>
          <a:xfrm>
            <a:off x="4957354" y="1184148"/>
            <a:ext cx="1097280" cy="3657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COMPLEJIDAD</a:t>
            </a:r>
          </a:p>
        </p:txBody>
      </p:sp>
      <p:sp>
        <p:nvSpPr>
          <p:cNvPr id="107" name="Row0bg"/>
          <p:cNvSpPr/>
          <p:nvPr/>
        </p:nvSpPr>
        <p:spPr>
          <a:xfrm>
            <a:off x="502920" y="1554480"/>
            <a:ext cx="5682343" cy="38404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8" name="Rowaccent0"/>
          <p:cNvSpPr/>
          <p:nvPr/>
        </p:nvSpPr>
        <p:spPr>
          <a:xfrm>
            <a:off x="502920" y="1554480"/>
            <a:ext cx="73152" cy="38404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9" name="N0"/>
          <p:cNvSpPr/>
          <p:nvPr/>
        </p:nvSpPr>
        <p:spPr>
          <a:xfrm>
            <a:off x="731520" y="1554480"/>
            <a:ext cx="20116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10" name="D0"/>
          <p:cNvSpPr/>
          <p:nvPr/>
        </p:nvSpPr>
        <p:spPr>
          <a:xfrm>
            <a:off x="2606040" y="1554480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11" name="E0"/>
          <p:cNvSpPr/>
          <p:nvPr/>
        </p:nvSpPr>
        <p:spPr>
          <a:xfrm>
            <a:off x="3703320" y="1554480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15" name="Cmpl0"/>
          <p:cNvSpPr/>
          <p:nvPr/>
        </p:nvSpPr>
        <p:spPr>
          <a:xfrm>
            <a:off x="5185964" y="1618488"/>
            <a:ext cx="822960" cy="25603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6" name="CmplT0"/>
          <p:cNvSpPr/>
          <p:nvPr/>
        </p:nvSpPr>
        <p:spPr>
          <a:xfrm>
            <a:off x="5185964" y="1618488"/>
            <a:ext cx="82296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Media</a:t>
            </a:r>
          </a:p>
        </p:txBody>
      </p:sp>
      <p:sp>
        <p:nvSpPr>
          <p:cNvPr id="118" name="Rowaccent1"/>
          <p:cNvSpPr/>
          <p:nvPr/>
        </p:nvSpPr>
        <p:spPr>
          <a:xfrm>
            <a:off x="502920" y="1938528"/>
            <a:ext cx="73152" cy="384048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9" name="N1"/>
          <p:cNvSpPr/>
          <p:nvPr/>
        </p:nvSpPr>
        <p:spPr>
          <a:xfrm>
            <a:off x="731520" y="1938528"/>
            <a:ext cx="20116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COIL</a:t>
            </a:r>
          </a:p>
        </p:txBody>
      </p:sp>
      <p:sp>
        <p:nvSpPr>
          <p:cNvPr id="120" name="D1"/>
          <p:cNvSpPr/>
          <p:nvPr/>
        </p:nvSpPr>
        <p:spPr>
          <a:xfrm>
            <a:off x="2606040" y="1938528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1" name="E1"/>
          <p:cNvSpPr/>
          <p:nvPr/>
        </p:nvSpPr>
        <p:spPr>
          <a:xfrm>
            <a:off x="3703320" y="1938528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4" name="Cmpl1"/>
          <p:cNvSpPr/>
          <p:nvPr/>
        </p:nvSpPr>
        <p:spPr>
          <a:xfrm>
            <a:off x="5185964" y="2002536"/>
            <a:ext cx="822960" cy="25603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25" name="CmplT1"/>
          <p:cNvSpPr/>
          <p:nvPr/>
        </p:nvSpPr>
        <p:spPr>
          <a:xfrm>
            <a:off x="5185964" y="2002536"/>
            <a:ext cx="82296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Media</a:t>
            </a:r>
          </a:p>
        </p:txBody>
      </p:sp>
      <p:sp>
        <p:nvSpPr>
          <p:cNvPr id="126" name="Row2bg"/>
          <p:cNvSpPr/>
          <p:nvPr/>
        </p:nvSpPr>
        <p:spPr>
          <a:xfrm>
            <a:off x="502920" y="2322576"/>
            <a:ext cx="5682343" cy="38404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7" name="Rowaccent2"/>
          <p:cNvSpPr/>
          <p:nvPr/>
        </p:nvSpPr>
        <p:spPr>
          <a:xfrm>
            <a:off x="502920" y="2322576"/>
            <a:ext cx="73152" cy="384048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8" name="N2"/>
          <p:cNvSpPr/>
          <p:nvPr/>
        </p:nvSpPr>
        <p:spPr>
          <a:xfrm>
            <a:off x="731520" y="2322576"/>
            <a:ext cx="20116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Certificaciones</a:t>
            </a:r>
          </a:p>
        </p:txBody>
      </p:sp>
      <p:sp>
        <p:nvSpPr>
          <p:cNvPr id="129" name="D2"/>
          <p:cNvSpPr/>
          <p:nvPr/>
        </p:nvSpPr>
        <p:spPr>
          <a:xfrm>
            <a:off x="2606040" y="2322576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0" name="E2"/>
          <p:cNvSpPr/>
          <p:nvPr/>
        </p:nvSpPr>
        <p:spPr>
          <a:xfrm>
            <a:off x="3703320" y="2322576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1" name="P2"/>
          <p:cNvSpPr/>
          <p:nvPr/>
        </p:nvSpPr>
        <p:spPr>
          <a:xfrm>
            <a:off x="4800600" y="2322576"/>
            <a:ext cx="91440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endParaRPr lang="es-CL" sz="1200" b="1" dirty="0">
              <a:solidFill>
                <a:srgbClr val="64748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Cmpl2"/>
          <p:cNvSpPr/>
          <p:nvPr/>
        </p:nvSpPr>
        <p:spPr>
          <a:xfrm>
            <a:off x="5185964" y="2386584"/>
            <a:ext cx="822960" cy="25603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34" name="CmplT2"/>
          <p:cNvSpPr/>
          <p:nvPr/>
        </p:nvSpPr>
        <p:spPr>
          <a:xfrm>
            <a:off x="5185964" y="2386584"/>
            <a:ext cx="82296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Media</a:t>
            </a:r>
          </a:p>
        </p:txBody>
      </p:sp>
      <p:sp>
        <p:nvSpPr>
          <p:cNvPr id="135" name="Row3bg"/>
          <p:cNvSpPr/>
          <p:nvPr/>
        </p:nvSpPr>
        <p:spPr>
          <a:xfrm>
            <a:off x="502920" y="2706624"/>
            <a:ext cx="722376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6" name="Rowaccent3"/>
          <p:cNvSpPr/>
          <p:nvPr/>
        </p:nvSpPr>
        <p:spPr>
          <a:xfrm>
            <a:off x="502920" y="2706624"/>
            <a:ext cx="73152" cy="3840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7" name="N3"/>
          <p:cNvSpPr/>
          <p:nvPr/>
        </p:nvSpPr>
        <p:spPr>
          <a:xfrm>
            <a:off x="731520" y="2706624"/>
            <a:ext cx="20116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138" name="D3"/>
          <p:cNvSpPr/>
          <p:nvPr/>
        </p:nvSpPr>
        <p:spPr>
          <a:xfrm>
            <a:off x="2606040" y="2706624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9" name="E3"/>
          <p:cNvSpPr/>
          <p:nvPr/>
        </p:nvSpPr>
        <p:spPr>
          <a:xfrm>
            <a:off x="3703320" y="2706624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0" name="P3"/>
          <p:cNvSpPr/>
          <p:nvPr/>
        </p:nvSpPr>
        <p:spPr>
          <a:xfrm>
            <a:off x="4800600" y="2706624"/>
            <a:ext cx="91440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endParaRPr lang="es-CL" sz="1200" b="1" dirty="0">
              <a:solidFill>
                <a:srgbClr val="64748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Cmpl3"/>
          <p:cNvSpPr/>
          <p:nvPr/>
        </p:nvSpPr>
        <p:spPr>
          <a:xfrm>
            <a:off x="5185964" y="2770632"/>
            <a:ext cx="822960" cy="25603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43" name="CmplT3"/>
          <p:cNvSpPr/>
          <p:nvPr/>
        </p:nvSpPr>
        <p:spPr>
          <a:xfrm>
            <a:off x="5185964" y="2770632"/>
            <a:ext cx="82296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Media</a:t>
            </a:r>
          </a:p>
        </p:txBody>
      </p:sp>
      <p:sp>
        <p:nvSpPr>
          <p:cNvPr id="144" name="Row4bg"/>
          <p:cNvSpPr/>
          <p:nvPr/>
        </p:nvSpPr>
        <p:spPr>
          <a:xfrm>
            <a:off x="502920" y="3090672"/>
            <a:ext cx="5682343" cy="38404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 dirty="0"/>
          </a:p>
        </p:txBody>
      </p:sp>
      <p:sp>
        <p:nvSpPr>
          <p:cNvPr id="145" name="Rowaccent4"/>
          <p:cNvSpPr/>
          <p:nvPr/>
        </p:nvSpPr>
        <p:spPr>
          <a:xfrm>
            <a:off x="502920" y="3090672"/>
            <a:ext cx="73152" cy="384048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6" name="N4"/>
          <p:cNvSpPr/>
          <p:nvPr/>
        </p:nvSpPr>
        <p:spPr>
          <a:xfrm>
            <a:off x="731520" y="3090672"/>
            <a:ext cx="20116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Migración DB_RESERVA</a:t>
            </a:r>
          </a:p>
        </p:txBody>
      </p:sp>
      <p:sp>
        <p:nvSpPr>
          <p:cNvPr id="147" name="D4"/>
          <p:cNvSpPr/>
          <p:nvPr/>
        </p:nvSpPr>
        <p:spPr>
          <a:xfrm>
            <a:off x="2606040" y="3090672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48" name="E4"/>
          <p:cNvSpPr/>
          <p:nvPr/>
        </p:nvSpPr>
        <p:spPr>
          <a:xfrm>
            <a:off x="3703320" y="3090672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9" name="P4"/>
          <p:cNvSpPr/>
          <p:nvPr/>
        </p:nvSpPr>
        <p:spPr>
          <a:xfrm>
            <a:off x="4800600" y="3090672"/>
            <a:ext cx="91440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endParaRPr lang="es-CL" sz="1200" b="1" dirty="0">
              <a:solidFill>
                <a:srgbClr val="EF444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Cmpl4"/>
          <p:cNvSpPr/>
          <p:nvPr/>
        </p:nvSpPr>
        <p:spPr>
          <a:xfrm>
            <a:off x="5185964" y="3154680"/>
            <a:ext cx="822960" cy="25603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52" name="CmplT4"/>
          <p:cNvSpPr/>
          <p:nvPr/>
        </p:nvSpPr>
        <p:spPr>
          <a:xfrm>
            <a:off x="5185964" y="3154680"/>
            <a:ext cx="82296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1" dirty="0">
                <a:solidFill>
                  <a:srgbClr val="EF4444"/>
                </a:solidFill>
                <a:latin typeface="Arial"/>
                <a:ea typeface="Arial"/>
                <a:cs typeface="Arial"/>
              </a:rPr>
              <a:t>Alta</a:t>
            </a:r>
          </a:p>
        </p:txBody>
      </p:sp>
      <p:sp>
        <p:nvSpPr>
          <p:cNvPr id="153" name="Row5bg"/>
          <p:cNvSpPr/>
          <p:nvPr/>
        </p:nvSpPr>
        <p:spPr>
          <a:xfrm>
            <a:off x="502920" y="3474720"/>
            <a:ext cx="722376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4" name="Rowaccent5"/>
          <p:cNvSpPr/>
          <p:nvPr/>
        </p:nvSpPr>
        <p:spPr>
          <a:xfrm>
            <a:off x="502920" y="3474720"/>
            <a:ext cx="73152" cy="38404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5" name="N5"/>
          <p:cNvSpPr/>
          <p:nvPr/>
        </p:nvSpPr>
        <p:spPr>
          <a:xfrm>
            <a:off x="731520" y="3474720"/>
            <a:ext cx="20116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Sistema de Notas</a:t>
            </a:r>
          </a:p>
        </p:txBody>
      </p:sp>
      <p:sp>
        <p:nvSpPr>
          <p:cNvPr id="156" name="D5"/>
          <p:cNvSpPr/>
          <p:nvPr/>
        </p:nvSpPr>
        <p:spPr>
          <a:xfrm>
            <a:off x="2606040" y="3474720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57" name="E5"/>
          <p:cNvSpPr/>
          <p:nvPr/>
        </p:nvSpPr>
        <p:spPr>
          <a:xfrm>
            <a:off x="3703320" y="3474720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60" name="Cmpl5"/>
          <p:cNvSpPr/>
          <p:nvPr/>
        </p:nvSpPr>
        <p:spPr>
          <a:xfrm>
            <a:off x="5185964" y="3538728"/>
            <a:ext cx="822960" cy="25603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61" name="CmplT5"/>
          <p:cNvSpPr/>
          <p:nvPr/>
        </p:nvSpPr>
        <p:spPr>
          <a:xfrm>
            <a:off x="5185964" y="3538728"/>
            <a:ext cx="82296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Media</a:t>
            </a:r>
          </a:p>
        </p:txBody>
      </p:sp>
      <p:sp>
        <p:nvSpPr>
          <p:cNvPr id="162" name="Row6bg"/>
          <p:cNvSpPr/>
          <p:nvPr/>
        </p:nvSpPr>
        <p:spPr>
          <a:xfrm>
            <a:off x="502920" y="3858768"/>
            <a:ext cx="5682343" cy="38404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3" name="Rowaccent6"/>
          <p:cNvSpPr/>
          <p:nvPr/>
        </p:nvSpPr>
        <p:spPr>
          <a:xfrm>
            <a:off x="502920" y="3858768"/>
            <a:ext cx="73152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4" name="N6"/>
          <p:cNvSpPr/>
          <p:nvPr/>
        </p:nvSpPr>
        <p:spPr>
          <a:xfrm>
            <a:off x="731520" y="3858768"/>
            <a:ext cx="20116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165" name="D6"/>
          <p:cNvSpPr/>
          <p:nvPr/>
        </p:nvSpPr>
        <p:spPr>
          <a:xfrm>
            <a:off x="2606040" y="3858768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66" name="E6"/>
          <p:cNvSpPr/>
          <p:nvPr/>
        </p:nvSpPr>
        <p:spPr>
          <a:xfrm>
            <a:off x="3703320" y="3858768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170" name="Cmpl6"/>
          <p:cNvSpPr/>
          <p:nvPr/>
        </p:nvSpPr>
        <p:spPr>
          <a:xfrm>
            <a:off x="5185964" y="3922776"/>
            <a:ext cx="822960" cy="25603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71" name="CmplT6"/>
          <p:cNvSpPr/>
          <p:nvPr/>
        </p:nvSpPr>
        <p:spPr>
          <a:xfrm>
            <a:off x="5185964" y="3922776"/>
            <a:ext cx="822960" cy="25603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900" b="1" dirty="0">
                <a:solidFill>
                  <a:srgbClr val="EF4444"/>
                </a:solidFill>
                <a:latin typeface="Arial"/>
                <a:ea typeface="Arial"/>
                <a:cs typeface="Arial"/>
              </a:rPr>
              <a:t>Alta</a:t>
            </a:r>
          </a:p>
        </p:txBody>
      </p:sp>
      <p:sp>
        <p:nvSpPr>
          <p:cNvPr id="172" name="TotalBg"/>
          <p:cNvSpPr/>
          <p:nvPr/>
        </p:nvSpPr>
        <p:spPr>
          <a:xfrm>
            <a:off x="502920" y="4242816"/>
            <a:ext cx="5682343" cy="384048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3" name="TotalLbl"/>
          <p:cNvSpPr/>
          <p:nvPr/>
        </p:nvSpPr>
        <p:spPr>
          <a:xfrm>
            <a:off x="731520" y="4242816"/>
            <a:ext cx="210312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TOTAL SEMANA</a:t>
            </a:r>
          </a:p>
        </p:txBody>
      </p:sp>
      <p:sp>
        <p:nvSpPr>
          <p:cNvPr id="174" name="TotalD"/>
          <p:cNvSpPr/>
          <p:nvPr/>
        </p:nvSpPr>
        <p:spPr>
          <a:xfrm>
            <a:off x="2606040" y="4242816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5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175" name="TotalE"/>
          <p:cNvSpPr/>
          <p:nvPr/>
        </p:nvSpPr>
        <p:spPr>
          <a:xfrm>
            <a:off x="3703320" y="4242816"/>
            <a:ext cx="109728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5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78</a:t>
            </a:r>
          </a:p>
        </p:txBody>
      </p:sp>
      <p:sp>
        <p:nvSpPr>
          <p:cNvPr id="177" name="Note"/>
          <p:cNvSpPr/>
          <p:nvPr/>
        </p:nvSpPr>
        <p:spPr>
          <a:xfrm>
            <a:off x="502920" y="4718304"/>
            <a:ext cx="722376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s-CL" sz="900" b="0" i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N/A: ejecución sobre diseños de semanas anteriores (DEC ejecutó casos diseñados previamente).</a:t>
            </a:r>
          </a:p>
        </p:txBody>
      </p:sp>
      <p:sp>
        <p:nvSpPr>
          <p:cNvPr id="99" name="PageNum"/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r">
              <a:buNone/>
            </a:pPr>
            <a:r>
              <a:rPr lang="es-CL" sz="900" b="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13 de 20</a:t>
            </a:r>
          </a:p>
        </p:txBody>
      </p:sp>
      <p:pic>
        <p:nvPicPr>
          <p:cNvPr id="9" name="Picture U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</p:spPr>
      </p:pic>
      <p:sp>
        <p:nvSpPr>
          <p:cNvPr id="6" name="P2">
            <a:extLst>
              <a:ext uri="{FF2B5EF4-FFF2-40B4-BE49-F238E27FC236}">
                <a16:creationId xmlns:a16="http://schemas.microsoft.com/office/drawing/2014/main" id="{57B33FAD-9EE0-B9C2-F3A1-3965650F4929}"/>
              </a:ext>
            </a:extLst>
          </p:cNvPr>
          <p:cNvSpPr/>
          <p:nvPr/>
        </p:nvSpPr>
        <p:spPr>
          <a:xfrm>
            <a:off x="4800600" y="3090672"/>
            <a:ext cx="914400" cy="3840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endParaRPr lang="es-CL" sz="1200" b="1" dirty="0">
              <a:solidFill>
                <a:srgbClr val="64748B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Promedio de Ejecución por Semana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Media de casos de prueba ejecutados por iniciativa</a:t>
            </a:r>
          </a:p>
        </p:txBody>
      </p:sp>
      <p:sp>
        <p:nvSpPr>
          <p:cNvPr id="100" name="HeroCard"/>
          <p:cNvSpPr/>
          <p:nvPr/>
        </p:nvSpPr>
        <p:spPr>
          <a:xfrm>
            <a:off x="502920" y="118872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1" name="HeroBar"/>
          <p:cNvSpPr/>
          <p:nvPr/>
        </p:nvSpPr>
        <p:spPr>
          <a:xfrm>
            <a:off x="502920" y="1188720"/>
            <a:ext cx="3657600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2" name="HeroLbl"/>
          <p:cNvSpPr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1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PROMEDIO SEMANAL</a:t>
            </a:r>
          </a:p>
        </p:txBody>
      </p:sp>
      <p:sp>
        <p:nvSpPr>
          <p:cNvPr id="103" name="HeroNum"/>
          <p:cNvSpPr/>
          <p:nvPr/>
        </p:nvSpPr>
        <p:spPr>
          <a:xfrm>
            <a:off x="502920" y="1691640"/>
            <a:ext cx="3657600" cy="11887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11.1</a:t>
            </a:r>
          </a:p>
        </p:txBody>
      </p:sp>
      <p:sp>
        <p:nvSpPr>
          <p:cNvPr id="104" name="HeroSub"/>
          <p:cNvSpPr/>
          <p:nvPr/>
        </p:nvSpPr>
        <p:spPr>
          <a:xfrm>
            <a:off x="5029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3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casos por iniciativa</a:t>
            </a:r>
          </a:p>
        </p:txBody>
      </p:sp>
      <p:sp>
        <p:nvSpPr>
          <p:cNvPr id="105" name="HeroSub2"/>
          <p:cNvSpPr/>
          <p:nvPr/>
        </p:nvSpPr>
        <p:spPr>
          <a:xfrm>
            <a:off x="50292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i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Base: 78 casos / 7 iniciativas</a:t>
            </a:r>
          </a:p>
        </p:txBody>
      </p:sp>
      <p:sp>
        <p:nvSpPr>
          <p:cNvPr id="106" name="S0"/>
          <p:cNvSpPr/>
          <p:nvPr/>
        </p:nvSpPr>
        <p:spPr>
          <a:xfrm>
            <a:off x="4343400" y="1188720"/>
            <a:ext cx="3383280" cy="5029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7" name="Sbar0"/>
          <p:cNvSpPr/>
          <p:nvPr/>
        </p:nvSpPr>
        <p:spPr>
          <a:xfrm>
            <a:off x="4343400" y="1188720"/>
            <a:ext cx="73152" cy="5029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8" name="Snum0"/>
          <p:cNvSpPr/>
          <p:nvPr/>
        </p:nvSpPr>
        <p:spPr>
          <a:xfrm>
            <a:off x="4572000" y="1188720"/>
            <a:ext cx="100584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4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78</a:t>
            </a:r>
          </a:p>
        </p:txBody>
      </p:sp>
      <p:sp>
        <p:nvSpPr>
          <p:cNvPr id="109" name="Slbl0"/>
          <p:cNvSpPr/>
          <p:nvPr/>
        </p:nvSpPr>
        <p:spPr>
          <a:xfrm>
            <a:off x="557784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Total casos ejecutados</a:t>
            </a:r>
          </a:p>
        </p:txBody>
      </p:sp>
      <p:sp>
        <p:nvSpPr>
          <p:cNvPr id="110" name="S1"/>
          <p:cNvSpPr/>
          <p:nvPr/>
        </p:nvSpPr>
        <p:spPr>
          <a:xfrm>
            <a:off x="4343400" y="1764792"/>
            <a:ext cx="3383280" cy="5029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1" name="Sbar1"/>
          <p:cNvSpPr/>
          <p:nvPr/>
        </p:nvSpPr>
        <p:spPr>
          <a:xfrm>
            <a:off x="4343400" y="1764792"/>
            <a:ext cx="73152" cy="5029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2" name="Snum1"/>
          <p:cNvSpPr/>
          <p:nvPr/>
        </p:nvSpPr>
        <p:spPr>
          <a:xfrm>
            <a:off x="4572000" y="1764792"/>
            <a:ext cx="100584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400" b="1" dirty="0">
                <a:solidFill>
                  <a:srgbClr val="EF4444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113" name="Slbl1"/>
          <p:cNvSpPr/>
          <p:nvPr/>
        </p:nvSpPr>
        <p:spPr>
          <a:xfrm>
            <a:off x="5577840" y="1764792"/>
            <a:ext cx="20116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Máximo (DEC)</a:t>
            </a:r>
          </a:p>
        </p:txBody>
      </p:sp>
      <p:sp>
        <p:nvSpPr>
          <p:cNvPr id="114" name="S2"/>
          <p:cNvSpPr/>
          <p:nvPr/>
        </p:nvSpPr>
        <p:spPr>
          <a:xfrm>
            <a:off x="4343400" y="2340864"/>
            <a:ext cx="3383280" cy="5029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5" name="Sbar2"/>
          <p:cNvSpPr/>
          <p:nvPr/>
        </p:nvSpPr>
        <p:spPr>
          <a:xfrm>
            <a:off x="4343400" y="2340864"/>
            <a:ext cx="73152" cy="5029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6" name="Snum2"/>
          <p:cNvSpPr/>
          <p:nvPr/>
        </p:nvSpPr>
        <p:spPr>
          <a:xfrm>
            <a:off x="4572000" y="2340864"/>
            <a:ext cx="100584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4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2/7</a:t>
            </a:r>
          </a:p>
        </p:txBody>
      </p:sp>
      <p:sp>
        <p:nvSpPr>
          <p:cNvPr id="117" name="Slbl2"/>
          <p:cNvSpPr/>
          <p:nvPr/>
        </p:nvSpPr>
        <p:spPr>
          <a:xfrm>
            <a:off x="5577840" y="2340864"/>
            <a:ext cx="20116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Iniciativas con ejecución</a:t>
            </a:r>
          </a:p>
        </p:txBody>
      </p:sp>
      <p:sp>
        <p:nvSpPr>
          <p:cNvPr id="118" name="S3"/>
          <p:cNvSpPr/>
          <p:nvPr/>
        </p:nvSpPr>
        <p:spPr>
          <a:xfrm>
            <a:off x="4343400" y="2916936"/>
            <a:ext cx="3383280" cy="5029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9" name="Sbar3"/>
          <p:cNvSpPr/>
          <p:nvPr/>
        </p:nvSpPr>
        <p:spPr>
          <a:xfrm>
            <a:off x="4343400" y="2916936"/>
            <a:ext cx="73152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0" name="Snum3"/>
          <p:cNvSpPr/>
          <p:nvPr/>
        </p:nvSpPr>
        <p:spPr>
          <a:xfrm>
            <a:off x="4572000" y="2916936"/>
            <a:ext cx="100584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4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1" name="Slbl3"/>
          <p:cNvSpPr/>
          <p:nvPr/>
        </p:nvSpPr>
        <p:spPr>
          <a:xfrm>
            <a:off x="5577840" y="2916936"/>
            <a:ext cx="20116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1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Iniciativas sin ejecución</a:t>
            </a:r>
          </a:p>
        </p:txBody>
      </p:sp>
      <p:sp>
        <p:nvSpPr>
          <p:cNvPr id="122" name="Note"/>
          <p:cNvSpPr/>
          <p:nvPr/>
        </p:nvSpPr>
        <p:spPr>
          <a:xfrm>
            <a:off x="502920" y="4251960"/>
            <a:ext cx="722376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s-CL" sz="10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Ejecución concentrada en Trayectorias (15 casos) y DEC (63 casos UAT HU #13936) — el resto aún en fase previa.</a:t>
            </a:r>
          </a:p>
        </p:txBody>
      </p:sp>
      <p:sp>
        <p:nvSpPr>
          <p:cNvPr id="99" name="PageNum"/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r">
              <a:buNone/>
            </a:pPr>
            <a:r>
              <a:rPr lang="es-CL" sz="900" b="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14 de 20</a:t>
            </a:r>
          </a:p>
        </p:txBody>
      </p:sp>
      <p:pic>
        <p:nvPicPr>
          <p:cNvPr id="9" name="Picture U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Distribución de Analistas por Iniciativa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Asignación del equipo QA sobre las iniciativas activas</a:t>
            </a:r>
          </a:p>
        </p:txBody>
      </p:sp>
      <p:sp>
        <p:nvSpPr>
          <p:cNvPr id="100" name="ACard0"/>
          <p:cNvSpPr/>
          <p:nvPr/>
        </p:nvSpPr>
        <p:spPr>
          <a:xfrm>
            <a:off x="502920" y="1188720"/>
            <a:ext cx="2377440" cy="3200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1" name="ABanner0"/>
          <p:cNvSpPr/>
          <p:nvPr/>
        </p:nvSpPr>
        <p:spPr>
          <a:xfrm>
            <a:off x="502920" y="1188720"/>
            <a:ext cx="2377440" cy="7315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2" name="Avatar0"/>
          <p:cNvSpPr/>
          <p:nvPr/>
        </p:nvSpPr>
        <p:spPr>
          <a:xfrm>
            <a:off x="1257300" y="1417320"/>
            <a:ext cx="868680" cy="86868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3" name="Init0"/>
          <p:cNvSpPr/>
          <p:nvPr/>
        </p:nvSpPr>
        <p:spPr>
          <a:xfrm>
            <a:off x="1257300" y="1417320"/>
            <a:ext cx="868680" cy="86868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JF</a:t>
            </a:r>
          </a:p>
        </p:txBody>
      </p:sp>
      <p:sp>
        <p:nvSpPr>
          <p:cNvPr id="104" name="AName0"/>
          <p:cNvSpPr/>
          <p:nvPr/>
        </p:nvSpPr>
        <p:spPr>
          <a:xfrm>
            <a:off x="502920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Jose Flores</a:t>
            </a:r>
          </a:p>
        </p:txBody>
      </p:sp>
      <p:sp>
        <p:nvSpPr>
          <p:cNvPr id="105" name="AAsig0"/>
          <p:cNvSpPr/>
          <p:nvPr/>
        </p:nvSpPr>
        <p:spPr>
          <a:xfrm>
            <a:off x="50292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Asignación total: 100%</a:t>
            </a:r>
          </a:p>
        </p:txBody>
      </p:sp>
      <p:sp>
        <p:nvSpPr>
          <p:cNvPr id="106" name="ASep0"/>
          <p:cNvSpPr/>
          <p:nvPr/>
        </p:nvSpPr>
        <p:spPr>
          <a:xfrm>
            <a:off x="777240" y="3063239"/>
            <a:ext cx="1828800" cy="635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7" name="AIniLbl0"/>
          <p:cNvSpPr/>
          <p:nvPr/>
        </p:nvSpPr>
        <p:spPr>
          <a:xfrm>
            <a:off x="731520" y="3154680"/>
            <a:ext cx="1920240" cy="2286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INICIATIVAS ASIGNADAS</a:t>
            </a:r>
          </a:p>
        </p:txBody>
      </p:sp>
      <p:sp>
        <p:nvSpPr>
          <p:cNvPr id="108" name="ADot00"/>
          <p:cNvSpPr/>
          <p:nvPr/>
        </p:nvSpPr>
        <p:spPr>
          <a:xfrm>
            <a:off x="777240" y="3502152"/>
            <a:ext cx="91440" cy="9144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9" name="AIt00"/>
          <p:cNvSpPr/>
          <p:nvPr/>
        </p:nvSpPr>
        <p:spPr>
          <a:xfrm>
            <a:off x="941832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5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10" name="ADot01"/>
          <p:cNvSpPr/>
          <p:nvPr/>
        </p:nvSpPr>
        <p:spPr>
          <a:xfrm>
            <a:off x="777240" y="3776472"/>
            <a:ext cx="91440" cy="9144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1" name="AIt01"/>
          <p:cNvSpPr/>
          <p:nvPr/>
        </p:nvSpPr>
        <p:spPr>
          <a:xfrm>
            <a:off x="941832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5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COIL</a:t>
            </a:r>
          </a:p>
        </p:txBody>
      </p:sp>
      <p:sp>
        <p:nvSpPr>
          <p:cNvPr id="112" name="ADot02"/>
          <p:cNvSpPr/>
          <p:nvPr/>
        </p:nvSpPr>
        <p:spPr>
          <a:xfrm>
            <a:off x="777240" y="4050792"/>
            <a:ext cx="91440" cy="9144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3" name="AIt02"/>
          <p:cNvSpPr/>
          <p:nvPr/>
        </p:nvSpPr>
        <p:spPr>
          <a:xfrm>
            <a:off x="941832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5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Certificaciones</a:t>
            </a:r>
          </a:p>
        </p:txBody>
      </p:sp>
      <p:sp>
        <p:nvSpPr>
          <p:cNvPr id="114" name="ACard1"/>
          <p:cNvSpPr/>
          <p:nvPr/>
        </p:nvSpPr>
        <p:spPr>
          <a:xfrm>
            <a:off x="2971800" y="1188720"/>
            <a:ext cx="2377440" cy="3200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5" name="ABanner1"/>
          <p:cNvSpPr/>
          <p:nvPr/>
        </p:nvSpPr>
        <p:spPr>
          <a:xfrm>
            <a:off x="2971800" y="1188720"/>
            <a:ext cx="2377440" cy="7315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6" name="Avatar1"/>
          <p:cNvSpPr/>
          <p:nvPr/>
        </p:nvSpPr>
        <p:spPr>
          <a:xfrm>
            <a:off x="3726180" y="1417320"/>
            <a:ext cx="868680" cy="86868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7" name="Init1"/>
          <p:cNvSpPr/>
          <p:nvPr/>
        </p:nvSpPr>
        <p:spPr>
          <a:xfrm>
            <a:off x="3726180" y="1417320"/>
            <a:ext cx="868680" cy="86868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RG</a:t>
            </a:r>
          </a:p>
        </p:txBody>
      </p:sp>
      <p:sp>
        <p:nvSpPr>
          <p:cNvPr id="118" name="AName1"/>
          <p:cNvSpPr/>
          <p:nvPr/>
        </p:nvSpPr>
        <p:spPr>
          <a:xfrm>
            <a:off x="2971800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Renato Garcia</a:t>
            </a:r>
          </a:p>
        </p:txBody>
      </p:sp>
      <p:sp>
        <p:nvSpPr>
          <p:cNvPr id="119" name="AAsig1"/>
          <p:cNvSpPr/>
          <p:nvPr/>
        </p:nvSpPr>
        <p:spPr>
          <a:xfrm>
            <a:off x="297180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Asignación total: 1</a:t>
            </a:r>
            <a:r>
              <a:rPr lang="es-CL" sz="100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5</a:t>
            </a:r>
            <a:r>
              <a:rPr lang="es-CL" sz="10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20" name="ASep1"/>
          <p:cNvSpPr/>
          <p:nvPr/>
        </p:nvSpPr>
        <p:spPr>
          <a:xfrm>
            <a:off x="3246120" y="3063239"/>
            <a:ext cx="1828800" cy="635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1" name="AIniLbl1"/>
          <p:cNvSpPr/>
          <p:nvPr/>
        </p:nvSpPr>
        <p:spPr>
          <a:xfrm>
            <a:off x="3200400" y="3154680"/>
            <a:ext cx="1920240" cy="2286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INICIATIVAS ASIGNADAS</a:t>
            </a:r>
          </a:p>
        </p:txBody>
      </p:sp>
      <p:sp>
        <p:nvSpPr>
          <p:cNvPr id="122" name="ADot10"/>
          <p:cNvSpPr/>
          <p:nvPr/>
        </p:nvSpPr>
        <p:spPr>
          <a:xfrm>
            <a:off x="3246120" y="3502152"/>
            <a:ext cx="91440" cy="9144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3" name="AIt10"/>
          <p:cNvSpPr/>
          <p:nvPr/>
        </p:nvSpPr>
        <p:spPr>
          <a:xfrm>
            <a:off x="3410712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5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124" name="ADot11"/>
          <p:cNvSpPr/>
          <p:nvPr/>
        </p:nvSpPr>
        <p:spPr>
          <a:xfrm>
            <a:off x="3246120" y="3776472"/>
            <a:ext cx="91440" cy="9144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5" name="AIt11"/>
          <p:cNvSpPr/>
          <p:nvPr/>
        </p:nvSpPr>
        <p:spPr>
          <a:xfrm>
            <a:off x="3410712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5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Migración DB_RESERVA</a:t>
            </a:r>
          </a:p>
        </p:txBody>
      </p:sp>
      <p:sp>
        <p:nvSpPr>
          <p:cNvPr id="126" name="ADot12"/>
          <p:cNvSpPr/>
          <p:nvPr/>
        </p:nvSpPr>
        <p:spPr>
          <a:xfrm>
            <a:off x="3246120" y="4050792"/>
            <a:ext cx="91440" cy="9144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7" name="AIt12"/>
          <p:cNvSpPr/>
          <p:nvPr/>
        </p:nvSpPr>
        <p:spPr>
          <a:xfrm>
            <a:off x="3410712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5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Sistema de Notas</a:t>
            </a:r>
          </a:p>
        </p:txBody>
      </p:sp>
      <p:sp>
        <p:nvSpPr>
          <p:cNvPr id="128" name="ACard2"/>
          <p:cNvSpPr/>
          <p:nvPr/>
        </p:nvSpPr>
        <p:spPr>
          <a:xfrm>
            <a:off x="5440680" y="1188720"/>
            <a:ext cx="2377440" cy="3200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29" name="ABanner2"/>
          <p:cNvSpPr/>
          <p:nvPr/>
        </p:nvSpPr>
        <p:spPr>
          <a:xfrm>
            <a:off x="5440680" y="1188720"/>
            <a:ext cx="2377440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0" name="Avatar2"/>
          <p:cNvSpPr/>
          <p:nvPr/>
        </p:nvSpPr>
        <p:spPr>
          <a:xfrm>
            <a:off x="6195060" y="1417320"/>
            <a:ext cx="868680" cy="86868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1" name="Init2"/>
          <p:cNvSpPr/>
          <p:nvPr/>
        </p:nvSpPr>
        <p:spPr>
          <a:xfrm>
            <a:off x="6195060" y="1417320"/>
            <a:ext cx="868680" cy="86868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BB</a:t>
            </a:r>
          </a:p>
        </p:txBody>
      </p:sp>
      <p:sp>
        <p:nvSpPr>
          <p:cNvPr id="132" name="AName2"/>
          <p:cNvSpPr/>
          <p:nvPr/>
        </p:nvSpPr>
        <p:spPr>
          <a:xfrm>
            <a:off x="5440680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4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Braulio Benardis</a:t>
            </a:r>
          </a:p>
        </p:txBody>
      </p:sp>
      <p:sp>
        <p:nvSpPr>
          <p:cNvPr id="133" name="AAsig2"/>
          <p:cNvSpPr/>
          <p:nvPr/>
        </p:nvSpPr>
        <p:spPr>
          <a:xfrm>
            <a:off x="544068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10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Asignación total: 100%</a:t>
            </a:r>
          </a:p>
        </p:txBody>
      </p:sp>
      <p:sp>
        <p:nvSpPr>
          <p:cNvPr id="134" name="ASep2"/>
          <p:cNvSpPr/>
          <p:nvPr/>
        </p:nvSpPr>
        <p:spPr>
          <a:xfrm>
            <a:off x="5715000" y="3063239"/>
            <a:ext cx="1828800" cy="635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5" name="AIniLbl2"/>
          <p:cNvSpPr/>
          <p:nvPr/>
        </p:nvSpPr>
        <p:spPr>
          <a:xfrm>
            <a:off x="5669280" y="3154680"/>
            <a:ext cx="1920240" cy="2286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INICIATIVAS ASIGNADAS</a:t>
            </a:r>
          </a:p>
        </p:txBody>
      </p:sp>
      <p:sp>
        <p:nvSpPr>
          <p:cNvPr id="136" name="ADot20"/>
          <p:cNvSpPr/>
          <p:nvPr/>
        </p:nvSpPr>
        <p:spPr>
          <a:xfrm>
            <a:off x="5715000" y="3502152"/>
            <a:ext cx="91440" cy="9144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7" name="AIt20"/>
          <p:cNvSpPr/>
          <p:nvPr/>
        </p:nvSpPr>
        <p:spPr>
          <a:xfrm>
            <a:off x="5879592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05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138" name="FootLbl"/>
          <p:cNvSpPr/>
          <p:nvPr/>
        </p:nvSpPr>
        <p:spPr>
          <a:xfrm>
            <a:off x="502920" y="4480560"/>
            <a:ext cx="722376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ctr">
              <a:buNone/>
            </a:pPr>
            <a:r>
              <a:rPr lang="es-CL" sz="1000" b="0" i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3 analistas QA cubren las 7 iniciativas activas  •  Carga distribuida según complejidad y prioridad</a:t>
            </a:r>
          </a:p>
        </p:txBody>
      </p:sp>
      <p:sp>
        <p:nvSpPr>
          <p:cNvPr id="99" name="PageNum"/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r">
              <a:buNone/>
            </a:pPr>
            <a:r>
              <a:rPr lang="es-CL" sz="900" b="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17 de 20</a:t>
            </a:r>
          </a:p>
        </p:txBody>
      </p:sp>
      <p:pic>
        <p:nvPicPr>
          <p:cNvPr id="9" name="Picture U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itle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Historias de Usuario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1200" b="0" i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Resumen consolidado de las 19 HU de la semana  —  C2+ = regresión acumulada</a:t>
            </a:r>
          </a:p>
        </p:txBody>
      </p:sp>
      <p:sp>
        <p:nvSpPr>
          <p:cNvPr id="100" name="K0"/>
          <p:cNvSpPr/>
          <p:nvPr/>
        </p:nvSpPr>
        <p:spPr>
          <a:xfrm>
            <a:off x="502920" y="1188720"/>
            <a:ext cx="1356969" cy="5943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1" name="Kbar0"/>
          <p:cNvSpPr/>
          <p:nvPr/>
        </p:nvSpPr>
        <p:spPr>
          <a:xfrm>
            <a:off x="502920" y="1188720"/>
            <a:ext cx="54864" cy="5943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2" name="Kbig0"/>
          <p:cNvSpPr/>
          <p:nvPr/>
        </p:nvSpPr>
        <p:spPr>
          <a:xfrm>
            <a:off x="640080" y="1188720"/>
            <a:ext cx="594360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2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03" name="Klbl0"/>
          <p:cNvSpPr/>
          <p:nvPr/>
        </p:nvSpPr>
        <p:spPr>
          <a:xfrm>
            <a:off x="1234440" y="1188720"/>
            <a:ext cx="534009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HU Totales</a:t>
            </a:r>
          </a:p>
        </p:txBody>
      </p:sp>
      <p:sp>
        <p:nvSpPr>
          <p:cNvPr id="104" name="K1"/>
          <p:cNvSpPr/>
          <p:nvPr/>
        </p:nvSpPr>
        <p:spPr>
          <a:xfrm>
            <a:off x="1969617" y="1188720"/>
            <a:ext cx="1356969" cy="5943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0EA5E9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5" name="Kbar1"/>
          <p:cNvSpPr/>
          <p:nvPr/>
        </p:nvSpPr>
        <p:spPr>
          <a:xfrm>
            <a:off x="1969617" y="1188720"/>
            <a:ext cx="54864" cy="59436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6" name="Kbig1"/>
          <p:cNvSpPr/>
          <p:nvPr/>
        </p:nvSpPr>
        <p:spPr>
          <a:xfrm>
            <a:off x="2106777" y="1188720"/>
            <a:ext cx="594360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2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7" name="Klbl1"/>
          <p:cNvSpPr/>
          <p:nvPr/>
        </p:nvSpPr>
        <p:spPr>
          <a:xfrm>
            <a:off x="2701137" y="1188720"/>
            <a:ext cx="534009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En Diseño</a:t>
            </a:r>
          </a:p>
        </p:txBody>
      </p:sp>
      <p:sp>
        <p:nvSpPr>
          <p:cNvPr id="108" name="K2"/>
          <p:cNvSpPr/>
          <p:nvPr/>
        </p:nvSpPr>
        <p:spPr>
          <a:xfrm>
            <a:off x="3436314" y="1188720"/>
            <a:ext cx="1356969" cy="5943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9" name="Kbar2"/>
          <p:cNvSpPr/>
          <p:nvPr/>
        </p:nvSpPr>
        <p:spPr>
          <a:xfrm>
            <a:off x="3436314" y="1188720"/>
            <a:ext cx="54864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0" name="Kbig2"/>
          <p:cNvSpPr/>
          <p:nvPr/>
        </p:nvSpPr>
        <p:spPr>
          <a:xfrm>
            <a:off x="3573474" y="1188720"/>
            <a:ext cx="594360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2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1" name="Klbl2"/>
          <p:cNvSpPr/>
          <p:nvPr/>
        </p:nvSpPr>
        <p:spPr>
          <a:xfrm>
            <a:off x="4167834" y="1188720"/>
            <a:ext cx="534009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UAT</a:t>
            </a:r>
          </a:p>
        </p:txBody>
      </p:sp>
      <p:sp>
        <p:nvSpPr>
          <p:cNvPr id="112" name="K3"/>
          <p:cNvSpPr/>
          <p:nvPr/>
        </p:nvSpPr>
        <p:spPr>
          <a:xfrm>
            <a:off x="4903011" y="1188720"/>
            <a:ext cx="1356969" cy="5943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0369A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3" name="Kbar3"/>
          <p:cNvSpPr/>
          <p:nvPr/>
        </p:nvSpPr>
        <p:spPr>
          <a:xfrm>
            <a:off x="4903011" y="1188720"/>
            <a:ext cx="54864" cy="59436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4" name="Kbig3"/>
          <p:cNvSpPr/>
          <p:nvPr/>
        </p:nvSpPr>
        <p:spPr>
          <a:xfrm>
            <a:off x="5040171" y="1188720"/>
            <a:ext cx="594360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200" b="1" dirty="0">
                <a:solidFill>
                  <a:srgbClr val="0369A1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5" name="Klbl3"/>
          <p:cNvSpPr/>
          <p:nvPr/>
        </p:nvSpPr>
        <p:spPr>
          <a:xfrm>
            <a:off x="5634531" y="1188720"/>
            <a:ext cx="534009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En Análisis</a:t>
            </a:r>
          </a:p>
        </p:txBody>
      </p:sp>
      <p:sp>
        <p:nvSpPr>
          <p:cNvPr id="116" name="K4"/>
          <p:cNvSpPr/>
          <p:nvPr/>
        </p:nvSpPr>
        <p:spPr>
          <a:xfrm>
            <a:off x="6369708" y="1188720"/>
            <a:ext cx="1356969" cy="5943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EC4899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17" name="Kbar4"/>
          <p:cNvSpPr/>
          <p:nvPr/>
        </p:nvSpPr>
        <p:spPr>
          <a:xfrm>
            <a:off x="6369708" y="1188720"/>
            <a:ext cx="54864" cy="5943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8" name="Kbig4"/>
          <p:cNvSpPr/>
          <p:nvPr/>
        </p:nvSpPr>
        <p:spPr>
          <a:xfrm>
            <a:off x="6506868" y="1188720"/>
            <a:ext cx="594360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2200" b="1" dirty="0">
                <a:solidFill>
                  <a:srgbClr val="EC48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9" name="Klbl4"/>
          <p:cNvSpPr/>
          <p:nvPr/>
        </p:nvSpPr>
        <p:spPr>
          <a:xfrm>
            <a:off x="7101228" y="1188720"/>
            <a:ext cx="534009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9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Regres.</a:t>
            </a:r>
          </a:p>
        </p:txBody>
      </p:sp>
      <p:sp>
        <p:nvSpPr>
          <p:cNvPr id="120" name="HdrBg"/>
          <p:cNvSpPr/>
          <p:nvPr/>
        </p:nvSpPr>
        <p:spPr>
          <a:xfrm>
            <a:off x="502920" y="1920240"/>
            <a:ext cx="7223760" cy="27432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1" name="H1"/>
          <p:cNvSpPr/>
          <p:nvPr/>
        </p:nvSpPr>
        <p:spPr>
          <a:xfrm>
            <a:off x="5943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HU</a:t>
            </a:r>
          </a:p>
        </p:txBody>
      </p:sp>
      <p:sp>
        <p:nvSpPr>
          <p:cNvPr id="122" name="H2"/>
          <p:cNvSpPr/>
          <p:nvPr/>
        </p:nvSpPr>
        <p:spPr>
          <a:xfrm>
            <a:off x="13258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DESCRIPCIÓN</a:t>
            </a:r>
          </a:p>
        </p:txBody>
      </p:sp>
      <p:sp>
        <p:nvSpPr>
          <p:cNvPr id="123" name="H3"/>
          <p:cNvSpPr/>
          <p:nvPr/>
        </p:nvSpPr>
        <p:spPr>
          <a:xfrm>
            <a:off x="3794760" y="1920240"/>
            <a:ext cx="123444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INICIATIVA</a:t>
            </a:r>
          </a:p>
        </p:txBody>
      </p:sp>
      <p:sp>
        <p:nvSpPr>
          <p:cNvPr id="124" name="H4"/>
          <p:cNvSpPr/>
          <p:nvPr/>
        </p:nvSpPr>
        <p:spPr>
          <a:xfrm>
            <a:off x="5029200" y="1920240"/>
            <a:ext cx="123444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125" name="H5"/>
          <p:cNvSpPr/>
          <p:nvPr/>
        </p:nvSpPr>
        <p:spPr>
          <a:xfrm>
            <a:off x="6263640" y="1920240"/>
            <a:ext cx="50292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DIS.</a:t>
            </a:r>
          </a:p>
        </p:txBody>
      </p:sp>
      <p:sp>
        <p:nvSpPr>
          <p:cNvPr id="126" name="H6"/>
          <p:cNvSpPr/>
          <p:nvPr/>
        </p:nvSpPr>
        <p:spPr>
          <a:xfrm>
            <a:off x="6766560" y="1920240"/>
            <a:ext cx="50292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EJE.</a:t>
            </a:r>
          </a:p>
        </p:txBody>
      </p:sp>
      <p:sp>
        <p:nvSpPr>
          <p:cNvPr id="127" name="H7"/>
          <p:cNvSpPr/>
          <p:nvPr/>
        </p:nvSpPr>
        <p:spPr>
          <a:xfrm>
            <a:off x="7269480" y="1920240"/>
            <a:ext cx="4572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CICLO</a:t>
            </a:r>
          </a:p>
        </p:txBody>
      </p:sp>
      <p:sp>
        <p:nvSpPr>
          <p:cNvPr id="128" name="Row0bg"/>
          <p:cNvSpPr/>
          <p:nvPr/>
        </p:nvSpPr>
        <p:spPr>
          <a:xfrm>
            <a:off x="502920" y="2194560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9" name="Hid0"/>
          <p:cNvSpPr/>
          <p:nvPr/>
        </p:nvSpPr>
        <p:spPr>
          <a:xfrm>
            <a:off x="594360" y="2194560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#12720</a:t>
            </a:r>
          </a:p>
        </p:txBody>
      </p:sp>
      <p:sp>
        <p:nvSpPr>
          <p:cNvPr id="130" name="Hd0"/>
          <p:cNvSpPr/>
          <p:nvPr/>
        </p:nvSpPr>
        <p:spPr>
          <a:xfrm>
            <a:off x="1325880" y="2194560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Cupos Compartidos (Ciclo 4)</a:t>
            </a:r>
          </a:p>
        </p:txBody>
      </p:sp>
      <p:sp>
        <p:nvSpPr>
          <p:cNvPr id="131" name="Hi0"/>
          <p:cNvSpPr/>
          <p:nvPr/>
        </p:nvSpPr>
        <p:spPr>
          <a:xfrm>
            <a:off x="3794760" y="2194560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32" name="He0"/>
          <p:cNvSpPr/>
          <p:nvPr/>
        </p:nvSpPr>
        <p:spPr>
          <a:xfrm>
            <a:off x="5029200" y="2194560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Dev a Desarrollo</a:t>
            </a:r>
          </a:p>
        </p:txBody>
      </p:sp>
      <p:sp>
        <p:nvSpPr>
          <p:cNvPr id="133" name="Hd20"/>
          <p:cNvSpPr/>
          <p:nvPr/>
        </p:nvSpPr>
        <p:spPr>
          <a:xfrm>
            <a:off x="6263640" y="2194560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34" name="He20"/>
          <p:cNvSpPr/>
          <p:nvPr/>
        </p:nvSpPr>
        <p:spPr>
          <a:xfrm>
            <a:off x="6766560" y="2194560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5" name="Hcy0"/>
          <p:cNvSpPr/>
          <p:nvPr/>
        </p:nvSpPr>
        <p:spPr>
          <a:xfrm>
            <a:off x="7269480" y="2194560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EC4899"/>
                </a:solidFill>
                <a:latin typeface="Arial"/>
                <a:ea typeface="Arial"/>
                <a:cs typeface="Arial"/>
              </a:rPr>
              <a:t>C4</a:t>
            </a:r>
          </a:p>
        </p:txBody>
      </p:sp>
      <p:sp>
        <p:nvSpPr>
          <p:cNvPr id="136" name="Row1bg"/>
          <p:cNvSpPr/>
          <p:nvPr/>
        </p:nvSpPr>
        <p:spPr>
          <a:xfrm>
            <a:off x="502920" y="2327148"/>
            <a:ext cx="7223760" cy="1325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7" name="Hid1"/>
          <p:cNvSpPr/>
          <p:nvPr/>
        </p:nvSpPr>
        <p:spPr>
          <a:xfrm>
            <a:off x="594360" y="2327148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#13571</a:t>
            </a:r>
          </a:p>
        </p:txBody>
      </p:sp>
      <p:sp>
        <p:nvSpPr>
          <p:cNvPr id="138" name="Hd1"/>
          <p:cNvSpPr/>
          <p:nvPr/>
        </p:nvSpPr>
        <p:spPr>
          <a:xfrm>
            <a:off x="1325880" y="2327148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Endpoint /CargaAcademicaAlumno</a:t>
            </a:r>
          </a:p>
        </p:txBody>
      </p:sp>
      <p:sp>
        <p:nvSpPr>
          <p:cNvPr id="139" name="Hi1"/>
          <p:cNvSpPr/>
          <p:nvPr/>
        </p:nvSpPr>
        <p:spPr>
          <a:xfrm>
            <a:off x="3794760" y="2327148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40" name="He1"/>
          <p:cNvSpPr/>
          <p:nvPr/>
        </p:nvSpPr>
        <p:spPr>
          <a:xfrm>
            <a:off x="5029200" y="2327148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En Diseño</a:t>
            </a:r>
          </a:p>
        </p:txBody>
      </p:sp>
      <p:sp>
        <p:nvSpPr>
          <p:cNvPr id="141" name="Hd21"/>
          <p:cNvSpPr/>
          <p:nvPr/>
        </p:nvSpPr>
        <p:spPr>
          <a:xfrm>
            <a:off x="6263640" y="2327148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2" name="He21"/>
          <p:cNvSpPr/>
          <p:nvPr/>
        </p:nvSpPr>
        <p:spPr>
          <a:xfrm>
            <a:off x="6766560" y="2327148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43" name="Hcy1"/>
          <p:cNvSpPr/>
          <p:nvPr/>
        </p:nvSpPr>
        <p:spPr>
          <a:xfrm>
            <a:off x="7269480" y="2327148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144" name="Row2bg"/>
          <p:cNvSpPr/>
          <p:nvPr/>
        </p:nvSpPr>
        <p:spPr>
          <a:xfrm>
            <a:off x="502920" y="2459736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5" name="Hid2"/>
          <p:cNvSpPr/>
          <p:nvPr/>
        </p:nvSpPr>
        <p:spPr>
          <a:xfrm>
            <a:off x="594360" y="2459736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#14593</a:t>
            </a:r>
          </a:p>
        </p:txBody>
      </p:sp>
      <p:sp>
        <p:nvSpPr>
          <p:cNvPr id="146" name="Hd2"/>
          <p:cNvSpPr/>
          <p:nvPr/>
        </p:nvSpPr>
        <p:spPr>
          <a:xfrm>
            <a:off x="1325880" y="2459736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Habilitar unidad que imparte</a:t>
            </a:r>
          </a:p>
        </p:txBody>
      </p:sp>
      <p:sp>
        <p:nvSpPr>
          <p:cNvPr id="147" name="Hi2"/>
          <p:cNvSpPr/>
          <p:nvPr/>
        </p:nvSpPr>
        <p:spPr>
          <a:xfrm>
            <a:off x="3794760" y="2459736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48" name="He2"/>
          <p:cNvSpPr/>
          <p:nvPr/>
        </p:nvSpPr>
        <p:spPr>
          <a:xfrm>
            <a:off x="5029200" y="2459736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Esperando Amb.</a:t>
            </a:r>
          </a:p>
        </p:txBody>
      </p:sp>
      <p:sp>
        <p:nvSpPr>
          <p:cNvPr id="149" name="Hd22"/>
          <p:cNvSpPr/>
          <p:nvPr/>
        </p:nvSpPr>
        <p:spPr>
          <a:xfrm>
            <a:off x="6263640" y="2459736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50" name="He22"/>
          <p:cNvSpPr/>
          <p:nvPr/>
        </p:nvSpPr>
        <p:spPr>
          <a:xfrm>
            <a:off x="6766560" y="2459736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51" name="Hcy2"/>
          <p:cNvSpPr/>
          <p:nvPr/>
        </p:nvSpPr>
        <p:spPr>
          <a:xfrm>
            <a:off x="7269480" y="2459736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152" name="Row3bg"/>
          <p:cNvSpPr/>
          <p:nvPr/>
        </p:nvSpPr>
        <p:spPr>
          <a:xfrm>
            <a:off x="502920" y="2592324"/>
            <a:ext cx="7223760" cy="1325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3" name="Hid3"/>
          <p:cNvSpPr/>
          <p:nvPr/>
        </p:nvSpPr>
        <p:spPr>
          <a:xfrm>
            <a:off x="594360" y="2592324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#14587</a:t>
            </a:r>
          </a:p>
        </p:txBody>
      </p:sp>
      <p:sp>
        <p:nvSpPr>
          <p:cNvPr id="154" name="Hd3"/>
          <p:cNvSpPr/>
          <p:nvPr/>
        </p:nvSpPr>
        <p:spPr>
          <a:xfrm>
            <a:off x="1325880" y="2592324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Procesos Programados Certificaciones</a:t>
            </a:r>
          </a:p>
        </p:txBody>
      </p:sp>
      <p:sp>
        <p:nvSpPr>
          <p:cNvPr id="155" name="Hi3"/>
          <p:cNvSpPr/>
          <p:nvPr/>
        </p:nvSpPr>
        <p:spPr>
          <a:xfrm>
            <a:off x="3794760" y="2592324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56" name="He3"/>
          <p:cNvSpPr/>
          <p:nvPr/>
        </p:nvSpPr>
        <p:spPr>
          <a:xfrm>
            <a:off x="5029200" y="2592324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En Diseño</a:t>
            </a:r>
          </a:p>
        </p:txBody>
      </p:sp>
      <p:sp>
        <p:nvSpPr>
          <p:cNvPr id="157" name="Hd23"/>
          <p:cNvSpPr/>
          <p:nvPr/>
        </p:nvSpPr>
        <p:spPr>
          <a:xfrm>
            <a:off x="6263640" y="2592324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58" name="He23"/>
          <p:cNvSpPr/>
          <p:nvPr/>
        </p:nvSpPr>
        <p:spPr>
          <a:xfrm>
            <a:off x="6766560" y="2592324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59" name="Hcy3"/>
          <p:cNvSpPr/>
          <p:nvPr/>
        </p:nvSpPr>
        <p:spPr>
          <a:xfrm>
            <a:off x="7269480" y="2592324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160" name="Row4bg"/>
          <p:cNvSpPr/>
          <p:nvPr/>
        </p:nvSpPr>
        <p:spPr>
          <a:xfrm>
            <a:off x="502920" y="2724912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1" name="Hid4"/>
          <p:cNvSpPr/>
          <p:nvPr/>
        </p:nvSpPr>
        <p:spPr>
          <a:xfrm>
            <a:off x="594360" y="2724912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#14594</a:t>
            </a:r>
          </a:p>
        </p:txBody>
      </p:sp>
      <p:sp>
        <p:nvSpPr>
          <p:cNvPr id="162" name="Hd4"/>
          <p:cNvSpPr/>
          <p:nvPr/>
        </p:nvSpPr>
        <p:spPr>
          <a:xfrm>
            <a:off x="1325880" y="2724912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Vigencia de certificaciones</a:t>
            </a:r>
          </a:p>
        </p:txBody>
      </p:sp>
      <p:sp>
        <p:nvSpPr>
          <p:cNvPr id="163" name="Hi4"/>
          <p:cNvSpPr/>
          <p:nvPr/>
        </p:nvSpPr>
        <p:spPr>
          <a:xfrm>
            <a:off x="3794760" y="2724912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Trayectorias</a:t>
            </a:r>
          </a:p>
        </p:txBody>
      </p:sp>
      <p:sp>
        <p:nvSpPr>
          <p:cNvPr id="164" name="He4"/>
          <p:cNvSpPr/>
          <p:nvPr/>
        </p:nvSpPr>
        <p:spPr>
          <a:xfrm>
            <a:off x="5029200" y="2724912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Esperando Amb.</a:t>
            </a:r>
          </a:p>
        </p:txBody>
      </p:sp>
      <p:sp>
        <p:nvSpPr>
          <p:cNvPr id="165" name="Hd24"/>
          <p:cNvSpPr/>
          <p:nvPr/>
        </p:nvSpPr>
        <p:spPr>
          <a:xfrm>
            <a:off x="6263640" y="2724912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66" name="He24"/>
          <p:cNvSpPr/>
          <p:nvPr/>
        </p:nvSpPr>
        <p:spPr>
          <a:xfrm>
            <a:off x="6766560" y="2724912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67" name="Hcy4"/>
          <p:cNvSpPr/>
          <p:nvPr/>
        </p:nvSpPr>
        <p:spPr>
          <a:xfrm>
            <a:off x="7269480" y="2724912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168" name="Row5bg"/>
          <p:cNvSpPr/>
          <p:nvPr/>
        </p:nvSpPr>
        <p:spPr>
          <a:xfrm>
            <a:off x="502920" y="2857500"/>
            <a:ext cx="7223760" cy="1325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9" name="Hid5"/>
          <p:cNvSpPr/>
          <p:nvPr/>
        </p:nvSpPr>
        <p:spPr>
          <a:xfrm>
            <a:off x="594360" y="2857500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COIL</a:t>
            </a:r>
          </a:p>
        </p:txBody>
      </p:sp>
      <p:sp>
        <p:nvSpPr>
          <p:cNvPr id="170" name="Hd5"/>
          <p:cNvSpPr/>
          <p:nvPr/>
        </p:nvSpPr>
        <p:spPr>
          <a:xfrm>
            <a:off x="1325880" y="2857500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Coil - Diseño inicial</a:t>
            </a:r>
          </a:p>
        </p:txBody>
      </p:sp>
      <p:sp>
        <p:nvSpPr>
          <p:cNvPr id="171" name="Hi5"/>
          <p:cNvSpPr/>
          <p:nvPr/>
        </p:nvSpPr>
        <p:spPr>
          <a:xfrm>
            <a:off x="3794760" y="2857500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COIL</a:t>
            </a:r>
          </a:p>
        </p:txBody>
      </p:sp>
      <p:sp>
        <p:nvSpPr>
          <p:cNvPr id="172" name="He5"/>
          <p:cNvSpPr/>
          <p:nvPr/>
        </p:nvSpPr>
        <p:spPr>
          <a:xfrm>
            <a:off x="5029200" y="2857500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Diseño</a:t>
            </a:r>
          </a:p>
        </p:txBody>
      </p:sp>
      <p:sp>
        <p:nvSpPr>
          <p:cNvPr id="173" name="Hd25"/>
          <p:cNvSpPr/>
          <p:nvPr/>
        </p:nvSpPr>
        <p:spPr>
          <a:xfrm>
            <a:off x="6263640" y="2857500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74" name="He25"/>
          <p:cNvSpPr/>
          <p:nvPr/>
        </p:nvSpPr>
        <p:spPr>
          <a:xfrm>
            <a:off x="6766560" y="2857500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75" name="Hcy5"/>
          <p:cNvSpPr/>
          <p:nvPr/>
        </p:nvSpPr>
        <p:spPr>
          <a:xfrm>
            <a:off x="7269480" y="2857500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176" name="Row6bg"/>
          <p:cNvSpPr/>
          <p:nvPr/>
        </p:nvSpPr>
        <p:spPr>
          <a:xfrm>
            <a:off x="502920" y="2990088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7" name="Hid6"/>
          <p:cNvSpPr/>
          <p:nvPr/>
        </p:nvSpPr>
        <p:spPr>
          <a:xfrm>
            <a:off x="594360" y="2990088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HU-CE</a:t>
            </a:r>
          </a:p>
        </p:txBody>
      </p:sp>
      <p:sp>
        <p:nvSpPr>
          <p:cNvPr id="178" name="Hd6"/>
          <p:cNvSpPr/>
          <p:nvPr/>
        </p:nvSpPr>
        <p:spPr>
          <a:xfrm>
            <a:off x="1325880" y="2990088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Procesamiento Certificaciones</a:t>
            </a:r>
          </a:p>
        </p:txBody>
      </p:sp>
      <p:sp>
        <p:nvSpPr>
          <p:cNvPr id="179" name="Hi6"/>
          <p:cNvSpPr/>
          <p:nvPr/>
        </p:nvSpPr>
        <p:spPr>
          <a:xfrm>
            <a:off x="3794760" y="2990088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Certificaciones</a:t>
            </a:r>
          </a:p>
        </p:txBody>
      </p:sp>
      <p:sp>
        <p:nvSpPr>
          <p:cNvPr id="180" name="He6"/>
          <p:cNvSpPr/>
          <p:nvPr/>
        </p:nvSpPr>
        <p:spPr>
          <a:xfrm>
            <a:off x="5029200" y="2990088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UAT</a:t>
            </a:r>
          </a:p>
        </p:txBody>
      </p:sp>
      <p:sp>
        <p:nvSpPr>
          <p:cNvPr id="181" name="Hd26"/>
          <p:cNvSpPr/>
          <p:nvPr/>
        </p:nvSpPr>
        <p:spPr>
          <a:xfrm>
            <a:off x="6263640" y="2990088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82" name="He26"/>
          <p:cNvSpPr/>
          <p:nvPr/>
        </p:nvSpPr>
        <p:spPr>
          <a:xfrm>
            <a:off x="6766560" y="2990088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83" name="Hcy6"/>
          <p:cNvSpPr/>
          <p:nvPr/>
        </p:nvSpPr>
        <p:spPr>
          <a:xfrm>
            <a:off x="7269480" y="2990088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184" name="Row7bg"/>
          <p:cNvSpPr/>
          <p:nvPr/>
        </p:nvSpPr>
        <p:spPr>
          <a:xfrm>
            <a:off x="502920" y="3122676"/>
            <a:ext cx="7223760" cy="1325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5" name="Hid7"/>
          <p:cNvSpPr/>
          <p:nvPr/>
        </p:nvSpPr>
        <p:spPr>
          <a:xfrm>
            <a:off x="594360" y="3122676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#18213</a:t>
            </a:r>
          </a:p>
        </p:txBody>
      </p:sp>
      <p:sp>
        <p:nvSpPr>
          <p:cNvPr id="186" name="Hd7"/>
          <p:cNvSpPr/>
          <p:nvPr/>
        </p:nvSpPr>
        <p:spPr>
          <a:xfrm>
            <a:off x="1325880" y="3122676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Nueva columna buscador fecha resolución</a:t>
            </a:r>
          </a:p>
        </p:txBody>
      </p:sp>
      <p:sp>
        <p:nvSpPr>
          <p:cNvPr id="187" name="Hi7"/>
          <p:cNvSpPr/>
          <p:nvPr/>
        </p:nvSpPr>
        <p:spPr>
          <a:xfrm>
            <a:off x="3794760" y="3122676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188" name="He7"/>
          <p:cNvSpPr/>
          <p:nvPr/>
        </p:nvSpPr>
        <p:spPr>
          <a:xfrm>
            <a:off x="5029200" y="3122676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0369A1"/>
                </a:solidFill>
                <a:latin typeface="Arial"/>
                <a:ea typeface="Arial"/>
                <a:cs typeface="Arial"/>
              </a:rPr>
              <a:t>En Análisis</a:t>
            </a:r>
          </a:p>
        </p:txBody>
      </p:sp>
      <p:sp>
        <p:nvSpPr>
          <p:cNvPr id="189" name="Hd27"/>
          <p:cNvSpPr/>
          <p:nvPr/>
        </p:nvSpPr>
        <p:spPr>
          <a:xfrm>
            <a:off x="6263640" y="3122676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90" name="He27"/>
          <p:cNvSpPr/>
          <p:nvPr/>
        </p:nvSpPr>
        <p:spPr>
          <a:xfrm>
            <a:off x="6766560" y="3122676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91" name="Hcy7"/>
          <p:cNvSpPr/>
          <p:nvPr/>
        </p:nvSpPr>
        <p:spPr>
          <a:xfrm>
            <a:off x="7269480" y="3122676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192" name="Row8bg"/>
          <p:cNvSpPr/>
          <p:nvPr/>
        </p:nvSpPr>
        <p:spPr>
          <a:xfrm>
            <a:off x="502920" y="3255264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3" name="Hid8"/>
          <p:cNvSpPr/>
          <p:nvPr/>
        </p:nvSpPr>
        <p:spPr>
          <a:xfrm>
            <a:off x="594360" y="3255264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#14812</a:t>
            </a:r>
          </a:p>
        </p:txBody>
      </p:sp>
      <p:sp>
        <p:nvSpPr>
          <p:cNvPr id="194" name="Hd8"/>
          <p:cNvSpPr/>
          <p:nvPr/>
        </p:nvSpPr>
        <p:spPr>
          <a:xfrm>
            <a:off x="1325880" y="3255264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URLS visualización informes con token</a:t>
            </a:r>
          </a:p>
        </p:txBody>
      </p:sp>
      <p:sp>
        <p:nvSpPr>
          <p:cNvPr id="195" name="Hi8"/>
          <p:cNvSpPr/>
          <p:nvPr/>
        </p:nvSpPr>
        <p:spPr>
          <a:xfrm>
            <a:off x="3794760" y="3255264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196" name="He8"/>
          <p:cNvSpPr/>
          <p:nvPr/>
        </p:nvSpPr>
        <p:spPr>
          <a:xfrm>
            <a:off x="5029200" y="3255264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UAT</a:t>
            </a:r>
          </a:p>
        </p:txBody>
      </p:sp>
      <p:sp>
        <p:nvSpPr>
          <p:cNvPr id="197" name="Hd28"/>
          <p:cNvSpPr/>
          <p:nvPr/>
        </p:nvSpPr>
        <p:spPr>
          <a:xfrm>
            <a:off x="6263640" y="3255264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98" name="He28"/>
          <p:cNvSpPr/>
          <p:nvPr/>
        </p:nvSpPr>
        <p:spPr>
          <a:xfrm>
            <a:off x="6766560" y="3255264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99" name="Hcy8"/>
          <p:cNvSpPr/>
          <p:nvPr/>
        </p:nvSpPr>
        <p:spPr>
          <a:xfrm>
            <a:off x="7269480" y="3255264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00" name="Row9bg"/>
          <p:cNvSpPr/>
          <p:nvPr/>
        </p:nvSpPr>
        <p:spPr>
          <a:xfrm>
            <a:off x="502920" y="3387852"/>
            <a:ext cx="7223760" cy="1325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1" name="Hid9"/>
          <p:cNvSpPr/>
          <p:nvPr/>
        </p:nvSpPr>
        <p:spPr>
          <a:xfrm>
            <a:off x="594360" y="3387852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#14811</a:t>
            </a:r>
          </a:p>
        </p:txBody>
      </p:sp>
      <p:sp>
        <p:nvSpPr>
          <p:cNvPr id="202" name="Hd9"/>
          <p:cNvSpPr/>
          <p:nvPr/>
        </p:nvSpPr>
        <p:spPr>
          <a:xfrm>
            <a:off x="1325880" y="3387852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Filtrar solicitudes por rol</a:t>
            </a:r>
          </a:p>
        </p:txBody>
      </p:sp>
      <p:sp>
        <p:nvSpPr>
          <p:cNvPr id="203" name="Hi9"/>
          <p:cNvSpPr/>
          <p:nvPr/>
        </p:nvSpPr>
        <p:spPr>
          <a:xfrm>
            <a:off x="3794760" y="3387852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204" name="He9"/>
          <p:cNvSpPr/>
          <p:nvPr/>
        </p:nvSpPr>
        <p:spPr>
          <a:xfrm>
            <a:off x="5029200" y="3387852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UAT</a:t>
            </a:r>
          </a:p>
        </p:txBody>
      </p:sp>
      <p:sp>
        <p:nvSpPr>
          <p:cNvPr id="205" name="Hd29"/>
          <p:cNvSpPr/>
          <p:nvPr/>
        </p:nvSpPr>
        <p:spPr>
          <a:xfrm>
            <a:off x="6263640" y="3387852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06" name="He29"/>
          <p:cNvSpPr/>
          <p:nvPr/>
        </p:nvSpPr>
        <p:spPr>
          <a:xfrm>
            <a:off x="6766560" y="3387852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07" name="Hcy9"/>
          <p:cNvSpPr/>
          <p:nvPr/>
        </p:nvSpPr>
        <p:spPr>
          <a:xfrm>
            <a:off x="7269480" y="3387852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08" name="Row10bg"/>
          <p:cNvSpPr/>
          <p:nvPr/>
        </p:nvSpPr>
        <p:spPr>
          <a:xfrm>
            <a:off x="502920" y="3520440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9" name="Hid10"/>
          <p:cNvSpPr/>
          <p:nvPr/>
        </p:nvSpPr>
        <p:spPr>
          <a:xfrm>
            <a:off x="594360" y="3520440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#18925</a:t>
            </a:r>
          </a:p>
        </p:txBody>
      </p:sp>
      <p:sp>
        <p:nvSpPr>
          <p:cNvPr id="210" name="Hd10"/>
          <p:cNvSpPr/>
          <p:nvPr/>
        </p:nvSpPr>
        <p:spPr>
          <a:xfrm>
            <a:off x="1325880" y="3520440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Generación PDF con alerta archivos</a:t>
            </a:r>
          </a:p>
        </p:txBody>
      </p:sp>
      <p:sp>
        <p:nvSpPr>
          <p:cNvPr id="211" name="Hi10"/>
          <p:cNvSpPr/>
          <p:nvPr/>
        </p:nvSpPr>
        <p:spPr>
          <a:xfrm>
            <a:off x="3794760" y="3520440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212" name="He10"/>
          <p:cNvSpPr/>
          <p:nvPr/>
        </p:nvSpPr>
        <p:spPr>
          <a:xfrm>
            <a:off x="5029200" y="3520440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0369A1"/>
                </a:solidFill>
                <a:latin typeface="Arial"/>
                <a:ea typeface="Arial"/>
                <a:cs typeface="Arial"/>
              </a:rPr>
              <a:t>En Análisis</a:t>
            </a:r>
          </a:p>
        </p:txBody>
      </p:sp>
      <p:sp>
        <p:nvSpPr>
          <p:cNvPr id="213" name="Hd210"/>
          <p:cNvSpPr/>
          <p:nvPr/>
        </p:nvSpPr>
        <p:spPr>
          <a:xfrm>
            <a:off x="6263640" y="3520440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14" name="He210"/>
          <p:cNvSpPr/>
          <p:nvPr/>
        </p:nvSpPr>
        <p:spPr>
          <a:xfrm>
            <a:off x="6766560" y="3520440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15" name="Hcy10"/>
          <p:cNvSpPr/>
          <p:nvPr/>
        </p:nvSpPr>
        <p:spPr>
          <a:xfrm>
            <a:off x="7269480" y="3520440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16" name="Row11bg"/>
          <p:cNvSpPr/>
          <p:nvPr/>
        </p:nvSpPr>
        <p:spPr>
          <a:xfrm>
            <a:off x="502920" y="3653028"/>
            <a:ext cx="7223760" cy="1325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7" name="Hid11"/>
          <p:cNvSpPr/>
          <p:nvPr/>
        </p:nvSpPr>
        <p:spPr>
          <a:xfrm>
            <a:off x="594360" y="3653028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#14244</a:t>
            </a:r>
          </a:p>
        </p:txBody>
      </p:sp>
      <p:sp>
        <p:nvSpPr>
          <p:cNvPr id="218" name="Hd11"/>
          <p:cNvSpPr/>
          <p:nvPr/>
        </p:nvSpPr>
        <p:spPr>
          <a:xfrm>
            <a:off x="1325880" y="3653028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Flujo dos pasos no termina solicitud</a:t>
            </a:r>
          </a:p>
        </p:txBody>
      </p:sp>
      <p:sp>
        <p:nvSpPr>
          <p:cNvPr id="219" name="Hi11"/>
          <p:cNvSpPr/>
          <p:nvPr/>
        </p:nvSpPr>
        <p:spPr>
          <a:xfrm>
            <a:off x="3794760" y="3653028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Tracking</a:t>
            </a:r>
          </a:p>
        </p:txBody>
      </p:sp>
      <p:sp>
        <p:nvSpPr>
          <p:cNvPr id="220" name="He11"/>
          <p:cNvSpPr/>
          <p:nvPr/>
        </p:nvSpPr>
        <p:spPr>
          <a:xfrm>
            <a:off x="5029200" y="3653028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0369A1"/>
                </a:solidFill>
                <a:latin typeface="Arial"/>
                <a:ea typeface="Arial"/>
                <a:cs typeface="Arial"/>
              </a:rPr>
              <a:t>En Análisis</a:t>
            </a:r>
          </a:p>
        </p:txBody>
      </p:sp>
      <p:sp>
        <p:nvSpPr>
          <p:cNvPr id="221" name="Hd211"/>
          <p:cNvSpPr/>
          <p:nvPr/>
        </p:nvSpPr>
        <p:spPr>
          <a:xfrm>
            <a:off x="6263640" y="3653028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22" name="He211"/>
          <p:cNvSpPr/>
          <p:nvPr/>
        </p:nvSpPr>
        <p:spPr>
          <a:xfrm>
            <a:off x="6766560" y="3653028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23" name="Hcy11"/>
          <p:cNvSpPr/>
          <p:nvPr/>
        </p:nvSpPr>
        <p:spPr>
          <a:xfrm>
            <a:off x="7269480" y="3653028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24" name="Row12bg"/>
          <p:cNvSpPr/>
          <p:nvPr/>
        </p:nvSpPr>
        <p:spPr>
          <a:xfrm>
            <a:off x="502920" y="3785616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5" name="Hid12"/>
          <p:cNvSpPr/>
          <p:nvPr/>
        </p:nvSpPr>
        <p:spPr>
          <a:xfrm>
            <a:off x="594360" y="3785616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#18184</a:t>
            </a:r>
          </a:p>
        </p:txBody>
      </p:sp>
      <p:sp>
        <p:nvSpPr>
          <p:cNvPr id="226" name="Hd12"/>
          <p:cNvSpPr/>
          <p:nvPr/>
        </p:nvSpPr>
        <p:spPr>
          <a:xfrm>
            <a:off x="1325880" y="3785616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Funcionamiento sistema REF y BD</a:t>
            </a:r>
          </a:p>
        </p:txBody>
      </p:sp>
      <p:sp>
        <p:nvSpPr>
          <p:cNvPr id="227" name="Hi12"/>
          <p:cNvSpPr/>
          <p:nvPr/>
        </p:nvSpPr>
        <p:spPr>
          <a:xfrm>
            <a:off x="3794760" y="3785616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Migración</a:t>
            </a:r>
          </a:p>
        </p:txBody>
      </p:sp>
      <p:sp>
        <p:nvSpPr>
          <p:cNvPr id="228" name="He12"/>
          <p:cNvSpPr/>
          <p:nvPr/>
        </p:nvSpPr>
        <p:spPr>
          <a:xfrm>
            <a:off x="5029200" y="3785616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En Diseño</a:t>
            </a:r>
          </a:p>
        </p:txBody>
      </p:sp>
      <p:sp>
        <p:nvSpPr>
          <p:cNvPr id="229" name="Hd212"/>
          <p:cNvSpPr/>
          <p:nvPr/>
        </p:nvSpPr>
        <p:spPr>
          <a:xfrm>
            <a:off x="6263640" y="3785616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30" name="He212"/>
          <p:cNvSpPr/>
          <p:nvPr/>
        </p:nvSpPr>
        <p:spPr>
          <a:xfrm>
            <a:off x="6766560" y="3785616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31" name="Hcy12"/>
          <p:cNvSpPr/>
          <p:nvPr/>
        </p:nvSpPr>
        <p:spPr>
          <a:xfrm>
            <a:off x="7269480" y="3785616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32" name="Row13bg"/>
          <p:cNvSpPr/>
          <p:nvPr/>
        </p:nvSpPr>
        <p:spPr>
          <a:xfrm>
            <a:off x="502920" y="3918204"/>
            <a:ext cx="7223760" cy="1325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3" name="Hid13"/>
          <p:cNvSpPr/>
          <p:nvPr/>
        </p:nvSpPr>
        <p:spPr>
          <a:xfrm>
            <a:off x="594360" y="3918204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RM01</a:t>
            </a:r>
          </a:p>
        </p:txBody>
      </p:sp>
      <p:sp>
        <p:nvSpPr>
          <p:cNvPr id="234" name="Hd13"/>
          <p:cNvSpPr/>
          <p:nvPr/>
        </p:nvSpPr>
        <p:spPr>
          <a:xfrm>
            <a:off x="1325880" y="3918204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Contexto inicial parametrización</a:t>
            </a:r>
          </a:p>
        </p:txBody>
      </p:sp>
      <p:sp>
        <p:nvSpPr>
          <p:cNvPr id="235" name="Hi13"/>
          <p:cNvSpPr/>
          <p:nvPr/>
        </p:nvSpPr>
        <p:spPr>
          <a:xfrm>
            <a:off x="3794760" y="3918204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Sist. Notas</a:t>
            </a:r>
          </a:p>
        </p:txBody>
      </p:sp>
      <p:sp>
        <p:nvSpPr>
          <p:cNvPr id="236" name="He13"/>
          <p:cNvSpPr/>
          <p:nvPr/>
        </p:nvSpPr>
        <p:spPr>
          <a:xfrm>
            <a:off x="5029200" y="3918204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En Diseño</a:t>
            </a:r>
          </a:p>
        </p:txBody>
      </p:sp>
      <p:sp>
        <p:nvSpPr>
          <p:cNvPr id="237" name="Hd213"/>
          <p:cNvSpPr/>
          <p:nvPr/>
        </p:nvSpPr>
        <p:spPr>
          <a:xfrm>
            <a:off x="6263640" y="3918204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38" name="He213"/>
          <p:cNvSpPr/>
          <p:nvPr/>
        </p:nvSpPr>
        <p:spPr>
          <a:xfrm>
            <a:off x="6766560" y="3918204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39" name="Hcy13"/>
          <p:cNvSpPr/>
          <p:nvPr/>
        </p:nvSpPr>
        <p:spPr>
          <a:xfrm>
            <a:off x="7269480" y="3918204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40" name="Row14bg"/>
          <p:cNvSpPr/>
          <p:nvPr/>
        </p:nvSpPr>
        <p:spPr>
          <a:xfrm>
            <a:off x="502920" y="4050792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1" name="Hid14"/>
          <p:cNvSpPr/>
          <p:nvPr/>
        </p:nvSpPr>
        <p:spPr>
          <a:xfrm>
            <a:off x="594360" y="4050792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RM03</a:t>
            </a:r>
          </a:p>
        </p:txBody>
      </p:sp>
      <p:sp>
        <p:nvSpPr>
          <p:cNvPr id="242" name="Hd14"/>
          <p:cNvSpPr/>
          <p:nvPr/>
        </p:nvSpPr>
        <p:spPr>
          <a:xfrm>
            <a:off x="1325880" y="4050792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Identificación visual notas aperturables</a:t>
            </a:r>
          </a:p>
        </p:txBody>
      </p:sp>
      <p:sp>
        <p:nvSpPr>
          <p:cNvPr id="243" name="Hi14"/>
          <p:cNvSpPr/>
          <p:nvPr/>
        </p:nvSpPr>
        <p:spPr>
          <a:xfrm>
            <a:off x="3794760" y="4050792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Sist. Notas</a:t>
            </a:r>
          </a:p>
        </p:txBody>
      </p:sp>
      <p:sp>
        <p:nvSpPr>
          <p:cNvPr id="244" name="He14"/>
          <p:cNvSpPr/>
          <p:nvPr/>
        </p:nvSpPr>
        <p:spPr>
          <a:xfrm>
            <a:off x="5029200" y="4050792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En Diseño</a:t>
            </a:r>
          </a:p>
        </p:txBody>
      </p:sp>
      <p:sp>
        <p:nvSpPr>
          <p:cNvPr id="245" name="Hd214"/>
          <p:cNvSpPr/>
          <p:nvPr/>
        </p:nvSpPr>
        <p:spPr>
          <a:xfrm>
            <a:off x="6263640" y="4050792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6" name="He214"/>
          <p:cNvSpPr/>
          <p:nvPr/>
        </p:nvSpPr>
        <p:spPr>
          <a:xfrm>
            <a:off x="6766560" y="4050792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47" name="Hcy14"/>
          <p:cNvSpPr/>
          <p:nvPr/>
        </p:nvSpPr>
        <p:spPr>
          <a:xfrm>
            <a:off x="7269480" y="4050792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48" name="Row15bg"/>
          <p:cNvSpPr/>
          <p:nvPr/>
        </p:nvSpPr>
        <p:spPr>
          <a:xfrm>
            <a:off x="502920" y="4183380"/>
            <a:ext cx="7223760" cy="1325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9" name="Hid15"/>
          <p:cNvSpPr/>
          <p:nvPr/>
        </p:nvSpPr>
        <p:spPr>
          <a:xfrm>
            <a:off x="594360" y="4183380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#14977</a:t>
            </a:r>
          </a:p>
        </p:txBody>
      </p:sp>
      <p:sp>
        <p:nvSpPr>
          <p:cNvPr id="250" name="Hd15"/>
          <p:cNvSpPr/>
          <p:nvPr/>
        </p:nvSpPr>
        <p:spPr>
          <a:xfrm>
            <a:off x="1325880" y="4183380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Matrícula cambia datos Salesforce</a:t>
            </a:r>
          </a:p>
        </p:txBody>
      </p:sp>
      <p:sp>
        <p:nvSpPr>
          <p:cNvPr id="251" name="Hi15"/>
          <p:cNvSpPr/>
          <p:nvPr/>
        </p:nvSpPr>
        <p:spPr>
          <a:xfrm>
            <a:off x="3794760" y="4183380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252" name="He15"/>
          <p:cNvSpPr/>
          <p:nvPr/>
        </p:nvSpPr>
        <p:spPr>
          <a:xfrm>
            <a:off x="5029200" y="4183380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Devuelto Desarrollo</a:t>
            </a:r>
          </a:p>
        </p:txBody>
      </p:sp>
      <p:sp>
        <p:nvSpPr>
          <p:cNvPr id="253" name="Hd215"/>
          <p:cNvSpPr/>
          <p:nvPr/>
        </p:nvSpPr>
        <p:spPr>
          <a:xfrm>
            <a:off x="6263640" y="4183380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54" name="He215"/>
          <p:cNvSpPr/>
          <p:nvPr/>
        </p:nvSpPr>
        <p:spPr>
          <a:xfrm>
            <a:off x="6766560" y="4183380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55" name="Hcy15"/>
          <p:cNvSpPr/>
          <p:nvPr/>
        </p:nvSpPr>
        <p:spPr>
          <a:xfrm>
            <a:off x="7269480" y="4183380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EC4899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256" name="Row16bg"/>
          <p:cNvSpPr/>
          <p:nvPr/>
        </p:nvSpPr>
        <p:spPr>
          <a:xfrm>
            <a:off x="502920" y="4315968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7" name="Hid16"/>
          <p:cNvSpPr/>
          <p:nvPr/>
        </p:nvSpPr>
        <p:spPr>
          <a:xfrm>
            <a:off x="594360" y="4315968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#13936</a:t>
            </a:r>
          </a:p>
        </p:txBody>
      </p:sp>
      <p:sp>
        <p:nvSpPr>
          <p:cNvPr id="258" name="Hd16"/>
          <p:cNvSpPr/>
          <p:nvPr/>
        </p:nvSpPr>
        <p:spPr>
          <a:xfrm>
            <a:off x="1325880" y="4315968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Endpoint postulación Salesforce (C4)</a:t>
            </a:r>
          </a:p>
        </p:txBody>
      </p:sp>
      <p:sp>
        <p:nvSpPr>
          <p:cNvPr id="259" name="Hi16"/>
          <p:cNvSpPr/>
          <p:nvPr/>
        </p:nvSpPr>
        <p:spPr>
          <a:xfrm>
            <a:off x="3794760" y="4315968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260" name="He16"/>
          <p:cNvSpPr/>
          <p:nvPr/>
        </p:nvSpPr>
        <p:spPr>
          <a:xfrm>
            <a:off x="5029200" y="4315968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22C55E"/>
                </a:solidFill>
                <a:latin typeface="Arial"/>
                <a:ea typeface="Arial"/>
                <a:cs typeface="Arial"/>
              </a:rPr>
              <a:t>UAT</a:t>
            </a:r>
          </a:p>
        </p:txBody>
      </p:sp>
      <p:sp>
        <p:nvSpPr>
          <p:cNvPr id="261" name="Hd216"/>
          <p:cNvSpPr/>
          <p:nvPr/>
        </p:nvSpPr>
        <p:spPr>
          <a:xfrm>
            <a:off x="6263640" y="4315968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62" name="He216"/>
          <p:cNvSpPr/>
          <p:nvPr/>
        </p:nvSpPr>
        <p:spPr>
          <a:xfrm>
            <a:off x="6766560" y="4315968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0EA5E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263" name="Hcy16"/>
          <p:cNvSpPr/>
          <p:nvPr/>
        </p:nvSpPr>
        <p:spPr>
          <a:xfrm>
            <a:off x="7269480" y="4315968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EC4899"/>
                </a:solidFill>
                <a:latin typeface="Arial"/>
                <a:ea typeface="Arial"/>
                <a:cs typeface="Arial"/>
              </a:rPr>
              <a:t>C4</a:t>
            </a:r>
          </a:p>
        </p:txBody>
      </p:sp>
      <p:sp>
        <p:nvSpPr>
          <p:cNvPr id="264" name="Row17bg"/>
          <p:cNvSpPr/>
          <p:nvPr/>
        </p:nvSpPr>
        <p:spPr>
          <a:xfrm>
            <a:off x="502920" y="4448556"/>
            <a:ext cx="7223760" cy="1325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5" name="Hid17"/>
          <p:cNvSpPr/>
          <p:nvPr/>
        </p:nvSpPr>
        <p:spPr>
          <a:xfrm>
            <a:off x="594360" y="4448556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#14937</a:t>
            </a:r>
          </a:p>
        </p:txBody>
      </p:sp>
      <p:sp>
        <p:nvSpPr>
          <p:cNvPr id="266" name="Hd17"/>
          <p:cNvSpPr/>
          <p:nvPr/>
        </p:nvSpPr>
        <p:spPr>
          <a:xfrm>
            <a:off x="1325880" y="4448556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No postular con pasaporte</a:t>
            </a:r>
          </a:p>
        </p:txBody>
      </p:sp>
      <p:sp>
        <p:nvSpPr>
          <p:cNvPr id="267" name="Hi17"/>
          <p:cNvSpPr/>
          <p:nvPr/>
        </p:nvSpPr>
        <p:spPr>
          <a:xfrm>
            <a:off x="3794760" y="4448556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268" name="He17"/>
          <p:cNvSpPr/>
          <p:nvPr/>
        </p:nvSpPr>
        <p:spPr>
          <a:xfrm>
            <a:off x="5029200" y="4448556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F59E0B"/>
                </a:solidFill>
                <a:latin typeface="Arial"/>
                <a:ea typeface="Arial"/>
                <a:cs typeface="Arial"/>
              </a:rPr>
              <a:t>Devuelto Desarrollo</a:t>
            </a:r>
          </a:p>
        </p:txBody>
      </p:sp>
      <p:sp>
        <p:nvSpPr>
          <p:cNvPr id="269" name="Hd217"/>
          <p:cNvSpPr/>
          <p:nvPr/>
        </p:nvSpPr>
        <p:spPr>
          <a:xfrm>
            <a:off x="6263640" y="4448556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70" name="He217"/>
          <p:cNvSpPr/>
          <p:nvPr/>
        </p:nvSpPr>
        <p:spPr>
          <a:xfrm>
            <a:off x="6766560" y="4448556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71" name="Hcy17"/>
          <p:cNvSpPr/>
          <p:nvPr/>
        </p:nvSpPr>
        <p:spPr>
          <a:xfrm>
            <a:off x="7269480" y="4448556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72" name="Row18bg"/>
          <p:cNvSpPr/>
          <p:nvPr/>
        </p:nvSpPr>
        <p:spPr>
          <a:xfrm>
            <a:off x="502920" y="4581144"/>
            <a:ext cx="7223760" cy="1325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3" name="Hid18"/>
          <p:cNvSpPr/>
          <p:nvPr/>
        </p:nvSpPr>
        <p:spPr>
          <a:xfrm>
            <a:off x="594360" y="4581144"/>
            <a:ext cx="82296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1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#14844</a:t>
            </a:r>
          </a:p>
        </p:txBody>
      </p:sp>
      <p:sp>
        <p:nvSpPr>
          <p:cNvPr id="274" name="Hd18"/>
          <p:cNvSpPr/>
          <p:nvPr/>
        </p:nvSpPr>
        <p:spPr>
          <a:xfrm>
            <a:off x="1325880" y="4581144"/>
            <a:ext cx="246888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l">
              <a:buNone/>
            </a:pPr>
            <a:r>
              <a:rPr lang="es-CL" sz="700" b="0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Postulación pisa fecha nacimiento</a:t>
            </a:r>
          </a:p>
        </p:txBody>
      </p:sp>
      <p:sp>
        <p:nvSpPr>
          <p:cNvPr id="275" name="Hi18"/>
          <p:cNvSpPr/>
          <p:nvPr/>
        </p:nvSpPr>
        <p:spPr>
          <a:xfrm>
            <a:off x="3794760" y="4581144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0" dirty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276" name="He18"/>
          <p:cNvSpPr/>
          <p:nvPr/>
        </p:nvSpPr>
        <p:spPr>
          <a:xfrm>
            <a:off x="5029200" y="4581144"/>
            <a:ext cx="123444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700" b="1" dirty="0">
                <a:solidFill>
                  <a:srgbClr val="EF4444"/>
                </a:solidFill>
                <a:latin typeface="Arial"/>
                <a:ea typeface="Arial"/>
                <a:cs typeface="Arial"/>
              </a:rPr>
              <a:t>Detenido</a:t>
            </a:r>
          </a:p>
        </p:txBody>
      </p:sp>
      <p:sp>
        <p:nvSpPr>
          <p:cNvPr id="277" name="Hd218"/>
          <p:cNvSpPr/>
          <p:nvPr/>
        </p:nvSpPr>
        <p:spPr>
          <a:xfrm>
            <a:off x="6263640" y="4581144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78" name="He218"/>
          <p:cNvSpPr/>
          <p:nvPr/>
        </p:nvSpPr>
        <p:spPr>
          <a:xfrm>
            <a:off x="6766560" y="4581144"/>
            <a:ext cx="50292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279" name="Hcy18"/>
          <p:cNvSpPr/>
          <p:nvPr/>
        </p:nvSpPr>
        <p:spPr>
          <a:xfrm>
            <a:off x="7269480" y="4581144"/>
            <a:ext cx="457200" cy="13258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s-CL" sz="800" b="1" dirty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99" name="PageNum"/>
          <p:cNvSpPr/>
          <p:nvPr/>
        </p:nvSpPr>
        <p:spPr>
          <a:xfrm>
            <a:off x="731520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r">
              <a:buNone/>
            </a:pPr>
            <a:r>
              <a:rPr lang="es-CL" sz="900" b="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18 de 20</a:t>
            </a:r>
          </a:p>
        </p:txBody>
      </p:sp>
      <p:pic>
        <p:nvPicPr>
          <p:cNvPr id="9" name="Picture U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236823" y="0"/>
            <a:ext cx="1828800" cy="6429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731520"/>
            <a:ext cx="18288" cy="36576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3" name="Shape 1"/>
          <p:cNvSpPr/>
          <p:nvPr/>
        </p:nvSpPr>
        <p:spPr>
          <a:xfrm>
            <a:off x="8046720" y="3840480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4" name="Shape 2"/>
          <p:cNvSpPr/>
          <p:nvPr/>
        </p:nvSpPr>
        <p:spPr>
          <a:xfrm>
            <a:off x="8174736" y="3840480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/>
          <p:cNvSpPr/>
          <p:nvPr/>
        </p:nvSpPr>
        <p:spPr>
          <a:xfrm>
            <a:off x="8302752" y="3840480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6" name="Shape 4"/>
          <p:cNvSpPr/>
          <p:nvPr/>
        </p:nvSpPr>
        <p:spPr>
          <a:xfrm>
            <a:off x="8430768" y="384048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" name="Shape 5"/>
          <p:cNvSpPr/>
          <p:nvPr/>
        </p:nvSpPr>
        <p:spPr>
          <a:xfrm>
            <a:off x="8046720" y="3968496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8" name="Shape 6"/>
          <p:cNvSpPr/>
          <p:nvPr/>
        </p:nvSpPr>
        <p:spPr>
          <a:xfrm>
            <a:off x="8174736" y="3968496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9" name="Shape 7"/>
          <p:cNvSpPr/>
          <p:nvPr/>
        </p:nvSpPr>
        <p:spPr>
          <a:xfrm>
            <a:off x="8302752" y="3968496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0" name="Shape 8"/>
          <p:cNvSpPr/>
          <p:nvPr/>
        </p:nvSpPr>
        <p:spPr>
          <a:xfrm>
            <a:off x="8430768" y="3968496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1" name="Shape 9"/>
          <p:cNvSpPr/>
          <p:nvPr/>
        </p:nvSpPr>
        <p:spPr>
          <a:xfrm>
            <a:off x="8046720" y="4096512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2" name="Shape 10"/>
          <p:cNvSpPr/>
          <p:nvPr/>
        </p:nvSpPr>
        <p:spPr>
          <a:xfrm>
            <a:off x="8174736" y="4096512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3" name="Shape 11"/>
          <p:cNvSpPr/>
          <p:nvPr/>
        </p:nvSpPr>
        <p:spPr>
          <a:xfrm>
            <a:off x="8302752" y="4096512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4" name="Shape 12"/>
          <p:cNvSpPr/>
          <p:nvPr/>
        </p:nvSpPr>
        <p:spPr>
          <a:xfrm>
            <a:off x="8430768" y="4096512"/>
            <a:ext cx="54864" cy="54864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097280"/>
            <a:ext cx="3291840" cy="6400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3474720" y="1965960"/>
            <a:ext cx="2194560" cy="7315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8" name="Text 15"/>
          <p:cNvSpPr/>
          <p:nvPr/>
        </p:nvSpPr>
        <p:spPr>
          <a:xfrm>
            <a:off x="457200" y="2578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L" sz="2800" b="1" noProof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s-CL" sz="2800" noProof="0" dirty="0"/>
          </a:p>
        </p:txBody>
      </p:sp>
      <p:sp>
        <p:nvSpPr>
          <p:cNvPr id="20" name="Text 17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L" sz="1050" noProof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contacto@inovabiz.com  |  www.inovabiz.com  |  +562 2269 0490</a:t>
            </a:r>
            <a:endParaRPr lang="es-CL" sz="1050" noProof="0" dirty="0"/>
          </a:p>
        </p:txBody>
      </p:sp>
      <p:sp>
        <p:nvSpPr>
          <p:cNvPr id="21" name="Shape 18"/>
          <p:cNvSpPr/>
          <p:nvPr/>
        </p:nvSpPr>
        <p:spPr>
          <a:xfrm>
            <a:off x="0" y="5074920"/>
            <a:ext cx="4572000" cy="1828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22" name="Shape 19"/>
          <p:cNvSpPr/>
          <p:nvPr/>
        </p:nvSpPr>
        <p:spPr>
          <a:xfrm>
            <a:off x="4572000" y="5074920"/>
            <a:ext cx="457200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23" name="Text 20"/>
          <p:cNvSpPr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L" sz="800" kern="0" spc="300" noProof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&amp; BUSINESS</a:t>
            </a:r>
            <a:endParaRPr lang="es-CL" sz="8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E4374FE006EF34987061464706B0180" ma:contentTypeVersion="17" ma:contentTypeDescription="Crear nuevo documento." ma:contentTypeScope="" ma:versionID="c022bceeb600e2cb0b89fe896dd53140">
  <xsd:schema xmlns:xsd="http://www.w3.org/2001/XMLSchema" xmlns:xs="http://www.w3.org/2001/XMLSchema" xmlns:p="http://schemas.microsoft.com/office/2006/metadata/properties" xmlns:ns1="http://schemas.microsoft.com/sharepoint/v3" xmlns:ns2="585fb102-c2dc-4ed3-bdea-a3859d49f146" xmlns:ns3="a19e4f86-6dd1-4744-81e0-f1e55ba7d5dd" targetNamespace="http://schemas.microsoft.com/office/2006/metadata/properties" ma:root="true" ma:fieldsID="a96563691cd68754ebecb623b9fe3679" ns1:_="" ns2:_="" ns3:_="">
    <xsd:import namespace="http://schemas.microsoft.com/sharepoint/v3"/>
    <xsd:import namespace="585fb102-c2dc-4ed3-bdea-a3859d49f146"/>
    <xsd:import namespace="a19e4f86-6dd1-4744-81e0-f1e55ba7d5d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3" nillable="true" ma:displayName="Propiedades de la Directiva de cumplimiento unificado" ma:hidden="true" ma:internalName="_ip_UnifiedCompliancePolicyProperties">
      <xsd:simpleType>
        <xsd:restriction base="dms:Note"/>
      </xsd:simpleType>
    </xsd:element>
    <xsd:element name="_ip_UnifiedCompliancePolicyUIAction" ma:index="24" nillable="true" ma:displayName="Acción de IU de la Directiva de cumplimiento unificado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5fb102-c2dc-4ed3-bdea-a3859d49f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Etiquetas de imagen" ma:readOnly="false" ma:fieldId="{5cf76f15-5ced-4ddc-b409-7134ff3c332f}" ma:taxonomyMulti="true" ma:sspId="0615fee7-db70-4110-afcb-57a9481dc6a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9e4f86-6dd1-4744-81e0-f1e55ba7d5d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6a8f4735-dc36-4a09-843e-c9cc4f1dc01e}" ma:internalName="TaxCatchAll" ma:showField="CatchAllData" ma:web="a19e4f86-6dd1-4744-81e0-f1e55ba7d5d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585fb102-c2dc-4ed3-bdea-a3859d49f146">
      <Terms xmlns="http://schemas.microsoft.com/office/infopath/2007/PartnerControls"/>
    </lcf76f155ced4ddcb4097134ff3c332f>
    <TaxCatchAll xmlns="a19e4f86-6dd1-4744-81e0-f1e55ba7d5dd" xsi:nil="true"/>
  </documentManagement>
</p:properties>
</file>

<file path=customXml/itemProps1.xml><?xml version="1.0" encoding="utf-8"?>
<ds:datastoreItem xmlns:ds="http://schemas.openxmlformats.org/officeDocument/2006/customXml" ds:itemID="{4CFA43AC-0306-4EE7-A830-32D8A6A43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585fb102-c2dc-4ed3-bdea-a3859d49f146"/>
    <ds:schemaRef ds:uri="a19e4f86-6dd1-4744-81e0-f1e55ba7d5d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D84540D-EFC7-427F-A464-DF5E582D5D7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CAFD05-CF0F-405A-A609-22766104A6FB}">
  <ds:schemaRefs>
    <ds:schemaRef ds:uri="http://schemas.microsoft.com/office/2006/documentManagement/types"/>
    <ds:schemaRef ds:uri="http://purl.org/dc/elements/1.1/"/>
    <ds:schemaRef ds:uri="585fb102-c2dc-4ed3-bdea-a3859d49f146"/>
    <ds:schemaRef ds:uri="http://schemas.microsoft.com/sharepoint/v3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purl.org/dc/terms/"/>
    <ds:schemaRef ds:uri="a19e4f86-6dd1-4744-81e0-f1e55ba7d5dd"/>
    <ds:schemaRef ds:uri="http://schemas.microsoft.com/office/2006/metadata/properties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146dfa7a-73f6-4095-95d6-113df6b678bc}" enabled="0" method="" siteId="{146dfa7a-73f6-4095-95d6-113df6b678b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1539</Words>
  <Application>Microsoft Office PowerPoint</Application>
  <PresentationFormat>Presentación en pantalla (16:9)</PresentationFormat>
  <Paragraphs>528</Paragraphs>
  <Slides>17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InovaBiz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InovaBiz</dc:creator>
  <cp:lastModifiedBy>Jose Caradeux</cp:lastModifiedBy>
  <cp:revision>10</cp:revision>
  <dcterms:created xsi:type="dcterms:W3CDTF">2026-03-25T16:24:36Z</dcterms:created>
  <dcterms:modified xsi:type="dcterms:W3CDTF">2026-04-17T00:54:50Z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0x010100DE4374FE006EF34987061464706B0180</vt:lpwstr>
  </property>
</Properties>
</file>