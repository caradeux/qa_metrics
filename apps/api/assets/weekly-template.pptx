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4"/>
  </p:notesMasterIdLst>
  <p:sldIdLst>
    <p:sldId id="256" r:id="rId5"/>
    <p:sldId id="257" r:id="rId6"/>
    <p:sldId id="269" r:id="rId7"/>
    <p:sldId id="270" r:id="rId8"/>
    <p:sldId id="271" r:id="rId9"/>
    <p:sldId id="272" r:id="rId10"/>
    <p:sldId id="273" r:id="rId11"/>
    <p:sldId id="274" r:id="rId12"/>
    <p:sldId id="268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9459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F550AF-2BD9-0BEF-AA93-AED5F3A6B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8F1764-779C-F3A2-2765-DB2A7A6BE1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B9375A-8F82-E19B-A80A-DDC71DCC91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D24638-C1B9-F7F9-23F7-8D6E8C0B97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92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EB0916-FA69-9CBD-307D-17262B874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EFCB1F-92A1-3302-6452-29BD6A378F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4B6C06-2B99-8D09-2A91-6B7E66722B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AF9ECA-932B-E7DE-892B-BA44980108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3498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BC1A58-A94D-094C-D721-832F0A796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7817AD-CCD7-C3E9-A4DF-F423224F98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307F21-79E2-7552-2EAE-305B069740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293133-E1E4-AD7F-9948-6DFD5524C9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0411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B92687-C522-603A-CCAF-1668E1FB39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55AC06-D107-228D-1F14-0FF9E3C80F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95E61A-E027-1DD3-7430-CE08BFF339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62A916-12F5-7D5F-62A9-91D70743C6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8249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CB169-07EC-CDB0-6436-E2E53E95E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3236B9-2685-FD37-38C7-94300B736D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3696FF-FF49-77A4-EA49-A95BAAFDA6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9158ED-68C5-DA87-3926-BCFA5EBCE9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7770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50340A-7DD0-5EA2-6F36-B04C507CC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F6F4E0-E032-87F2-5A87-6F5DAEA7E4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B1EFA2-F679-868A-ED05-BE6021AA41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3F87EF-E696-8ECC-F5B7-91FB2FF3B6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5168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731520"/>
            <a:ext cx="18288" cy="365760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4" name="Shape 2"/>
          <p:cNvSpPr/>
          <p:nvPr/>
        </p:nvSpPr>
        <p:spPr>
          <a:xfrm>
            <a:off x="8046720" y="3840480"/>
            <a:ext cx="54864" cy="54864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5" name="Shape 3"/>
          <p:cNvSpPr/>
          <p:nvPr/>
        </p:nvSpPr>
        <p:spPr>
          <a:xfrm>
            <a:off x="8174736" y="3840480"/>
            <a:ext cx="54864" cy="54864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6" name="Shape 4"/>
          <p:cNvSpPr/>
          <p:nvPr/>
        </p:nvSpPr>
        <p:spPr>
          <a:xfrm>
            <a:off x="8302752" y="3840480"/>
            <a:ext cx="54864" cy="54864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7" name="Shape 5"/>
          <p:cNvSpPr/>
          <p:nvPr/>
        </p:nvSpPr>
        <p:spPr>
          <a:xfrm>
            <a:off x="8430768" y="3840480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8" name="Shape 6"/>
          <p:cNvSpPr/>
          <p:nvPr/>
        </p:nvSpPr>
        <p:spPr>
          <a:xfrm>
            <a:off x="8046720" y="3968496"/>
            <a:ext cx="54864" cy="54864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9" name="Shape 7"/>
          <p:cNvSpPr/>
          <p:nvPr/>
        </p:nvSpPr>
        <p:spPr>
          <a:xfrm>
            <a:off x="8174736" y="3968496"/>
            <a:ext cx="54864" cy="54864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10" name="Shape 8"/>
          <p:cNvSpPr/>
          <p:nvPr/>
        </p:nvSpPr>
        <p:spPr>
          <a:xfrm>
            <a:off x="8302752" y="3968496"/>
            <a:ext cx="54864" cy="54864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11" name="Shape 9"/>
          <p:cNvSpPr/>
          <p:nvPr/>
        </p:nvSpPr>
        <p:spPr>
          <a:xfrm>
            <a:off x="8430768" y="3968496"/>
            <a:ext cx="54864" cy="54864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12" name="Shape 10"/>
          <p:cNvSpPr/>
          <p:nvPr/>
        </p:nvSpPr>
        <p:spPr>
          <a:xfrm>
            <a:off x="8046720" y="4096512"/>
            <a:ext cx="54864" cy="54864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13" name="Shape 11"/>
          <p:cNvSpPr/>
          <p:nvPr/>
        </p:nvSpPr>
        <p:spPr>
          <a:xfrm>
            <a:off x="8174736" y="4096512"/>
            <a:ext cx="54864" cy="54864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14" name="Shape 12"/>
          <p:cNvSpPr/>
          <p:nvPr/>
        </p:nvSpPr>
        <p:spPr>
          <a:xfrm>
            <a:off x="8302752" y="4096512"/>
            <a:ext cx="54864" cy="54864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15" name="Shape 13"/>
          <p:cNvSpPr/>
          <p:nvPr/>
        </p:nvSpPr>
        <p:spPr>
          <a:xfrm>
            <a:off x="8430768" y="4096512"/>
            <a:ext cx="54864" cy="54864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s-CL" noProof="0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548640"/>
            <a:ext cx="1463040" cy="283464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777240" y="2176272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s-CL" sz="4600" b="1" noProof="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Seguimiento</a:t>
            </a:r>
            <a:endParaRPr lang="es-CL" sz="4600" noProof="0" dirty="0"/>
          </a:p>
        </p:txBody>
      </p:sp>
      <p:sp>
        <p:nvSpPr>
          <p:cNvPr id="19" name="Text 16"/>
          <p:cNvSpPr/>
          <p:nvPr/>
        </p:nvSpPr>
        <p:spPr>
          <a:xfrm>
            <a:off x="777240" y="2816352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s-CL" sz="4600" b="1" noProof="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Semanal QA</a:t>
            </a:r>
            <a:endParaRPr lang="es-CL" sz="4600" noProof="0" dirty="0"/>
          </a:p>
        </p:txBody>
      </p:sp>
      <p:sp>
        <p:nvSpPr>
          <p:cNvPr id="20" name="Shape 17"/>
          <p:cNvSpPr/>
          <p:nvPr/>
        </p:nvSpPr>
        <p:spPr>
          <a:xfrm>
            <a:off x="822960" y="3703320"/>
            <a:ext cx="2286000" cy="7315"/>
          </a:xfrm>
          <a:prstGeom prst="rect">
            <a:avLst/>
          </a:prstGeom>
          <a:solidFill>
            <a:srgbClr val="475569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21" name="Text 18"/>
          <p:cNvSpPr/>
          <p:nvPr/>
        </p:nvSpPr>
        <p:spPr>
          <a:xfrm>
            <a:off x="822960" y="3794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1300" noProof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Aseguramiento de Calidad &amp; Seguridad | InovaBiz</a:t>
            </a:r>
            <a:endParaRPr lang="es-CL" sz="1300" noProof="0" dirty="0"/>
          </a:p>
        </p:txBody>
      </p:sp>
      <p:sp>
        <p:nvSpPr>
          <p:cNvPr id="22" name="Text 19"/>
          <p:cNvSpPr/>
          <p:nvPr/>
        </p:nvSpPr>
        <p:spPr>
          <a:xfrm>
            <a:off x="822960" y="46634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850" kern="0" spc="200" noProof="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s-CL" sz="850" noProof="0" dirty="0"/>
          </a:p>
        </p:txBody>
      </p:sp>
      <p:sp>
        <p:nvSpPr>
          <p:cNvPr id="23" name="Text 20"/>
          <p:cNvSpPr/>
          <p:nvPr/>
        </p:nvSpPr>
        <p:spPr>
          <a:xfrm>
            <a:off x="5943600" y="46634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s-CL" sz="850" kern="0" spc="200" noProof="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DOCUMENTO CONFIDENCIAL</a:t>
            </a:r>
            <a:endParaRPr lang="es-CL" sz="850" noProof="0" dirty="0"/>
          </a:p>
        </p:txBody>
      </p:sp>
      <p:sp>
        <p:nvSpPr>
          <p:cNvPr id="24" name="Shape 21"/>
          <p:cNvSpPr/>
          <p:nvPr/>
        </p:nvSpPr>
        <p:spPr>
          <a:xfrm>
            <a:off x="0" y="5074920"/>
            <a:ext cx="4572000" cy="18288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25" name="Shape 22"/>
          <p:cNvSpPr/>
          <p:nvPr/>
        </p:nvSpPr>
        <p:spPr>
          <a:xfrm>
            <a:off x="4572000" y="5074920"/>
            <a:ext cx="4572000" cy="18288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s-CL" noProof="0" dirty="0"/>
          </a:p>
        </p:txBody>
      </p:sp>
      <p:pic>
        <p:nvPicPr>
          <p:cNvPr id="27" name="Picture 2" descr="Logos - Imagen UDD">
            <a:extLst>
              <a:ext uri="{FF2B5EF4-FFF2-40B4-BE49-F238E27FC236}">
                <a16:creationId xmlns:a16="http://schemas.microsoft.com/office/drawing/2014/main" id="{06175E62-4F1A-F5B5-0C80-77AAA5A4FC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6823" y="0"/>
            <a:ext cx="1828800" cy="642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3400" b="1" noProof="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Trayectorias</a:t>
            </a:r>
            <a:endParaRPr lang="es-CL" sz="3400" noProof="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3840480" cy="86868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36576" cy="86868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6" name="Text 4"/>
          <p:cNvSpPr/>
          <p:nvPr/>
        </p:nvSpPr>
        <p:spPr>
          <a:xfrm>
            <a:off x="640080" y="1124712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750" b="1" kern="0" spc="150" dirty="0">
                <a:solidFill>
                  <a:srgbClr val="22C55E"/>
                </a:solidFill>
                <a:latin typeface="Arial" pitchFamily="34" charset="0"/>
                <a:cs typeface="Arial" pitchFamily="34" charset="-120"/>
              </a:rPr>
              <a:t>EQUIPO</a:t>
            </a:r>
            <a:endParaRPr lang="es-CL" sz="750" noProof="0" dirty="0"/>
          </a:p>
        </p:txBody>
      </p:sp>
      <p:sp>
        <p:nvSpPr>
          <p:cNvPr id="7" name="Text 5"/>
          <p:cNvSpPr/>
          <p:nvPr/>
        </p:nvSpPr>
        <p:spPr>
          <a:xfrm>
            <a:off x="640080" y="132588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s-ES" sz="950" noProof="0" dirty="0">
                <a:solidFill>
                  <a:srgbClr val="94A3B8"/>
                </a:solidFill>
                <a:latin typeface="Arial" pitchFamily="34" charset="0"/>
                <a:cs typeface="Arial" pitchFamily="34" charset="-120"/>
              </a:rPr>
              <a:t>Jefe de Proyecto	: Alex Zúñiga</a:t>
            </a:r>
          </a:p>
          <a:p>
            <a:pPr>
              <a:lnSpc>
                <a:spcPct val="120000"/>
              </a:lnSpc>
            </a:pPr>
            <a:r>
              <a:rPr lang="es-ES" sz="950" dirty="0">
                <a:solidFill>
                  <a:srgbClr val="94A3B8"/>
                </a:solidFill>
                <a:latin typeface="Arial" pitchFamily="34" charset="0"/>
                <a:cs typeface="Arial" pitchFamily="34" charset="-120"/>
              </a:rPr>
              <a:t>Analista QA 	: Jose Flores</a:t>
            </a:r>
          </a:p>
          <a:p>
            <a:pPr>
              <a:lnSpc>
                <a:spcPct val="120000"/>
              </a:lnSpc>
            </a:pPr>
            <a:r>
              <a:rPr lang="es-ES" sz="950" noProof="0" dirty="0">
                <a:solidFill>
                  <a:srgbClr val="94A3B8"/>
                </a:solidFill>
                <a:latin typeface="Arial" pitchFamily="34" charset="0"/>
                <a:cs typeface="Arial" pitchFamily="34" charset="-120"/>
              </a:rPr>
              <a:t>Asignación 	: </a:t>
            </a:r>
            <a:r>
              <a:rPr lang="es-ES" sz="950" dirty="0">
                <a:solidFill>
                  <a:srgbClr val="94A3B8"/>
                </a:solidFill>
                <a:latin typeface="Arial" pitchFamily="34" charset="0"/>
                <a:cs typeface="Arial" pitchFamily="34" charset="-120"/>
              </a:rPr>
              <a:t>100%</a:t>
            </a:r>
            <a:endParaRPr lang="es-ES" sz="950" noProof="0" dirty="0">
              <a:solidFill>
                <a:srgbClr val="94A3B8"/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846320" y="1051560"/>
            <a:ext cx="3840480" cy="86868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17" name="Shape 15"/>
          <p:cNvSpPr/>
          <p:nvPr/>
        </p:nvSpPr>
        <p:spPr>
          <a:xfrm>
            <a:off x="4846320" y="1051560"/>
            <a:ext cx="36576" cy="86868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18" name="Text 16"/>
          <p:cNvSpPr/>
          <p:nvPr/>
        </p:nvSpPr>
        <p:spPr>
          <a:xfrm>
            <a:off x="5029200" y="1124712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750" b="1" kern="0" spc="150" noProof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OBSERVACIONES</a:t>
            </a:r>
            <a:endParaRPr lang="es-CL" sz="750" noProof="0" dirty="0"/>
          </a:p>
        </p:txBody>
      </p:sp>
      <p:sp>
        <p:nvSpPr>
          <p:cNvPr id="19" name="Text 17"/>
          <p:cNvSpPr/>
          <p:nvPr/>
        </p:nvSpPr>
        <p:spPr>
          <a:xfrm>
            <a:off x="5029200" y="132588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s-CL" sz="950" noProof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2 temas pendientes de instalación.</a:t>
            </a:r>
            <a:br>
              <a:rPr lang="es-CL" sz="950" noProof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s-CL" sz="950" noProof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tema en UAT.</a:t>
            </a:r>
            <a:br>
              <a:rPr lang="es-CL" sz="950" noProof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s-CL" sz="950" noProof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tema pendiente por </a:t>
            </a:r>
            <a:r>
              <a:rPr lang="es-CL" sz="950" noProof="0" dirty="0" err="1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V°B°</a:t>
            </a:r>
            <a:r>
              <a:rPr lang="es-CL" sz="950" noProof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plan de pruebas</a:t>
            </a:r>
            <a:endParaRPr lang="es-CL" sz="950" noProof="0" dirty="0"/>
          </a:p>
        </p:txBody>
      </p:sp>
      <p:pic>
        <p:nvPicPr>
          <p:cNvPr id="28" name="Image 0" descr="preencoded.png"/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548640" y="4709160"/>
            <a:ext cx="914400" cy="173736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7315200" y="47091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s-CL" sz="900" noProof="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de 13</a:t>
            </a:r>
            <a:endParaRPr lang="es-CL" sz="900" noProof="0" dirty="0"/>
          </a:p>
        </p:txBody>
      </p:sp>
      <p:graphicFrame>
        <p:nvGraphicFramePr>
          <p:cNvPr id="35" name="Tabla QA Metricas 211">
            <a:extLst>
              <a:ext uri="{FF2B5EF4-FFF2-40B4-BE49-F238E27FC236}">
                <a16:creationId xmlns:a16="http://schemas.microsoft.com/office/drawing/2014/main" id="{767D4CEB-2FE3-815D-1C21-2C62727A47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5919834"/>
              </p:ext>
            </p:extLst>
          </p:nvPr>
        </p:nvGraphicFramePr>
        <p:xfrm>
          <a:off x="509449" y="2805425"/>
          <a:ext cx="8177351" cy="1219200"/>
        </p:xfrm>
        <a:graphic>
          <a:graphicData uri="http://schemas.openxmlformats.org/drawingml/2006/table">
            <a:tbl>
              <a:tblPr firstRow="1"/>
              <a:tblGrid>
                <a:gridCol w="26060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50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73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73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73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737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5667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9pPr>
                    </a:lstStyle>
                    <a:p>
                      <a:pPr algn="ctr"/>
                      <a:r>
                        <a:rPr lang="es-ES" sz="820" b="1" spc="-100" dirty="0">
                          <a:solidFill>
                            <a:srgbClr val="FFFFFF"/>
                          </a:solidFill>
                          <a:latin typeface="Calibri"/>
                        </a:rPr>
                        <a:t>Historia de Usuario</a:t>
                      </a:r>
                    </a:p>
                  </a:txBody>
                  <a:tcPr marL="60960" marR="6096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9pPr>
                    </a:lstStyle>
                    <a:p>
                      <a:pPr algn="ctr"/>
                      <a:r>
                        <a:rPr lang="es-ES" sz="820" b="1" spc="-100" dirty="0">
                          <a:solidFill>
                            <a:srgbClr val="FFFFFF"/>
                          </a:solidFill>
                          <a:latin typeface="Calibri"/>
                        </a:rPr>
                        <a:t>Estado</a:t>
                      </a:r>
                    </a:p>
                  </a:txBody>
                  <a:tcPr marL="60960" marR="6096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9pPr>
                    </a:lstStyle>
                    <a:p>
                      <a:pPr algn="ctr"/>
                      <a:r>
                        <a:rPr lang="es-ES" sz="820" b="1" spc="-100" dirty="0">
                          <a:solidFill>
                            <a:srgbClr val="FFFFFF"/>
                          </a:solidFill>
                          <a:latin typeface="Calibri"/>
                        </a:rPr>
                        <a:t>Consultas
Levantadas</a:t>
                      </a:r>
                    </a:p>
                  </a:txBody>
                  <a:tcPr marL="60960" marR="6096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9pPr>
                    </a:lstStyle>
                    <a:p>
                      <a:pPr algn="ctr"/>
                      <a:r>
                        <a:rPr lang="es-ES" sz="820" b="1" spc="-100" dirty="0">
                          <a:solidFill>
                            <a:srgbClr val="FFFFFF"/>
                          </a:solidFill>
                          <a:latin typeface="Calibri"/>
                        </a:rPr>
                        <a:t>CA
Validados</a:t>
                      </a:r>
                    </a:p>
                  </a:txBody>
                  <a:tcPr marL="60960" marR="6096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9pPr>
                    </a:lstStyle>
                    <a:p>
                      <a:pPr algn="ctr"/>
                      <a:r>
                        <a:rPr lang="es-ES" sz="820" b="1" spc="-100" dirty="0">
                          <a:solidFill>
                            <a:srgbClr val="FFFFFF"/>
                          </a:solidFill>
                          <a:latin typeface="Calibri"/>
                        </a:rPr>
                        <a:t>Casos
Diseñados</a:t>
                      </a:r>
                    </a:p>
                  </a:txBody>
                  <a:tcPr marL="60960" marR="6096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9pPr>
                    </a:lstStyle>
                    <a:p>
                      <a:pPr algn="ctr"/>
                      <a:r>
                        <a:rPr lang="es-ES" sz="820" b="1" spc="-100" dirty="0">
                          <a:solidFill>
                            <a:srgbClr val="FFFFFF"/>
                          </a:solidFill>
                          <a:latin typeface="Calibri"/>
                        </a:rPr>
                        <a:t>Casos
Ejecutados</a:t>
                      </a:r>
                    </a:p>
                  </a:txBody>
                  <a:tcPr marL="60960" marR="6096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9pPr>
                    </a:lstStyle>
                    <a:p>
                      <a:pPr algn="ctr"/>
                      <a:r>
                        <a:rPr lang="es-ES" sz="820" b="1" spc="-100" dirty="0">
                          <a:solidFill>
                            <a:srgbClr val="FFFFFF"/>
                          </a:solidFill>
                          <a:latin typeface="Calibri"/>
                        </a:rPr>
                        <a:t>Bugs
Detectados</a:t>
                      </a:r>
                    </a:p>
                  </a:txBody>
                  <a:tcPr marL="60960" marR="6096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52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858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9pPr>
                    </a:lstStyle>
                    <a:p>
                      <a:pPr algn="l"/>
                      <a:r>
                        <a:rPr lang="es-ES" sz="820" b="0" dirty="0">
                          <a:solidFill>
                            <a:srgbClr val="1C2833"/>
                          </a:solidFill>
                          <a:latin typeface="Calibri"/>
                        </a:rPr>
                        <a:t>HU Habilitar unidad que imparte</a:t>
                      </a:r>
                    </a:p>
                  </a:txBody>
                  <a:tcPr marL="60960" marR="6096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4F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9pPr>
                    </a:lstStyle>
                    <a:p>
                      <a:pPr marL="0" algn="ctr" defTabSz="914400" rtl="0" eaLnBrk="1" latinLnBrk="0" hangingPunct="1"/>
                      <a:r>
                        <a:rPr lang="es-ES" sz="820" b="1" kern="1200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+mn-cs"/>
                        </a:rPr>
                        <a:t>Pdte. de instalación</a:t>
                      </a:r>
                    </a:p>
                  </a:txBody>
                  <a:tcPr marL="60960" marR="6096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9pPr>
                    </a:lstStyle>
                    <a:p>
                      <a:pPr algn="ctr"/>
                      <a:r>
                        <a:rPr lang="es-ES" sz="820" b="0" dirty="0">
                          <a:solidFill>
                            <a:srgbClr val="1C283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60960" marR="6096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4F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9pPr>
                    </a:lstStyle>
                    <a:p>
                      <a:pPr algn="ctr"/>
                      <a:r>
                        <a:rPr lang="es-ES" sz="820" b="0" dirty="0">
                          <a:solidFill>
                            <a:srgbClr val="1C2833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60960" marR="6096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4F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9pPr>
                    </a:lstStyle>
                    <a:p>
                      <a:pPr algn="ctr"/>
                      <a:r>
                        <a:rPr lang="es-ES" sz="820" b="0" dirty="0">
                          <a:solidFill>
                            <a:srgbClr val="1C2833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L="60960" marR="6096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4F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9pPr>
                    </a:lstStyle>
                    <a:p>
                      <a:pPr algn="ctr"/>
                      <a:r>
                        <a:rPr lang="es-ES" sz="820" b="0" dirty="0">
                          <a:solidFill>
                            <a:srgbClr val="1C2833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60960" marR="6096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4F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9pPr>
                    </a:lstStyle>
                    <a:p>
                      <a:pPr algn="ctr"/>
                      <a:r>
                        <a:rPr lang="es-ES" sz="820" b="0" dirty="0">
                          <a:solidFill>
                            <a:srgbClr val="1C28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0960" marR="6096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833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9pPr>
                    </a:lstStyle>
                    <a:p>
                      <a:pPr algn="l"/>
                      <a:r>
                        <a:rPr lang="es-ES" sz="820" b="0" dirty="0">
                          <a:solidFill>
                            <a:srgbClr val="1C2833"/>
                          </a:solidFill>
                          <a:latin typeface="Calibri"/>
                        </a:rPr>
                        <a:t>HU Vigencia de certificaciones</a:t>
                      </a:r>
                    </a:p>
                  </a:txBody>
                  <a:tcPr marL="60960" marR="6096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9pPr>
                    </a:lstStyle>
                    <a:p>
                      <a:pPr marL="0" algn="ctr" defTabSz="914400" rtl="0" eaLnBrk="1" latinLnBrk="0" hangingPunct="1"/>
                      <a:r>
                        <a:rPr lang="es-ES" sz="820" b="1" kern="1200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+mn-cs"/>
                        </a:rPr>
                        <a:t>Pdte. de instalación</a:t>
                      </a:r>
                    </a:p>
                  </a:txBody>
                  <a:tcPr marL="60960" marR="6096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9pPr>
                    </a:lstStyle>
                    <a:p>
                      <a:pPr algn="ctr"/>
                      <a:r>
                        <a:rPr lang="es-ES" sz="820" b="0" dirty="0">
                          <a:solidFill>
                            <a:srgbClr val="1C28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60960" marR="6096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9pPr>
                    </a:lstStyle>
                    <a:p>
                      <a:pPr algn="ctr"/>
                      <a:r>
                        <a:rPr lang="es-ES" sz="820" b="0" dirty="0">
                          <a:solidFill>
                            <a:srgbClr val="1C283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60960" marR="6096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9pPr>
                    </a:lstStyle>
                    <a:p>
                      <a:pPr algn="ctr"/>
                      <a:r>
                        <a:rPr lang="es-ES" sz="820" b="0" dirty="0">
                          <a:solidFill>
                            <a:srgbClr val="1C2833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marL="60960" marR="6096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9pPr>
                    </a:lstStyle>
                    <a:p>
                      <a:pPr algn="ctr"/>
                      <a:r>
                        <a:rPr lang="es-ES" sz="820" b="0" dirty="0">
                          <a:solidFill>
                            <a:srgbClr val="1C2833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60960" marR="6096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9pPr>
                    </a:lstStyle>
                    <a:p>
                      <a:pPr algn="ctr"/>
                      <a:r>
                        <a:rPr lang="es-ES" sz="820" b="0" dirty="0">
                          <a:solidFill>
                            <a:srgbClr val="1C28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0960" marR="6096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E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858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9pPr>
                    </a:lstStyle>
                    <a:p>
                      <a:pPr algn="l"/>
                      <a:r>
                        <a:rPr lang="es-ES" sz="820" b="0" dirty="0">
                          <a:solidFill>
                            <a:srgbClr val="1C2833"/>
                          </a:solidFill>
                          <a:latin typeface="Calibri"/>
                        </a:rPr>
                        <a:t>HU Insignias digitales (2 Ciclos)</a:t>
                      </a:r>
                    </a:p>
                  </a:txBody>
                  <a:tcPr marL="60960" marR="6096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4F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9pPr>
                    </a:lstStyle>
                    <a:p>
                      <a:pPr marL="0" algn="ctr" defTabSz="914400" rtl="0" eaLnBrk="1" latinLnBrk="0" hangingPunct="1"/>
                      <a:r>
                        <a:rPr lang="es-ES" sz="820" b="1" kern="1200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+mn-cs"/>
                        </a:rPr>
                        <a:t>UAT</a:t>
                      </a:r>
                    </a:p>
                  </a:txBody>
                  <a:tcPr marL="60960" marR="6096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9pPr>
                    </a:lstStyle>
                    <a:p>
                      <a:pPr algn="ctr"/>
                      <a:r>
                        <a:rPr lang="es-ES" sz="820" b="0" dirty="0">
                          <a:solidFill>
                            <a:srgbClr val="1C283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60960" marR="6096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4F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9pPr>
                    </a:lstStyle>
                    <a:p>
                      <a:pPr algn="ctr"/>
                      <a:r>
                        <a:rPr lang="es-ES" sz="820" b="0" dirty="0">
                          <a:solidFill>
                            <a:srgbClr val="1C283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60960" marR="6096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4F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9pPr>
                    </a:lstStyle>
                    <a:p>
                      <a:pPr algn="ctr"/>
                      <a:r>
                        <a:rPr lang="es-ES" sz="820" b="0" dirty="0">
                          <a:solidFill>
                            <a:srgbClr val="1C2833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60960" marR="6096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4F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9pPr>
                    </a:lstStyle>
                    <a:p>
                      <a:pPr algn="ctr"/>
                      <a:r>
                        <a:rPr lang="es-ES" sz="820" b="0" dirty="0">
                          <a:solidFill>
                            <a:srgbClr val="1C2833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marL="60960" marR="6096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4F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9pPr>
                    </a:lstStyle>
                    <a:p>
                      <a:pPr algn="ctr"/>
                      <a:r>
                        <a:rPr lang="es-ES" sz="820" b="0" dirty="0">
                          <a:solidFill>
                            <a:srgbClr val="1C28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60960" marR="6096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85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820" b="0" dirty="0">
                          <a:solidFill>
                            <a:srgbClr val="1C2833"/>
                          </a:solidFill>
                          <a:latin typeface="Calibri"/>
                        </a:rPr>
                        <a:t>HU </a:t>
                      </a:r>
                      <a:r>
                        <a:rPr lang="es-CL" sz="900" dirty="0"/>
                        <a:t>Procesamiento programado de certificaciones</a:t>
                      </a:r>
                    </a:p>
                  </a:txBody>
                  <a:tcPr marL="60960" marR="60960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4F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ES" sz="820" b="1" kern="1200" dirty="0" err="1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+mn-cs"/>
                        </a:rPr>
                        <a:t>V°B°</a:t>
                      </a:r>
                      <a:r>
                        <a:rPr lang="es-ES" sz="820" b="1" kern="1200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+mn-cs"/>
                        </a:rPr>
                        <a:t> plan de pruebas</a:t>
                      </a:r>
                    </a:p>
                  </a:txBody>
                  <a:tcPr marL="60960" marR="60960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820" b="0" dirty="0">
                          <a:solidFill>
                            <a:srgbClr val="1C28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60960" marR="60960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820" b="0" dirty="0">
                          <a:solidFill>
                            <a:srgbClr val="1C283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60960" marR="60960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820" b="0" dirty="0">
                          <a:solidFill>
                            <a:srgbClr val="1C283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60960" marR="60960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820" b="0" dirty="0">
                          <a:solidFill>
                            <a:srgbClr val="1C2833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60960" marR="60960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820" b="0" dirty="0">
                          <a:solidFill>
                            <a:srgbClr val="1C28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0960" marR="60960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0552128"/>
                  </a:ext>
                </a:extLst>
              </a:tr>
            </a:tbl>
          </a:graphicData>
        </a:graphic>
      </p:graphicFrame>
      <p:sp>
        <p:nvSpPr>
          <p:cNvPr id="37" name="LabelBar 210">
            <a:extLst>
              <a:ext uri="{FF2B5EF4-FFF2-40B4-BE49-F238E27FC236}">
                <a16:creationId xmlns:a16="http://schemas.microsoft.com/office/drawing/2014/main" id="{D8333D47-DB26-7668-942B-A20E1572DFCC}"/>
              </a:ext>
            </a:extLst>
          </p:cNvPr>
          <p:cNvSpPr txBox="1"/>
          <p:nvPr/>
        </p:nvSpPr>
        <p:spPr>
          <a:xfrm>
            <a:off x="509448" y="2498717"/>
            <a:ext cx="8177351" cy="280000"/>
          </a:xfrm>
          <a:prstGeom prst="rect">
            <a:avLst/>
          </a:prstGeom>
          <a:solidFill>
            <a:srgbClr val="2D8DBB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9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MÉTRICAS POR HISTORIA DE USUARIO — TRAYECTORIAS</a:t>
            </a:r>
          </a:p>
        </p:txBody>
      </p:sp>
      <p:pic>
        <p:nvPicPr>
          <p:cNvPr id="1026" name="Picture 2" descr="Logos - Imagen UDD">
            <a:extLst>
              <a:ext uri="{FF2B5EF4-FFF2-40B4-BE49-F238E27FC236}">
                <a16:creationId xmlns:a16="http://schemas.microsoft.com/office/drawing/2014/main" id="{A2D161E9-0EB2-C2BE-5931-A0A429F34E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6823" y="0"/>
            <a:ext cx="1828800" cy="642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24F093-D7FD-398D-15E2-23EEF293F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1C10D4D-3176-3D89-FC7C-0C53776FCEF6}"/>
              </a:ext>
            </a:extLst>
          </p:cNvPr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8BAAC41-420B-C973-DDB9-87DA06CF58FF}"/>
              </a:ext>
            </a:extLst>
          </p:cNvPr>
          <p:cNvSpPr/>
          <p:nvPr/>
        </p:nvSpPr>
        <p:spPr>
          <a:xfrm>
            <a:off x="457200" y="3200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3400" b="1" noProof="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COIL</a:t>
            </a:r>
            <a:endParaRPr lang="es-CL" sz="3400" noProof="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791270D-077B-1CE4-1F55-F04E84022F68}"/>
              </a:ext>
            </a:extLst>
          </p:cNvPr>
          <p:cNvSpPr/>
          <p:nvPr/>
        </p:nvSpPr>
        <p:spPr>
          <a:xfrm>
            <a:off x="457200" y="1051560"/>
            <a:ext cx="3840480" cy="86868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42610E4-5A1A-2CD8-EDE6-57974EB94D92}"/>
              </a:ext>
            </a:extLst>
          </p:cNvPr>
          <p:cNvSpPr/>
          <p:nvPr/>
        </p:nvSpPr>
        <p:spPr>
          <a:xfrm>
            <a:off x="457200" y="1051560"/>
            <a:ext cx="36576" cy="86868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04A945C-BF83-36EE-697D-0106A7CF067F}"/>
              </a:ext>
            </a:extLst>
          </p:cNvPr>
          <p:cNvSpPr/>
          <p:nvPr/>
        </p:nvSpPr>
        <p:spPr>
          <a:xfrm>
            <a:off x="640080" y="1124712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750" b="1" kern="0" spc="150" dirty="0">
                <a:solidFill>
                  <a:srgbClr val="22C55E"/>
                </a:solidFill>
                <a:latin typeface="Arial" pitchFamily="34" charset="0"/>
                <a:cs typeface="Arial" pitchFamily="34" charset="-120"/>
              </a:rPr>
              <a:t>EQUIPO</a:t>
            </a:r>
            <a:endParaRPr lang="es-CL" sz="750" noProof="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27223DE-9570-7EF2-46F2-0A462509B225}"/>
              </a:ext>
            </a:extLst>
          </p:cNvPr>
          <p:cNvSpPr/>
          <p:nvPr/>
        </p:nvSpPr>
        <p:spPr>
          <a:xfrm>
            <a:off x="640080" y="132588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s-ES" sz="950" noProof="0" dirty="0">
                <a:solidFill>
                  <a:srgbClr val="94A3B8"/>
                </a:solidFill>
                <a:latin typeface="Arial" pitchFamily="34" charset="0"/>
                <a:cs typeface="Arial" pitchFamily="34" charset="-120"/>
              </a:rPr>
              <a:t>Jefe de Proyecto: Alex Zúñiga</a:t>
            </a:r>
          </a:p>
          <a:p>
            <a:pPr>
              <a:lnSpc>
                <a:spcPct val="120000"/>
              </a:lnSpc>
            </a:pPr>
            <a:r>
              <a:rPr lang="es-ES" sz="950" dirty="0">
                <a:solidFill>
                  <a:srgbClr val="94A3B8"/>
                </a:solidFill>
                <a:latin typeface="Arial" pitchFamily="34" charset="0"/>
                <a:cs typeface="Arial" pitchFamily="34" charset="-120"/>
              </a:rPr>
              <a:t>Analista QA : Jose Flores</a:t>
            </a:r>
          </a:p>
          <a:p>
            <a:pPr>
              <a:lnSpc>
                <a:spcPct val="120000"/>
              </a:lnSpc>
            </a:pPr>
            <a:r>
              <a:rPr lang="es-ES" sz="950" noProof="0" dirty="0">
                <a:solidFill>
                  <a:srgbClr val="94A3B8"/>
                </a:solidFill>
                <a:latin typeface="Arial" pitchFamily="34" charset="0"/>
                <a:cs typeface="Arial" pitchFamily="34" charset="-120"/>
              </a:rPr>
              <a:t>Asignación Analista : </a:t>
            </a:r>
            <a:r>
              <a:rPr lang="es-ES" sz="950" dirty="0">
                <a:solidFill>
                  <a:srgbClr val="94A3B8"/>
                </a:solidFill>
                <a:latin typeface="Arial" pitchFamily="34" charset="0"/>
                <a:cs typeface="Arial" pitchFamily="34" charset="-120"/>
              </a:rPr>
              <a:t>100%</a:t>
            </a:r>
            <a:endParaRPr lang="es-ES" sz="950" noProof="0" dirty="0">
              <a:solidFill>
                <a:srgbClr val="94A3B8"/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5FB4BFCF-285E-9A32-74F0-0A814B59B59A}"/>
              </a:ext>
            </a:extLst>
          </p:cNvPr>
          <p:cNvSpPr/>
          <p:nvPr/>
        </p:nvSpPr>
        <p:spPr>
          <a:xfrm>
            <a:off x="4846320" y="1051560"/>
            <a:ext cx="3840480" cy="86868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401BFFF1-6361-BE25-EDFF-3E509AA2014A}"/>
              </a:ext>
            </a:extLst>
          </p:cNvPr>
          <p:cNvSpPr/>
          <p:nvPr/>
        </p:nvSpPr>
        <p:spPr>
          <a:xfrm>
            <a:off x="4846320" y="1051560"/>
            <a:ext cx="36576" cy="86868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2E2B7F44-2C0A-37B3-D95B-14E10A2E0171}"/>
              </a:ext>
            </a:extLst>
          </p:cNvPr>
          <p:cNvSpPr/>
          <p:nvPr/>
        </p:nvSpPr>
        <p:spPr>
          <a:xfrm>
            <a:off x="5029200" y="1124712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750" b="1" kern="0" spc="150" noProof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OBSERVACIONES</a:t>
            </a:r>
            <a:endParaRPr lang="es-CL" sz="750" noProof="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CCA086D2-3399-044D-343C-19DF63533926}"/>
              </a:ext>
            </a:extLst>
          </p:cNvPr>
          <p:cNvSpPr/>
          <p:nvPr/>
        </p:nvSpPr>
        <p:spPr>
          <a:xfrm>
            <a:off x="5029200" y="132588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s-ES" sz="950" dirty="0">
                <a:solidFill>
                  <a:srgbClr val="94A3B8"/>
                </a:solidFill>
                <a:latin typeface="Arial" pitchFamily="34" charset="0"/>
                <a:cs typeface="Arial" pitchFamily="34" charset="-120"/>
              </a:rPr>
              <a:t>S</a:t>
            </a:r>
            <a:r>
              <a:rPr lang="es-CL" sz="950" dirty="0">
                <a:solidFill>
                  <a:srgbClr val="94A3B8"/>
                </a:solidFill>
                <a:latin typeface="Arial" pitchFamily="34" charset="0"/>
                <a:cs typeface="Arial" pitchFamily="34" charset="-120"/>
              </a:rPr>
              <a:t>e debe actualizar plan de pruebas con los comentarios entregados por las usuarias </a:t>
            </a:r>
            <a:endParaRPr lang="es-CL" sz="950" noProof="0" dirty="0"/>
          </a:p>
        </p:txBody>
      </p:sp>
      <p:pic>
        <p:nvPicPr>
          <p:cNvPr id="28" name="Image 0" descr="preencoded.png">
            <a:extLst>
              <a:ext uri="{FF2B5EF4-FFF2-40B4-BE49-F238E27FC236}">
                <a16:creationId xmlns:a16="http://schemas.microsoft.com/office/drawing/2014/main" id="{C228E6BF-2DD8-821F-68E8-21C04FE5268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548640" y="4709160"/>
            <a:ext cx="914400" cy="173736"/>
          </a:xfrm>
          <a:prstGeom prst="rect">
            <a:avLst/>
          </a:prstGeom>
        </p:spPr>
      </p:pic>
      <p:sp>
        <p:nvSpPr>
          <p:cNvPr id="29" name="Text 26">
            <a:extLst>
              <a:ext uri="{FF2B5EF4-FFF2-40B4-BE49-F238E27FC236}">
                <a16:creationId xmlns:a16="http://schemas.microsoft.com/office/drawing/2014/main" id="{015A18B9-CAC5-86E5-1636-50119AB849BC}"/>
              </a:ext>
            </a:extLst>
          </p:cNvPr>
          <p:cNvSpPr/>
          <p:nvPr/>
        </p:nvSpPr>
        <p:spPr>
          <a:xfrm>
            <a:off x="7315200" y="47091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s-CL" sz="900" noProof="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de 13</a:t>
            </a:r>
            <a:endParaRPr lang="es-CL" sz="900" noProof="0" dirty="0"/>
          </a:p>
        </p:txBody>
      </p:sp>
      <p:graphicFrame>
        <p:nvGraphicFramePr>
          <p:cNvPr id="35" name="Tabla QA Metricas 211">
            <a:extLst>
              <a:ext uri="{FF2B5EF4-FFF2-40B4-BE49-F238E27FC236}">
                <a16:creationId xmlns:a16="http://schemas.microsoft.com/office/drawing/2014/main" id="{C94E374C-4D3B-B4CE-D4E2-308306F8BF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7640577"/>
              </p:ext>
            </p:extLst>
          </p:nvPr>
        </p:nvGraphicFramePr>
        <p:xfrm>
          <a:off x="493776" y="3200632"/>
          <a:ext cx="8193026" cy="557784"/>
        </p:xfrm>
        <a:graphic>
          <a:graphicData uri="http://schemas.openxmlformats.org/drawingml/2006/table">
            <a:tbl>
              <a:tblPr firstRow="1"/>
              <a:tblGrid>
                <a:gridCol w="26217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50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73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73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73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737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5667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7858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9pPr>
                    </a:lstStyle>
                    <a:p>
                      <a:pPr algn="ctr"/>
                      <a:r>
                        <a:rPr lang="es-ES" sz="820" b="1" spc="-100" dirty="0">
                          <a:solidFill>
                            <a:srgbClr val="FFFFFF"/>
                          </a:solidFill>
                          <a:latin typeface="Calibri"/>
                        </a:rPr>
                        <a:t>Historia de Usuario</a:t>
                      </a:r>
                    </a:p>
                  </a:txBody>
                  <a:tcPr marL="60960" marR="6096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9pPr>
                    </a:lstStyle>
                    <a:p>
                      <a:pPr algn="ctr"/>
                      <a:r>
                        <a:rPr lang="es-ES" sz="820" b="1" spc="-100" dirty="0">
                          <a:solidFill>
                            <a:srgbClr val="FFFFFF"/>
                          </a:solidFill>
                          <a:latin typeface="Calibri"/>
                        </a:rPr>
                        <a:t>Estado</a:t>
                      </a:r>
                    </a:p>
                  </a:txBody>
                  <a:tcPr marL="60960" marR="6096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9pPr>
                    </a:lstStyle>
                    <a:p>
                      <a:pPr algn="ctr"/>
                      <a:r>
                        <a:rPr lang="es-ES" sz="820" b="1" spc="-100" dirty="0">
                          <a:solidFill>
                            <a:srgbClr val="FFFFFF"/>
                          </a:solidFill>
                          <a:latin typeface="Calibri"/>
                        </a:rPr>
                        <a:t>Consultas
Levantadas</a:t>
                      </a:r>
                    </a:p>
                  </a:txBody>
                  <a:tcPr marL="60960" marR="6096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9pPr>
                    </a:lstStyle>
                    <a:p>
                      <a:pPr algn="ctr"/>
                      <a:r>
                        <a:rPr lang="es-ES" sz="820" b="1" spc="-100" dirty="0">
                          <a:solidFill>
                            <a:srgbClr val="FFFFFF"/>
                          </a:solidFill>
                          <a:latin typeface="Calibri"/>
                        </a:rPr>
                        <a:t>CA
Validados</a:t>
                      </a:r>
                    </a:p>
                  </a:txBody>
                  <a:tcPr marL="60960" marR="6096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9pPr>
                    </a:lstStyle>
                    <a:p>
                      <a:pPr algn="ctr"/>
                      <a:r>
                        <a:rPr lang="es-ES" sz="820" b="1" spc="-100" dirty="0">
                          <a:solidFill>
                            <a:srgbClr val="FFFFFF"/>
                          </a:solidFill>
                          <a:latin typeface="Calibri"/>
                        </a:rPr>
                        <a:t>Casos
Diseñados</a:t>
                      </a:r>
                    </a:p>
                  </a:txBody>
                  <a:tcPr marL="60960" marR="6096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9pPr>
                    </a:lstStyle>
                    <a:p>
                      <a:pPr algn="ctr"/>
                      <a:r>
                        <a:rPr lang="es-ES" sz="820" b="1" spc="-100" dirty="0">
                          <a:solidFill>
                            <a:srgbClr val="FFFFFF"/>
                          </a:solidFill>
                          <a:latin typeface="Calibri"/>
                        </a:rPr>
                        <a:t>Casos
Ejecutados</a:t>
                      </a:r>
                    </a:p>
                  </a:txBody>
                  <a:tcPr marL="60960" marR="6096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9pPr>
                    </a:lstStyle>
                    <a:p>
                      <a:pPr algn="ctr"/>
                      <a:r>
                        <a:rPr lang="es-ES" sz="820" b="1" spc="-100" dirty="0">
                          <a:solidFill>
                            <a:srgbClr val="FFFFFF"/>
                          </a:solidFill>
                          <a:latin typeface="Calibri"/>
                        </a:rPr>
                        <a:t>Bugs
Detectados</a:t>
                      </a:r>
                    </a:p>
                  </a:txBody>
                  <a:tcPr marL="60960" marR="6096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52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858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9pPr>
                    </a:lstStyle>
                    <a:p>
                      <a:pPr algn="l"/>
                      <a:r>
                        <a:rPr lang="es-ES" sz="820" b="0" dirty="0" err="1">
                          <a:solidFill>
                            <a:srgbClr val="1C2833"/>
                          </a:solidFill>
                          <a:latin typeface="Calibri"/>
                        </a:rPr>
                        <a:t>Coil</a:t>
                      </a:r>
                      <a:r>
                        <a:rPr lang="es-ES" sz="820" b="0" dirty="0">
                          <a:solidFill>
                            <a:srgbClr val="1C2833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60960" marR="6096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4F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9pPr>
                    </a:lstStyle>
                    <a:p>
                      <a:pPr algn="ctr"/>
                      <a:r>
                        <a:rPr lang="es-ES" sz="820" b="1" dirty="0">
                          <a:solidFill>
                            <a:schemeClr val="tx1"/>
                          </a:solidFill>
                          <a:latin typeface="Calibri"/>
                        </a:rPr>
                        <a:t>Diseño</a:t>
                      </a:r>
                    </a:p>
                  </a:txBody>
                  <a:tcPr marL="60960" marR="6096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9pPr>
                    </a:lstStyle>
                    <a:p>
                      <a:pPr algn="ctr"/>
                      <a:r>
                        <a:rPr lang="es-ES" sz="820" b="0" dirty="0">
                          <a:solidFill>
                            <a:srgbClr val="1C283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60960" marR="6096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4F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9pPr>
                    </a:lstStyle>
                    <a:p>
                      <a:pPr algn="ctr"/>
                      <a:r>
                        <a:rPr lang="es-ES" sz="820" b="0" dirty="0">
                          <a:solidFill>
                            <a:srgbClr val="1C283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60960" marR="6096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4F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9pPr>
                    </a:lstStyle>
                    <a:p>
                      <a:pPr algn="ctr"/>
                      <a:r>
                        <a:rPr lang="es-ES" sz="820" b="0" dirty="0">
                          <a:solidFill>
                            <a:srgbClr val="1C2833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L="60960" marR="6096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4F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9pPr>
                    </a:lstStyle>
                    <a:p>
                      <a:pPr algn="ctr"/>
                      <a:r>
                        <a:rPr lang="es-ES" sz="820" b="0" dirty="0">
                          <a:solidFill>
                            <a:srgbClr val="1C2833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60960" marR="6096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4F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9pPr>
                    </a:lstStyle>
                    <a:p>
                      <a:pPr algn="ctr"/>
                      <a:r>
                        <a:rPr lang="es-ES" sz="820" b="0" dirty="0">
                          <a:solidFill>
                            <a:srgbClr val="1C28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0960" marR="6096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7" name="LabelBar 210">
            <a:extLst>
              <a:ext uri="{FF2B5EF4-FFF2-40B4-BE49-F238E27FC236}">
                <a16:creationId xmlns:a16="http://schemas.microsoft.com/office/drawing/2014/main" id="{09AC0208-D314-B219-9124-CE50C8AAF38A}"/>
              </a:ext>
            </a:extLst>
          </p:cNvPr>
          <p:cNvSpPr txBox="1"/>
          <p:nvPr/>
        </p:nvSpPr>
        <p:spPr>
          <a:xfrm>
            <a:off x="479359" y="2901039"/>
            <a:ext cx="8207443" cy="280000"/>
          </a:xfrm>
          <a:prstGeom prst="rect">
            <a:avLst/>
          </a:prstGeom>
          <a:solidFill>
            <a:srgbClr val="2D8DBB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9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MÉTRICAS POR HISTORIA DE USUARIO — COIL</a:t>
            </a:r>
          </a:p>
        </p:txBody>
      </p:sp>
      <p:pic>
        <p:nvPicPr>
          <p:cNvPr id="8" name="Picture 2" descr="Logos - Imagen UDD">
            <a:extLst>
              <a:ext uri="{FF2B5EF4-FFF2-40B4-BE49-F238E27FC236}">
                <a16:creationId xmlns:a16="http://schemas.microsoft.com/office/drawing/2014/main" id="{455D3C60-2DDF-731F-5DF5-0D9A0C36E8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6823" y="0"/>
            <a:ext cx="1828800" cy="642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93810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3F657E-10CA-CED9-2E08-C7F01CE38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ED893DB-04AE-75E3-F67C-9F21E06FC191}"/>
              </a:ext>
            </a:extLst>
          </p:cNvPr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6A7D5F2-B3EE-D01A-E282-8838154F07F4}"/>
              </a:ext>
            </a:extLst>
          </p:cNvPr>
          <p:cNvSpPr/>
          <p:nvPr/>
        </p:nvSpPr>
        <p:spPr>
          <a:xfrm>
            <a:off x="457200" y="3200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3400" b="1" noProof="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Certificaciones</a:t>
            </a:r>
            <a:endParaRPr lang="es-CL" sz="3400" noProof="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29165D3-21C0-ABF3-4C4A-0A6C76FD2C3A}"/>
              </a:ext>
            </a:extLst>
          </p:cNvPr>
          <p:cNvSpPr/>
          <p:nvPr/>
        </p:nvSpPr>
        <p:spPr>
          <a:xfrm>
            <a:off x="457200" y="1051560"/>
            <a:ext cx="3840480" cy="86868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AAC9F571-C0A9-4A48-ED01-57FDCE359AE7}"/>
              </a:ext>
            </a:extLst>
          </p:cNvPr>
          <p:cNvSpPr/>
          <p:nvPr/>
        </p:nvSpPr>
        <p:spPr>
          <a:xfrm>
            <a:off x="457200" y="1051560"/>
            <a:ext cx="36576" cy="86868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8E5C4F1-9C00-EE53-D065-275F4D8263F1}"/>
              </a:ext>
            </a:extLst>
          </p:cNvPr>
          <p:cNvSpPr/>
          <p:nvPr/>
        </p:nvSpPr>
        <p:spPr>
          <a:xfrm>
            <a:off x="640080" y="1124712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750" b="1" kern="0" spc="150" dirty="0">
                <a:solidFill>
                  <a:srgbClr val="22C55E"/>
                </a:solidFill>
                <a:latin typeface="Arial" pitchFamily="34" charset="0"/>
                <a:cs typeface="Arial" pitchFamily="34" charset="-120"/>
              </a:rPr>
              <a:t>EQUIPO</a:t>
            </a:r>
            <a:endParaRPr lang="es-CL" sz="750" noProof="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B46429A-A696-E88D-3333-5B44C5B468EC}"/>
              </a:ext>
            </a:extLst>
          </p:cNvPr>
          <p:cNvSpPr/>
          <p:nvPr/>
        </p:nvSpPr>
        <p:spPr>
          <a:xfrm>
            <a:off x="640080" y="132588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s-ES" sz="950" noProof="0" dirty="0">
                <a:solidFill>
                  <a:srgbClr val="94A3B8"/>
                </a:solidFill>
                <a:latin typeface="Arial" pitchFamily="34" charset="0"/>
                <a:cs typeface="Arial" pitchFamily="34" charset="-120"/>
              </a:rPr>
              <a:t>Jefe de Proyecto: Alex Zúñiga</a:t>
            </a:r>
          </a:p>
          <a:p>
            <a:pPr>
              <a:lnSpc>
                <a:spcPct val="120000"/>
              </a:lnSpc>
            </a:pPr>
            <a:r>
              <a:rPr lang="es-ES" sz="950" dirty="0">
                <a:solidFill>
                  <a:srgbClr val="94A3B8"/>
                </a:solidFill>
                <a:latin typeface="Arial" pitchFamily="34" charset="0"/>
                <a:cs typeface="Arial" pitchFamily="34" charset="-120"/>
              </a:rPr>
              <a:t>Analista QA : Jose Flores</a:t>
            </a:r>
          </a:p>
          <a:p>
            <a:pPr>
              <a:lnSpc>
                <a:spcPct val="120000"/>
              </a:lnSpc>
            </a:pPr>
            <a:r>
              <a:rPr lang="es-ES" sz="950" noProof="0" dirty="0">
                <a:solidFill>
                  <a:srgbClr val="94A3B8"/>
                </a:solidFill>
                <a:latin typeface="Arial" pitchFamily="34" charset="0"/>
                <a:cs typeface="Arial" pitchFamily="34" charset="-120"/>
              </a:rPr>
              <a:t>Asignación Analista : </a:t>
            </a:r>
            <a:r>
              <a:rPr lang="es-ES" sz="950" dirty="0">
                <a:solidFill>
                  <a:srgbClr val="94A3B8"/>
                </a:solidFill>
                <a:latin typeface="Arial" pitchFamily="34" charset="0"/>
                <a:cs typeface="Arial" pitchFamily="34" charset="-120"/>
              </a:rPr>
              <a:t>100%</a:t>
            </a:r>
            <a:endParaRPr lang="es-ES" sz="950" noProof="0" dirty="0">
              <a:solidFill>
                <a:srgbClr val="94A3B8"/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E9677EAB-B69D-308B-1047-657122E730B6}"/>
              </a:ext>
            </a:extLst>
          </p:cNvPr>
          <p:cNvSpPr/>
          <p:nvPr/>
        </p:nvSpPr>
        <p:spPr>
          <a:xfrm>
            <a:off x="4846320" y="1051560"/>
            <a:ext cx="3840480" cy="86868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93DB2CFC-1E80-3A4D-48D4-AFE0048DA46A}"/>
              </a:ext>
            </a:extLst>
          </p:cNvPr>
          <p:cNvSpPr/>
          <p:nvPr/>
        </p:nvSpPr>
        <p:spPr>
          <a:xfrm>
            <a:off x="4846320" y="1051560"/>
            <a:ext cx="36576" cy="86868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EE49E116-2CC6-9116-2D69-20422FC02487}"/>
              </a:ext>
            </a:extLst>
          </p:cNvPr>
          <p:cNvSpPr/>
          <p:nvPr/>
        </p:nvSpPr>
        <p:spPr>
          <a:xfrm>
            <a:off x="5029200" y="1124712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750" b="1" kern="0" spc="150" noProof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OBSERVACIONES</a:t>
            </a:r>
            <a:endParaRPr lang="es-CL" sz="750" noProof="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5FF7FD43-0D9F-C275-D566-E1A669BBC272}"/>
              </a:ext>
            </a:extLst>
          </p:cNvPr>
          <p:cNvSpPr/>
          <p:nvPr/>
        </p:nvSpPr>
        <p:spPr>
          <a:xfrm>
            <a:off x="5029200" y="132588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s-ES" sz="950" noProof="0" dirty="0">
                <a:solidFill>
                  <a:srgbClr val="94A3B8"/>
                </a:solidFill>
                <a:latin typeface="Arial" pitchFamily="34" charset="0"/>
                <a:cs typeface="Arial" pitchFamily="34" charset="-120"/>
              </a:rPr>
              <a:t>Se agregan más casos ejecutados por pruebas de borde.</a:t>
            </a:r>
            <a:endParaRPr lang="es-CL" sz="950" noProof="0" dirty="0"/>
          </a:p>
        </p:txBody>
      </p:sp>
      <p:pic>
        <p:nvPicPr>
          <p:cNvPr id="28" name="Image 0" descr="preencoded.png">
            <a:extLst>
              <a:ext uri="{FF2B5EF4-FFF2-40B4-BE49-F238E27FC236}">
                <a16:creationId xmlns:a16="http://schemas.microsoft.com/office/drawing/2014/main" id="{5B53A2F4-BD28-8ACB-384D-1B181667A13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548640" y="4709160"/>
            <a:ext cx="914400" cy="173736"/>
          </a:xfrm>
          <a:prstGeom prst="rect">
            <a:avLst/>
          </a:prstGeom>
        </p:spPr>
      </p:pic>
      <p:sp>
        <p:nvSpPr>
          <p:cNvPr id="29" name="Text 26">
            <a:extLst>
              <a:ext uri="{FF2B5EF4-FFF2-40B4-BE49-F238E27FC236}">
                <a16:creationId xmlns:a16="http://schemas.microsoft.com/office/drawing/2014/main" id="{C310B732-E9B1-F96A-ACDA-EFF6E7F38097}"/>
              </a:ext>
            </a:extLst>
          </p:cNvPr>
          <p:cNvSpPr/>
          <p:nvPr/>
        </p:nvSpPr>
        <p:spPr>
          <a:xfrm>
            <a:off x="7315200" y="47091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s-CL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r>
              <a:rPr lang="es-CL" sz="900" noProof="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13</a:t>
            </a:r>
            <a:endParaRPr lang="es-CL" sz="900" noProof="0" dirty="0"/>
          </a:p>
        </p:txBody>
      </p:sp>
      <p:graphicFrame>
        <p:nvGraphicFramePr>
          <p:cNvPr id="35" name="Tabla QA Metricas 211">
            <a:extLst>
              <a:ext uri="{FF2B5EF4-FFF2-40B4-BE49-F238E27FC236}">
                <a16:creationId xmlns:a16="http://schemas.microsoft.com/office/drawing/2014/main" id="{895B580D-B490-7C88-FABB-544C7772A1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2803924"/>
              </p:ext>
            </p:extLst>
          </p:nvPr>
        </p:nvGraphicFramePr>
        <p:xfrm>
          <a:off x="493776" y="3200632"/>
          <a:ext cx="8193026" cy="557784"/>
        </p:xfrm>
        <a:graphic>
          <a:graphicData uri="http://schemas.openxmlformats.org/drawingml/2006/table">
            <a:tbl>
              <a:tblPr firstRow="1"/>
              <a:tblGrid>
                <a:gridCol w="26217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50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73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73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73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737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5667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7858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9pPr>
                    </a:lstStyle>
                    <a:p>
                      <a:pPr algn="ctr"/>
                      <a:r>
                        <a:rPr lang="es-ES" sz="820" b="1" spc="-100" dirty="0">
                          <a:solidFill>
                            <a:srgbClr val="FFFFFF"/>
                          </a:solidFill>
                          <a:latin typeface="Calibri"/>
                        </a:rPr>
                        <a:t>Historia de Usuario</a:t>
                      </a:r>
                    </a:p>
                  </a:txBody>
                  <a:tcPr marL="60960" marR="6096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9pPr>
                    </a:lstStyle>
                    <a:p>
                      <a:pPr algn="ctr"/>
                      <a:r>
                        <a:rPr lang="es-ES" sz="820" b="1" spc="-100" dirty="0">
                          <a:solidFill>
                            <a:srgbClr val="FFFFFF"/>
                          </a:solidFill>
                          <a:latin typeface="Calibri"/>
                        </a:rPr>
                        <a:t>Estado</a:t>
                      </a:r>
                    </a:p>
                  </a:txBody>
                  <a:tcPr marL="60960" marR="6096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9pPr>
                    </a:lstStyle>
                    <a:p>
                      <a:pPr algn="ctr"/>
                      <a:r>
                        <a:rPr lang="es-ES" sz="820" b="1" spc="-100" dirty="0">
                          <a:solidFill>
                            <a:srgbClr val="FFFFFF"/>
                          </a:solidFill>
                          <a:latin typeface="Calibri"/>
                        </a:rPr>
                        <a:t>Consultas
Levantadas</a:t>
                      </a:r>
                    </a:p>
                  </a:txBody>
                  <a:tcPr marL="60960" marR="6096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9pPr>
                    </a:lstStyle>
                    <a:p>
                      <a:pPr algn="ctr"/>
                      <a:r>
                        <a:rPr lang="es-ES" sz="820" b="1" spc="-100" dirty="0">
                          <a:solidFill>
                            <a:srgbClr val="FFFFFF"/>
                          </a:solidFill>
                          <a:latin typeface="Calibri"/>
                        </a:rPr>
                        <a:t>CA
Validados</a:t>
                      </a:r>
                    </a:p>
                  </a:txBody>
                  <a:tcPr marL="60960" marR="6096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9pPr>
                    </a:lstStyle>
                    <a:p>
                      <a:pPr algn="ctr"/>
                      <a:r>
                        <a:rPr lang="es-ES" sz="820" b="1" spc="-100" dirty="0">
                          <a:solidFill>
                            <a:srgbClr val="FFFFFF"/>
                          </a:solidFill>
                          <a:latin typeface="Calibri"/>
                        </a:rPr>
                        <a:t>Casos
Diseñados</a:t>
                      </a:r>
                    </a:p>
                  </a:txBody>
                  <a:tcPr marL="60960" marR="6096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9pPr>
                    </a:lstStyle>
                    <a:p>
                      <a:pPr algn="ctr"/>
                      <a:r>
                        <a:rPr lang="es-ES" sz="820" b="1" spc="-100" dirty="0">
                          <a:solidFill>
                            <a:srgbClr val="FFFFFF"/>
                          </a:solidFill>
                          <a:latin typeface="Calibri"/>
                        </a:rPr>
                        <a:t>Casos
Ejecutados</a:t>
                      </a:r>
                    </a:p>
                  </a:txBody>
                  <a:tcPr marL="60960" marR="6096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9pPr>
                    </a:lstStyle>
                    <a:p>
                      <a:pPr algn="ctr"/>
                      <a:r>
                        <a:rPr lang="es-ES" sz="820" b="1" spc="-100" dirty="0">
                          <a:solidFill>
                            <a:srgbClr val="FFFFFF"/>
                          </a:solidFill>
                          <a:latin typeface="Calibri"/>
                        </a:rPr>
                        <a:t>Bugs
Detectados</a:t>
                      </a:r>
                    </a:p>
                  </a:txBody>
                  <a:tcPr marL="60960" marR="6096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52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858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820" b="0" dirty="0">
                          <a:solidFill>
                            <a:srgbClr val="1C2833"/>
                          </a:solidFill>
                          <a:latin typeface="Calibri"/>
                        </a:rPr>
                        <a:t>HU Procesamiento Certificaciones</a:t>
                      </a:r>
                    </a:p>
                  </a:txBody>
                  <a:tcPr marL="60960" marR="6096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4F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9pPr>
                    </a:lstStyle>
                    <a:p>
                      <a:pPr algn="ctr"/>
                      <a:r>
                        <a:rPr lang="es-ES" sz="820" b="1" dirty="0">
                          <a:solidFill>
                            <a:srgbClr val="1A5276"/>
                          </a:solidFill>
                          <a:latin typeface="Calibri"/>
                        </a:rPr>
                        <a:t>UAT</a:t>
                      </a:r>
                    </a:p>
                  </a:txBody>
                  <a:tcPr marL="60960" marR="6096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9pPr>
                    </a:lstStyle>
                    <a:p>
                      <a:pPr algn="ctr"/>
                      <a:r>
                        <a:rPr lang="es-ES" sz="820" b="0" dirty="0">
                          <a:solidFill>
                            <a:srgbClr val="1C2833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60960" marR="6096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4F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9pPr>
                    </a:lstStyle>
                    <a:p>
                      <a:pPr algn="ctr"/>
                      <a:r>
                        <a:rPr lang="es-ES" sz="820" b="0" dirty="0">
                          <a:solidFill>
                            <a:srgbClr val="1C283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60960" marR="6096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4F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9pPr>
                    </a:lstStyle>
                    <a:p>
                      <a:pPr algn="ctr"/>
                      <a:r>
                        <a:rPr lang="es-ES" sz="820" b="0" dirty="0">
                          <a:solidFill>
                            <a:srgbClr val="1C2833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 marL="60960" marR="6096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4F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9pPr>
                    </a:lstStyle>
                    <a:p>
                      <a:pPr algn="ctr"/>
                      <a:r>
                        <a:rPr lang="es-ES" sz="820" b="0" dirty="0">
                          <a:solidFill>
                            <a:srgbClr val="1C2833"/>
                          </a:solidFill>
                          <a:latin typeface="Calibri"/>
                        </a:rPr>
                        <a:t>65</a:t>
                      </a:r>
                    </a:p>
                  </a:txBody>
                  <a:tcPr marL="60960" marR="6096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4F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9pPr>
                    </a:lstStyle>
                    <a:p>
                      <a:pPr algn="ctr"/>
                      <a:r>
                        <a:rPr lang="es-ES" sz="820" b="0" dirty="0">
                          <a:solidFill>
                            <a:srgbClr val="1C283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60960" marR="6096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7" name="LabelBar 210">
            <a:extLst>
              <a:ext uri="{FF2B5EF4-FFF2-40B4-BE49-F238E27FC236}">
                <a16:creationId xmlns:a16="http://schemas.microsoft.com/office/drawing/2014/main" id="{1AD24F37-0859-121E-88AA-DACD9F8A1E88}"/>
              </a:ext>
            </a:extLst>
          </p:cNvPr>
          <p:cNvSpPr txBox="1"/>
          <p:nvPr/>
        </p:nvSpPr>
        <p:spPr>
          <a:xfrm>
            <a:off x="479359" y="2901039"/>
            <a:ext cx="8207443" cy="280000"/>
          </a:xfrm>
          <a:prstGeom prst="rect">
            <a:avLst/>
          </a:prstGeom>
          <a:solidFill>
            <a:srgbClr val="2D8DBB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9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MÉTRICAS POR HISTORIA DE USUARIO — CERTIFICACIONES</a:t>
            </a:r>
          </a:p>
        </p:txBody>
      </p:sp>
      <p:pic>
        <p:nvPicPr>
          <p:cNvPr id="8" name="Picture 2" descr="Logos - Imagen UDD">
            <a:extLst>
              <a:ext uri="{FF2B5EF4-FFF2-40B4-BE49-F238E27FC236}">
                <a16:creationId xmlns:a16="http://schemas.microsoft.com/office/drawing/2014/main" id="{DCC2DA4E-75E2-19A0-53C4-8591F7FC74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6823" y="0"/>
            <a:ext cx="1828800" cy="642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28240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E5C152-1A58-8A44-150D-30DDCA647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B513E20-D024-F37E-8B54-039DE53F74DD}"/>
              </a:ext>
            </a:extLst>
          </p:cNvPr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CD2C68B-0D63-856C-DBD3-3A92A3CBDE88}"/>
              </a:ext>
            </a:extLst>
          </p:cNvPr>
          <p:cNvSpPr/>
          <p:nvPr/>
        </p:nvSpPr>
        <p:spPr>
          <a:xfrm>
            <a:off x="457200" y="3200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3400" b="1" noProof="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Tracking</a:t>
            </a:r>
            <a:endParaRPr lang="es-CL" sz="3400" noProof="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495C67C-364E-48C2-ECFC-E1E313F39474}"/>
              </a:ext>
            </a:extLst>
          </p:cNvPr>
          <p:cNvSpPr/>
          <p:nvPr/>
        </p:nvSpPr>
        <p:spPr>
          <a:xfrm>
            <a:off x="457200" y="1051560"/>
            <a:ext cx="3840480" cy="86868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2C4C80B-9E93-B507-08A3-FEAFE7414AB5}"/>
              </a:ext>
            </a:extLst>
          </p:cNvPr>
          <p:cNvSpPr/>
          <p:nvPr/>
        </p:nvSpPr>
        <p:spPr>
          <a:xfrm>
            <a:off x="457200" y="1051560"/>
            <a:ext cx="36576" cy="86868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88ED4D4-D1F0-A3FD-719C-3E8D7302067C}"/>
              </a:ext>
            </a:extLst>
          </p:cNvPr>
          <p:cNvSpPr/>
          <p:nvPr/>
        </p:nvSpPr>
        <p:spPr>
          <a:xfrm>
            <a:off x="640080" y="1124712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750" b="1" kern="0" spc="150" dirty="0">
                <a:solidFill>
                  <a:srgbClr val="22C55E"/>
                </a:solidFill>
                <a:latin typeface="Arial" pitchFamily="34" charset="0"/>
                <a:cs typeface="Arial" pitchFamily="34" charset="-120"/>
              </a:rPr>
              <a:t>EQUIPO</a:t>
            </a:r>
            <a:endParaRPr lang="es-CL" sz="750" noProof="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6B1EFF0-1A5D-83B4-4A49-D9C4F8B9BDF7}"/>
              </a:ext>
            </a:extLst>
          </p:cNvPr>
          <p:cNvSpPr/>
          <p:nvPr/>
        </p:nvSpPr>
        <p:spPr>
          <a:xfrm>
            <a:off x="640080" y="132588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s-ES" sz="950" noProof="0" dirty="0">
                <a:solidFill>
                  <a:srgbClr val="94A3B8"/>
                </a:solidFill>
                <a:latin typeface="Arial" pitchFamily="34" charset="0"/>
                <a:cs typeface="Arial" pitchFamily="34" charset="-120"/>
              </a:rPr>
              <a:t>Jefe de Proyecto	: </a:t>
            </a:r>
            <a:r>
              <a:rPr lang="es-ES" sz="950" dirty="0">
                <a:solidFill>
                  <a:srgbClr val="94A3B8"/>
                </a:solidFill>
                <a:latin typeface="Arial" pitchFamily="34" charset="0"/>
                <a:cs typeface="Arial" pitchFamily="34" charset="-120"/>
              </a:rPr>
              <a:t>Juan Ruz</a:t>
            </a:r>
            <a:endParaRPr lang="es-ES" sz="950" noProof="0" dirty="0">
              <a:solidFill>
                <a:srgbClr val="94A3B8"/>
              </a:solidFill>
              <a:latin typeface="Arial" pitchFamily="34" charset="0"/>
              <a:cs typeface="Arial" pitchFamily="34" charset="-120"/>
            </a:endParaRPr>
          </a:p>
          <a:p>
            <a:pPr>
              <a:lnSpc>
                <a:spcPct val="120000"/>
              </a:lnSpc>
            </a:pPr>
            <a:r>
              <a:rPr lang="es-ES" sz="950" dirty="0">
                <a:solidFill>
                  <a:srgbClr val="94A3B8"/>
                </a:solidFill>
                <a:latin typeface="Arial" pitchFamily="34" charset="0"/>
                <a:cs typeface="Arial" pitchFamily="34" charset="-120"/>
              </a:rPr>
              <a:t>Analista QA 	: Renato Garcia</a:t>
            </a:r>
          </a:p>
          <a:p>
            <a:pPr>
              <a:lnSpc>
                <a:spcPct val="120000"/>
              </a:lnSpc>
            </a:pPr>
            <a:r>
              <a:rPr lang="es-ES" sz="950" noProof="0" dirty="0">
                <a:solidFill>
                  <a:srgbClr val="94A3B8"/>
                </a:solidFill>
                <a:latin typeface="Arial" pitchFamily="34" charset="0"/>
                <a:cs typeface="Arial" pitchFamily="34" charset="-120"/>
              </a:rPr>
              <a:t>Asignación	: 50%</a:t>
            </a: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845FA368-B290-A769-44C1-1AF9AF4E6397}"/>
              </a:ext>
            </a:extLst>
          </p:cNvPr>
          <p:cNvSpPr/>
          <p:nvPr/>
        </p:nvSpPr>
        <p:spPr>
          <a:xfrm>
            <a:off x="4846320" y="1051560"/>
            <a:ext cx="3840480" cy="86868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92925E53-4069-312E-71CA-BE33244690BB}"/>
              </a:ext>
            </a:extLst>
          </p:cNvPr>
          <p:cNvSpPr/>
          <p:nvPr/>
        </p:nvSpPr>
        <p:spPr>
          <a:xfrm>
            <a:off x="4846320" y="1051560"/>
            <a:ext cx="36576" cy="86868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C431C16C-3E11-CA1C-AFE0-80DB109BC320}"/>
              </a:ext>
            </a:extLst>
          </p:cNvPr>
          <p:cNvSpPr/>
          <p:nvPr/>
        </p:nvSpPr>
        <p:spPr>
          <a:xfrm>
            <a:off x="5029200" y="1124712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750" b="1" kern="0" spc="150" noProof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OBSERVACIONES</a:t>
            </a:r>
            <a:endParaRPr lang="es-CL" sz="750" noProof="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92A8AE22-A9ED-B5F2-D682-B69E36CD19B0}"/>
              </a:ext>
            </a:extLst>
          </p:cNvPr>
          <p:cNvSpPr/>
          <p:nvPr/>
        </p:nvSpPr>
        <p:spPr>
          <a:xfrm>
            <a:off x="5029200" y="132588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s-ES" sz="950" noProof="0" dirty="0">
                <a:solidFill>
                  <a:srgbClr val="94A3B8"/>
                </a:solidFill>
                <a:latin typeface="Arial" pitchFamily="34" charset="0"/>
                <a:cs typeface="Arial" pitchFamily="34" charset="-120"/>
              </a:rPr>
              <a:t>HU 14811 </a:t>
            </a:r>
            <a:r>
              <a:rPr lang="es-ES" sz="950" dirty="0">
                <a:solidFill>
                  <a:srgbClr val="94A3B8"/>
                </a:solidFill>
                <a:latin typeface="Arial" pitchFamily="34" charset="0"/>
                <a:cs typeface="Arial" pitchFamily="34" charset="-120"/>
              </a:rPr>
              <a:t>Se requiere refactorizar plan de pruebas por cambios de alcance en la HU.</a:t>
            </a:r>
            <a:br>
              <a:rPr lang="es-ES" sz="950" dirty="0">
                <a:solidFill>
                  <a:srgbClr val="94A3B8"/>
                </a:solidFill>
                <a:latin typeface="Arial" pitchFamily="34" charset="0"/>
                <a:cs typeface="Arial" pitchFamily="34" charset="-120"/>
              </a:rPr>
            </a:br>
            <a:r>
              <a:rPr lang="es-ES" sz="950" dirty="0">
                <a:solidFill>
                  <a:srgbClr val="94A3B8"/>
                </a:solidFill>
                <a:latin typeface="Arial" pitchFamily="34" charset="0"/>
                <a:cs typeface="Arial" pitchFamily="34" charset="-120"/>
              </a:rPr>
              <a:t>HU 14812 Pendiente de solución por Bugs reportado.</a:t>
            </a:r>
            <a:endParaRPr lang="es-ES" sz="950" noProof="0" dirty="0">
              <a:solidFill>
                <a:srgbClr val="94A3B8"/>
              </a:solidFill>
              <a:latin typeface="Arial" pitchFamily="34" charset="0"/>
              <a:cs typeface="Arial" pitchFamily="34" charset="-120"/>
            </a:endParaRPr>
          </a:p>
        </p:txBody>
      </p:sp>
      <p:pic>
        <p:nvPicPr>
          <p:cNvPr id="28" name="Image 0" descr="preencoded.png">
            <a:extLst>
              <a:ext uri="{FF2B5EF4-FFF2-40B4-BE49-F238E27FC236}">
                <a16:creationId xmlns:a16="http://schemas.microsoft.com/office/drawing/2014/main" id="{F4A5EFCE-32F0-FC72-D774-BCF3FC0B0D5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548640" y="4709160"/>
            <a:ext cx="914400" cy="173736"/>
          </a:xfrm>
          <a:prstGeom prst="rect">
            <a:avLst/>
          </a:prstGeom>
        </p:spPr>
      </p:pic>
      <p:sp>
        <p:nvSpPr>
          <p:cNvPr id="29" name="Text 26">
            <a:extLst>
              <a:ext uri="{FF2B5EF4-FFF2-40B4-BE49-F238E27FC236}">
                <a16:creationId xmlns:a16="http://schemas.microsoft.com/office/drawing/2014/main" id="{A55A8AD9-65BD-D0BF-50AB-C01C976CE124}"/>
              </a:ext>
            </a:extLst>
          </p:cNvPr>
          <p:cNvSpPr/>
          <p:nvPr/>
        </p:nvSpPr>
        <p:spPr>
          <a:xfrm>
            <a:off x="7315200" y="47091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s-CL" sz="900" noProof="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de 13</a:t>
            </a:r>
            <a:endParaRPr lang="es-CL" sz="900" noProof="0" dirty="0"/>
          </a:p>
        </p:txBody>
      </p:sp>
      <p:sp>
        <p:nvSpPr>
          <p:cNvPr id="37" name="LabelBar 210">
            <a:extLst>
              <a:ext uri="{FF2B5EF4-FFF2-40B4-BE49-F238E27FC236}">
                <a16:creationId xmlns:a16="http://schemas.microsoft.com/office/drawing/2014/main" id="{D246370E-DC51-5084-D5E8-ADF9D9449244}"/>
              </a:ext>
            </a:extLst>
          </p:cNvPr>
          <p:cNvSpPr txBox="1"/>
          <p:nvPr/>
        </p:nvSpPr>
        <p:spPr>
          <a:xfrm>
            <a:off x="479359" y="2901039"/>
            <a:ext cx="8221858" cy="280000"/>
          </a:xfrm>
          <a:prstGeom prst="rect">
            <a:avLst/>
          </a:prstGeom>
          <a:solidFill>
            <a:srgbClr val="2D8DBB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9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MÉTRICAS POR HISTORIA DE USUARIO — TRACKING</a:t>
            </a:r>
          </a:p>
        </p:txBody>
      </p:sp>
      <p:graphicFrame>
        <p:nvGraphicFramePr>
          <p:cNvPr id="11" name="Tabla QA Metricas 271">
            <a:extLst>
              <a:ext uri="{FF2B5EF4-FFF2-40B4-BE49-F238E27FC236}">
                <a16:creationId xmlns:a16="http://schemas.microsoft.com/office/drawing/2014/main" id="{D0EF9AE8-53B6-7DFC-8E82-39694EB734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6167075"/>
              </p:ext>
            </p:extLst>
          </p:nvPr>
        </p:nvGraphicFramePr>
        <p:xfrm>
          <a:off x="493776" y="3199146"/>
          <a:ext cx="8207441" cy="1026687"/>
        </p:xfrm>
        <a:graphic>
          <a:graphicData uri="http://schemas.openxmlformats.org/drawingml/2006/table">
            <a:tbl>
              <a:tblPr firstRow="1"/>
              <a:tblGrid>
                <a:gridCol w="26263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9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86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86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86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866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5941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4222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9pPr>
                    </a:lstStyle>
                    <a:p>
                      <a:pPr algn="ctr"/>
                      <a:r>
                        <a:rPr lang="es-ES" sz="820" b="1" spc="-100" dirty="0">
                          <a:solidFill>
                            <a:srgbClr val="FFFFFF"/>
                          </a:solidFill>
                          <a:latin typeface="Calibri"/>
                        </a:rPr>
                        <a:t>Historia de Usuario</a:t>
                      </a:r>
                    </a:p>
                  </a:txBody>
                  <a:tcPr marL="60960" marR="6096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9pPr>
                    </a:lstStyle>
                    <a:p>
                      <a:pPr algn="ctr"/>
                      <a:r>
                        <a:rPr lang="es-ES" sz="820" b="1" spc="-100" dirty="0">
                          <a:solidFill>
                            <a:srgbClr val="FFFFFF"/>
                          </a:solidFill>
                          <a:latin typeface="Calibri"/>
                        </a:rPr>
                        <a:t>Estado</a:t>
                      </a:r>
                    </a:p>
                  </a:txBody>
                  <a:tcPr marL="60960" marR="6096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9pPr>
                    </a:lstStyle>
                    <a:p>
                      <a:pPr algn="ctr"/>
                      <a:r>
                        <a:rPr lang="es-ES" sz="820" b="1" spc="-100" dirty="0">
                          <a:solidFill>
                            <a:srgbClr val="FFFFFF"/>
                          </a:solidFill>
                          <a:latin typeface="Calibri"/>
                        </a:rPr>
                        <a:t>Consultas
Levantadas</a:t>
                      </a:r>
                    </a:p>
                  </a:txBody>
                  <a:tcPr marL="60960" marR="6096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9pPr>
                    </a:lstStyle>
                    <a:p>
                      <a:pPr algn="ctr"/>
                      <a:r>
                        <a:rPr lang="es-ES" sz="820" b="1" spc="-100" dirty="0">
                          <a:solidFill>
                            <a:srgbClr val="FFFFFF"/>
                          </a:solidFill>
                          <a:latin typeface="Calibri"/>
                        </a:rPr>
                        <a:t>CA
Validados</a:t>
                      </a:r>
                    </a:p>
                  </a:txBody>
                  <a:tcPr marL="60960" marR="6096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9pPr>
                    </a:lstStyle>
                    <a:p>
                      <a:pPr algn="ctr"/>
                      <a:r>
                        <a:rPr lang="es-ES" sz="820" b="1" spc="-100" dirty="0">
                          <a:solidFill>
                            <a:srgbClr val="FFFFFF"/>
                          </a:solidFill>
                          <a:latin typeface="Calibri"/>
                        </a:rPr>
                        <a:t>Casos
Diseñados</a:t>
                      </a:r>
                    </a:p>
                  </a:txBody>
                  <a:tcPr marL="60960" marR="6096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9pPr>
                    </a:lstStyle>
                    <a:p>
                      <a:pPr algn="ctr"/>
                      <a:r>
                        <a:rPr lang="es-ES" sz="820" b="1" spc="-100" dirty="0">
                          <a:solidFill>
                            <a:srgbClr val="FFFFFF"/>
                          </a:solidFill>
                          <a:latin typeface="Calibri"/>
                        </a:rPr>
                        <a:t>Casos
Ejecutados</a:t>
                      </a:r>
                    </a:p>
                  </a:txBody>
                  <a:tcPr marL="60960" marR="6096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Open Sans"/>
                        </a:defRPr>
                      </a:lvl9pPr>
                    </a:lstStyle>
                    <a:p>
                      <a:pPr algn="ctr"/>
                      <a:r>
                        <a:rPr lang="es-ES" sz="820" b="1" spc="-100" dirty="0">
                          <a:solidFill>
                            <a:srgbClr val="FFFFFF"/>
                          </a:solidFill>
                          <a:latin typeface="Calibri"/>
                        </a:rPr>
                        <a:t>Bugs
Detectados</a:t>
                      </a:r>
                    </a:p>
                  </a:txBody>
                  <a:tcPr marL="60960" marR="6096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52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22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9pPr>
                    </a:lstStyle>
                    <a:p>
                      <a:pPr algn="l"/>
                      <a:r>
                        <a:rPr lang="es-ES" sz="820" b="0" dirty="0">
                          <a:solidFill>
                            <a:srgbClr val="1C2833"/>
                          </a:solidFill>
                          <a:latin typeface="Calibri"/>
                        </a:rPr>
                        <a:t>HU 14812 - URLs visualización con token (Ciclo 2)</a:t>
                      </a:r>
                    </a:p>
                  </a:txBody>
                  <a:tcPr marL="60960" marR="6096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4F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9pPr>
                    </a:lstStyle>
                    <a:p>
                      <a:pPr algn="ctr"/>
                      <a:r>
                        <a:rPr lang="es-ES" sz="800" b="1" dirty="0">
                          <a:solidFill>
                            <a:schemeClr val="tx1"/>
                          </a:solidFill>
                          <a:latin typeface="Calibri"/>
                        </a:rPr>
                        <a:t>Devuelto a Desarrollo</a:t>
                      </a:r>
                    </a:p>
                  </a:txBody>
                  <a:tcPr marL="60960" marR="6096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9pPr>
                    </a:lstStyle>
                    <a:p>
                      <a:pPr algn="ctr"/>
                      <a:r>
                        <a:rPr lang="es-ES" sz="820" b="0" dirty="0">
                          <a:solidFill>
                            <a:srgbClr val="1C283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60960" marR="6096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4F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9pPr>
                    </a:lstStyle>
                    <a:p>
                      <a:pPr algn="ctr"/>
                      <a:r>
                        <a:rPr lang="es-ES" sz="820" b="0" dirty="0">
                          <a:solidFill>
                            <a:srgbClr val="1C283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60960" marR="6096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4F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9pPr>
                    </a:lstStyle>
                    <a:p>
                      <a:pPr algn="ctr"/>
                      <a:r>
                        <a:rPr lang="es-ES" sz="820" b="0" dirty="0">
                          <a:solidFill>
                            <a:srgbClr val="1C2833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60960" marR="6096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4F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9pPr>
                    </a:lstStyle>
                    <a:p>
                      <a:pPr algn="ctr"/>
                      <a:r>
                        <a:rPr lang="es-ES" sz="820" b="0" dirty="0">
                          <a:solidFill>
                            <a:srgbClr val="1C2833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60960" marR="6096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4F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9pPr>
                    </a:lstStyle>
                    <a:p>
                      <a:pPr algn="ctr"/>
                      <a:r>
                        <a:rPr lang="es-ES" sz="820" b="0" dirty="0">
                          <a:solidFill>
                            <a:srgbClr val="1C28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0960" marR="6096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22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9pPr>
                    </a:lstStyle>
                    <a:p>
                      <a:pPr algn="l"/>
                      <a:r>
                        <a:rPr lang="es-ES" sz="820" b="0" dirty="0">
                          <a:solidFill>
                            <a:srgbClr val="1C2833"/>
                          </a:solidFill>
                          <a:latin typeface="Calibri"/>
                        </a:rPr>
                        <a:t>HU 14811 - Filtrar solicitudes por rol </a:t>
                      </a:r>
                    </a:p>
                  </a:txBody>
                  <a:tcPr marL="60960" marR="6096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9pPr>
                    </a:lstStyle>
                    <a:p>
                      <a:pPr algn="ctr"/>
                      <a:r>
                        <a:rPr lang="es-ES" sz="800" b="1" dirty="0">
                          <a:solidFill>
                            <a:schemeClr val="tx1"/>
                          </a:solidFill>
                          <a:latin typeface="Calibri"/>
                        </a:rPr>
                        <a:t>Pdte. Por cambio de alcance.</a:t>
                      </a:r>
                    </a:p>
                  </a:txBody>
                  <a:tcPr marL="60960" marR="6096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9pPr>
                    </a:lstStyle>
                    <a:p>
                      <a:pPr algn="ctr"/>
                      <a:r>
                        <a:rPr lang="es-ES" sz="820" b="0" dirty="0">
                          <a:solidFill>
                            <a:srgbClr val="1C283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60960" marR="6096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9pPr>
                    </a:lstStyle>
                    <a:p>
                      <a:pPr algn="ctr"/>
                      <a:r>
                        <a:rPr lang="es-ES" sz="820" b="0" dirty="0">
                          <a:solidFill>
                            <a:srgbClr val="1C283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60960" marR="6096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9pPr>
                    </a:lstStyle>
                    <a:p>
                      <a:pPr algn="ctr"/>
                      <a:r>
                        <a:rPr lang="es-ES" sz="820" b="0" dirty="0">
                          <a:solidFill>
                            <a:srgbClr val="1C2833"/>
                          </a:solidFill>
                          <a:latin typeface="Calibri"/>
                        </a:rPr>
                        <a:t>41</a:t>
                      </a:r>
                    </a:p>
                  </a:txBody>
                  <a:tcPr marL="60960" marR="6096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9pPr>
                    </a:lstStyle>
                    <a:p>
                      <a:pPr algn="ctr"/>
                      <a:r>
                        <a:rPr lang="es-ES" sz="820" b="0" dirty="0">
                          <a:solidFill>
                            <a:srgbClr val="1C28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0960" marR="6096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Open Sans"/>
                        </a:defRPr>
                      </a:lvl9pPr>
                    </a:lstStyle>
                    <a:p>
                      <a:pPr algn="ctr"/>
                      <a:r>
                        <a:rPr lang="es-ES" sz="820" b="0" dirty="0">
                          <a:solidFill>
                            <a:srgbClr val="1C28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0960" marR="6096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E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2" name="Picture 2" descr="Logos - Imagen UDD">
            <a:extLst>
              <a:ext uri="{FF2B5EF4-FFF2-40B4-BE49-F238E27FC236}">
                <a16:creationId xmlns:a16="http://schemas.microsoft.com/office/drawing/2014/main" id="{049F0F5D-6839-EFE0-6DD2-00FF2ABE67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6823" y="0"/>
            <a:ext cx="1828800" cy="642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9659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55385D-23EA-6414-170D-28F29BFB5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71D9FFC-26F1-2763-7D67-0BCE2DDB7F8D}"/>
              </a:ext>
            </a:extLst>
          </p:cNvPr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F682529-587F-B973-3B92-8FC8A7531F06}"/>
              </a:ext>
            </a:extLst>
          </p:cNvPr>
          <p:cNvSpPr/>
          <p:nvPr/>
        </p:nvSpPr>
        <p:spPr>
          <a:xfrm>
            <a:off x="457200" y="3200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3400" b="1" noProof="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Evaluación Docente</a:t>
            </a:r>
            <a:endParaRPr lang="es-CL" sz="3400" noProof="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0090619-6841-91A7-5499-0FD0457A76F1}"/>
              </a:ext>
            </a:extLst>
          </p:cNvPr>
          <p:cNvSpPr/>
          <p:nvPr/>
        </p:nvSpPr>
        <p:spPr>
          <a:xfrm>
            <a:off x="457200" y="1051560"/>
            <a:ext cx="3840480" cy="86868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8168B2A5-35E3-F654-BB5F-A014F82245B8}"/>
              </a:ext>
            </a:extLst>
          </p:cNvPr>
          <p:cNvSpPr/>
          <p:nvPr/>
        </p:nvSpPr>
        <p:spPr>
          <a:xfrm>
            <a:off x="457200" y="1051560"/>
            <a:ext cx="36576" cy="86868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6A7AD1E-6EC1-0B53-6FC7-B02AF702D44F}"/>
              </a:ext>
            </a:extLst>
          </p:cNvPr>
          <p:cNvSpPr/>
          <p:nvPr/>
        </p:nvSpPr>
        <p:spPr>
          <a:xfrm>
            <a:off x="640080" y="1124712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750" b="1" kern="0" spc="150" dirty="0">
                <a:solidFill>
                  <a:srgbClr val="22C55E"/>
                </a:solidFill>
                <a:latin typeface="Arial" pitchFamily="34" charset="0"/>
                <a:cs typeface="Arial" pitchFamily="34" charset="-120"/>
              </a:rPr>
              <a:t>EQUIPO</a:t>
            </a:r>
            <a:endParaRPr lang="es-CL" sz="750" noProof="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5A07106-63F5-EC47-339D-B073C87677FA}"/>
              </a:ext>
            </a:extLst>
          </p:cNvPr>
          <p:cNvSpPr/>
          <p:nvPr/>
        </p:nvSpPr>
        <p:spPr>
          <a:xfrm>
            <a:off x="640080" y="132588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s-ES" sz="950" noProof="0" dirty="0">
                <a:solidFill>
                  <a:srgbClr val="94A3B8"/>
                </a:solidFill>
                <a:latin typeface="Arial" pitchFamily="34" charset="0"/>
                <a:cs typeface="Arial" pitchFamily="34" charset="-120"/>
              </a:rPr>
              <a:t>Jefe de Proyecto	: Alex Zuñiga</a:t>
            </a:r>
          </a:p>
          <a:p>
            <a:pPr>
              <a:lnSpc>
                <a:spcPct val="120000"/>
              </a:lnSpc>
            </a:pPr>
            <a:r>
              <a:rPr lang="es-ES" sz="950" dirty="0">
                <a:solidFill>
                  <a:srgbClr val="94A3B8"/>
                </a:solidFill>
                <a:latin typeface="Arial" pitchFamily="34" charset="0"/>
                <a:cs typeface="Arial" pitchFamily="34" charset="-120"/>
              </a:rPr>
              <a:t>Analista QA 	: Renato Garcia</a:t>
            </a:r>
          </a:p>
          <a:p>
            <a:pPr>
              <a:lnSpc>
                <a:spcPct val="120000"/>
              </a:lnSpc>
            </a:pPr>
            <a:r>
              <a:rPr lang="es-ES" sz="950" noProof="0" dirty="0">
                <a:solidFill>
                  <a:srgbClr val="94A3B8"/>
                </a:solidFill>
                <a:latin typeface="Arial" pitchFamily="34" charset="0"/>
                <a:cs typeface="Arial" pitchFamily="34" charset="-120"/>
              </a:rPr>
              <a:t>Asignación	: 50%</a:t>
            </a: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CBC80047-DED4-29D8-820B-A310C3FBD160}"/>
              </a:ext>
            </a:extLst>
          </p:cNvPr>
          <p:cNvSpPr/>
          <p:nvPr/>
        </p:nvSpPr>
        <p:spPr>
          <a:xfrm>
            <a:off x="4846320" y="1051560"/>
            <a:ext cx="3840480" cy="86868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829300F5-E082-6006-4245-8A646F804239}"/>
              </a:ext>
            </a:extLst>
          </p:cNvPr>
          <p:cNvSpPr/>
          <p:nvPr/>
        </p:nvSpPr>
        <p:spPr>
          <a:xfrm>
            <a:off x="4846320" y="1051560"/>
            <a:ext cx="36576" cy="86868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B4FD0F12-DF00-16E5-80AC-F93472A8D3F2}"/>
              </a:ext>
            </a:extLst>
          </p:cNvPr>
          <p:cNvSpPr/>
          <p:nvPr/>
        </p:nvSpPr>
        <p:spPr>
          <a:xfrm>
            <a:off x="5029200" y="1124712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750" b="1" kern="0" spc="150" noProof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OBSERVACIONES</a:t>
            </a:r>
            <a:endParaRPr lang="es-CL" sz="750" noProof="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071C5309-E2DF-1C40-E7E7-9712CA8BB4FF}"/>
              </a:ext>
            </a:extLst>
          </p:cNvPr>
          <p:cNvSpPr/>
          <p:nvPr/>
        </p:nvSpPr>
        <p:spPr>
          <a:xfrm>
            <a:off x="5029200" y="132588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s-ES" sz="950" noProof="0" dirty="0">
                <a:solidFill>
                  <a:srgbClr val="94A3B8"/>
                </a:solidFill>
                <a:latin typeface="Arial" pitchFamily="34" charset="0"/>
                <a:cs typeface="Arial" pitchFamily="34" charset="-120"/>
              </a:rPr>
              <a:t>Se realiza el paso a producción de la iniciativa evaluación docente. </a:t>
            </a:r>
          </a:p>
        </p:txBody>
      </p:sp>
      <p:pic>
        <p:nvPicPr>
          <p:cNvPr id="28" name="Image 0" descr="preencoded.png">
            <a:extLst>
              <a:ext uri="{FF2B5EF4-FFF2-40B4-BE49-F238E27FC236}">
                <a16:creationId xmlns:a16="http://schemas.microsoft.com/office/drawing/2014/main" id="{3CF25E70-640F-88E5-1416-A008119FDCF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548640" y="4709160"/>
            <a:ext cx="914400" cy="173736"/>
          </a:xfrm>
          <a:prstGeom prst="rect">
            <a:avLst/>
          </a:prstGeom>
        </p:spPr>
      </p:pic>
      <p:sp>
        <p:nvSpPr>
          <p:cNvPr id="29" name="Text 26">
            <a:extLst>
              <a:ext uri="{FF2B5EF4-FFF2-40B4-BE49-F238E27FC236}">
                <a16:creationId xmlns:a16="http://schemas.microsoft.com/office/drawing/2014/main" id="{CEF96BCA-30BD-B436-D23C-B3059CE6AB25}"/>
              </a:ext>
            </a:extLst>
          </p:cNvPr>
          <p:cNvSpPr/>
          <p:nvPr/>
        </p:nvSpPr>
        <p:spPr>
          <a:xfrm>
            <a:off x="7315200" y="47091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s-CL" sz="900" noProof="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de 13</a:t>
            </a:r>
            <a:endParaRPr lang="es-CL" sz="900" noProof="0" dirty="0"/>
          </a:p>
        </p:txBody>
      </p:sp>
      <p:sp>
        <p:nvSpPr>
          <p:cNvPr id="37" name="LabelBar 210">
            <a:extLst>
              <a:ext uri="{FF2B5EF4-FFF2-40B4-BE49-F238E27FC236}">
                <a16:creationId xmlns:a16="http://schemas.microsoft.com/office/drawing/2014/main" id="{A4606414-C5ED-1ED2-F67C-3736E634B9CF}"/>
              </a:ext>
            </a:extLst>
          </p:cNvPr>
          <p:cNvSpPr txBox="1"/>
          <p:nvPr/>
        </p:nvSpPr>
        <p:spPr>
          <a:xfrm>
            <a:off x="479359" y="2901039"/>
            <a:ext cx="8221858" cy="280000"/>
          </a:xfrm>
          <a:prstGeom prst="rect">
            <a:avLst/>
          </a:prstGeom>
          <a:solidFill>
            <a:srgbClr val="2D8DBB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9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MÉTRICAS POR HISTORIA DE USUARIO — TRACKING</a:t>
            </a:r>
          </a:p>
        </p:txBody>
      </p:sp>
      <p:graphicFrame>
        <p:nvGraphicFramePr>
          <p:cNvPr id="10" name="Tabla QA Metricas 291">
            <a:extLst>
              <a:ext uri="{FF2B5EF4-FFF2-40B4-BE49-F238E27FC236}">
                <a16:creationId xmlns:a16="http://schemas.microsoft.com/office/drawing/2014/main" id="{21D10056-E007-869B-9EBB-C796FC825E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0226746"/>
              </p:ext>
            </p:extLst>
          </p:nvPr>
        </p:nvGraphicFramePr>
        <p:xfrm>
          <a:off x="493776" y="3212092"/>
          <a:ext cx="8221858" cy="780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309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88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99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99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99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996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6215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90000">
                <a:tc>
                  <a:txBody>
                    <a:bodyPr/>
                    <a:lstStyle/>
                    <a:p>
                      <a:pPr algn="ctr"/>
                      <a:r>
                        <a:rPr lang="es-ES" sz="820" b="1" spc="-100" dirty="0">
                          <a:solidFill>
                            <a:srgbClr val="FFFFFF"/>
                          </a:solidFill>
                          <a:latin typeface="Calibri"/>
                        </a:rPr>
                        <a:t>Historia de Usuario</a:t>
                      </a:r>
                    </a:p>
                  </a:txBody>
                  <a:tcPr marL="60960" marR="60960"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820" b="1" spc="-100" dirty="0">
                          <a:solidFill>
                            <a:srgbClr val="FFFFFF"/>
                          </a:solidFill>
                          <a:latin typeface="Calibri"/>
                        </a:rPr>
                        <a:t>Estado</a:t>
                      </a:r>
                    </a:p>
                  </a:txBody>
                  <a:tcPr marL="60960" marR="60960"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820" b="1" spc="-100" dirty="0">
                          <a:solidFill>
                            <a:srgbClr val="FFFFFF"/>
                          </a:solidFill>
                          <a:latin typeface="Calibri"/>
                        </a:rPr>
                        <a:t>Consultas
Levantadas</a:t>
                      </a:r>
                    </a:p>
                  </a:txBody>
                  <a:tcPr marL="60960" marR="60960"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820" b="1" spc="-100" dirty="0">
                          <a:solidFill>
                            <a:srgbClr val="FFFFFF"/>
                          </a:solidFill>
                          <a:latin typeface="Calibri"/>
                        </a:rPr>
                        <a:t>CA
Validados</a:t>
                      </a:r>
                    </a:p>
                  </a:txBody>
                  <a:tcPr marL="60960" marR="60960"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820" b="1" spc="-100" dirty="0">
                          <a:solidFill>
                            <a:srgbClr val="FFFFFF"/>
                          </a:solidFill>
                          <a:latin typeface="Calibri"/>
                        </a:rPr>
                        <a:t>Casos
Diseñados</a:t>
                      </a:r>
                    </a:p>
                  </a:txBody>
                  <a:tcPr marL="60960" marR="60960"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820" b="1" spc="-100" dirty="0">
                          <a:solidFill>
                            <a:srgbClr val="FFFFFF"/>
                          </a:solidFill>
                          <a:latin typeface="Calibri"/>
                        </a:rPr>
                        <a:t>Casos
Ejecutados</a:t>
                      </a:r>
                    </a:p>
                  </a:txBody>
                  <a:tcPr marL="60960" marR="60960"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820" b="1" spc="-100" dirty="0">
                          <a:solidFill>
                            <a:srgbClr val="FFFFFF"/>
                          </a:solidFill>
                          <a:latin typeface="Calibri"/>
                        </a:rPr>
                        <a:t>Bugs
Detectados</a:t>
                      </a:r>
                    </a:p>
                  </a:txBody>
                  <a:tcPr marL="60960" marR="60960">
                    <a:solidFill>
                      <a:srgbClr val="1A52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000">
                <a:tc>
                  <a:txBody>
                    <a:bodyPr/>
                    <a:lstStyle/>
                    <a:p>
                      <a:pPr algn="l"/>
                      <a:r>
                        <a:rPr lang="es-ES" sz="820" b="0" dirty="0">
                          <a:solidFill>
                            <a:srgbClr val="1C2833"/>
                          </a:solidFill>
                          <a:latin typeface="Calibri"/>
                        </a:rPr>
                        <a:t>Ciclo Regresión Eval. Docente (ciclo 2)</a:t>
                      </a:r>
                    </a:p>
                  </a:txBody>
                  <a:tcPr marL="60960" marR="60960">
                    <a:solidFill>
                      <a:srgbClr val="EB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820" b="1" dirty="0">
                          <a:solidFill>
                            <a:srgbClr val="1E8449"/>
                          </a:solidFill>
                          <a:latin typeface="Calibri"/>
                        </a:rPr>
                        <a:t>Entregado y en PRD</a:t>
                      </a:r>
                    </a:p>
                  </a:txBody>
                  <a:tcPr marL="60960" marR="60960"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820" b="0" dirty="0">
                          <a:solidFill>
                            <a:srgbClr val="1C2833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60960" marR="60960">
                    <a:solidFill>
                      <a:srgbClr val="EB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820" b="0" dirty="0">
                          <a:solidFill>
                            <a:srgbClr val="1C2833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60960" marR="60960">
                    <a:solidFill>
                      <a:srgbClr val="EB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820" b="0" dirty="0">
                          <a:solidFill>
                            <a:srgbClr val="1C2833"/>
                          </a:solidFill>
                          <a:latin typeface="Calibri"/>
                        </a:rPr>
                        <a:t>174</a:t>
                      </a:r>
                    </a:p>
                  </a:txBody>
                  <a:tcPr marL="60960" marR="60960">
                    <a:solidFill>
                      <a:srgbClr val="EB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820" b="0" dirty="0">
                          <a:solidFill>
                            <a:srgbClr val="1C283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60960" marR="60960">
                    <a:solidFill>
                      <a:srgbClr val="EB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820" b="0" dirty="0">
                          <a:solidFill>
                            <a:srgbClr val="1C28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60960" marR="60960">
                    <a:solidFill>
                      <a:srgbClr val="EB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2" name="Picture 2" descr="Logos - Imagen UDD">
            <a:extLst>
              <a:ext uri="{FF2B5EF4-FFF2-40B4-BE49-F238E27FC236}">
                <a16:creationId xmlns:a16="http://schemas.microsoft.com/office/drawing/2014/main" id="{86516DC2-32C9-DA32-5C9A-4749E4129B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6823" y="0"/>
            <a:ext cx="1828800" cy="642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1838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657DBB-BCB1-5E8E-7B29-3B612E7CA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28D6702-6D3E-6EF7-38A4-21F04358430B}"/>
              </a:ext>
            </a:extLst>
          </p:cNvPr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6BC3ABB-9F94-AB81-E336-D83048AA2718}"/>
              </a:ext>
            </a:extLst>
          </p:cNvPr>
          <p:cNvSpPr/>
          <p:nvPr/>
        </p:nvSpPr>
        <p:spPr>
          <a:xfrm>
            <a:off x="457200" y="3200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3400" b="1" noProof="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de Notas</a:t>
            </a:r>
            <a:endParaRPr lang="es-CL" sz="3400" noProof="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A271C25-81DC-5CBA-FA06-B91ADF9AAEF8}"/>
              </a:ext>
            </a:extLst>
          </p:cNvPr>
          <p:cNvSpPr/>
          <p:nvPr/>
        </p:nvSpPr>
        <p:spPr>
          <a:xfrm>
            <a:off x="457200" y="1051560"/>
            <a:ext cx="3840480" cy="86868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95B446F2-345B-90AC-6C3C-7DF4471650E9}"/>
              </a:ext>
            </a:extLst>
          </p:cNvPr>
          <p:cNvSpPr/>
          <p:nvPr/>
        </p:nvSpPr>
        <p:spPr>
          <a:xfrm>
            <a:off x="457200" y="1051560"/>
            <a:ext cx="36576" cy="86868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EB58EAB-C6EB-3AF9-1FAB-3AE4A65E3DFD}"/>
              </a:ext>
            </a:extLst>
          </p:cNvPr>
          <p:cNvSpPr/>
          <p:nvPr/>
        </p:nvSpPr>
        <p:spPr>
          <a:xfrm>
            <a:off x="640080" y="1124712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750" b="1" kern="0" spc="150" dirty="0">
                <a:solidFill>
                  <a:srgbClr val="22C55E"/>
                </a:solidFill>
                <a:latin typeface="Arial" pitchFamily="34" charset="0"/>
                <a:cs typeface="Arial" pitchFamily="34" charset="-120"/>
              </a:rPr>
              <a:t>EQUIPO</a:t>
            </a:r>
            <a:endParaRPr lang="es-CL" sz="750" noProof="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1D0071A-FCB5-9D1F-DF92-531412CC702F}"/>
              </a:ext>
            </a:extLst>
          </p:cNvPr>
          <p:cNvSpPr/>
          <p:nvPr/>
        </p:nvSpPr>
        <p:spPr>
          <a:xfrm>
            <a:off x="640080" y="132588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s-ES" sz="950" noProof="0" dirty="0">
                <a:solidFill>
                  <a:srgbClr val="94A3B8"/>
                </a:solidFill>
                <a:latin typeface="Arial" pitchFamily="34" charset="0"/>
                <a:cs typeface="Arial" pitchFamily="34" charset="-120"/>
              </a:rPr>
              <a:t>Jefe de Proyecto	: </a:t>
            </a:r>
            <a:r>
              <a:rPr lang="es-ES" sz="950" dirty="0">
                <a:solidFill>
                  <a:srgbClr val="94A3B8"/>
                </a:solidFill>
                <a:latin typeface="Arial" pitchFamily="34" charset="0"/>
                <a:cs typeface="Arial" pitchFamily="34" charset="-120"/>
              </a:rPr>
              <a:t>Mauricio Larrondo – Alex Zuñiga</a:t>
            </a:r>
            <a:endParaRPr lang="es-ES" sz="950" noProof="0" dirty="0">
              <a:solidFill>
                <a:srgbClr val="94A3B8"/>
              </a:solidFill>
              <a:latin typeface="Arial" pitchFamily="34" charset="0"/>
              <a:cs typeface="Arial" pitchFamily="34" charset="-120"/>
            </a:endParaRPr>
          </a:p>
          <a:p>
            <a:pPr>
              <a:lnSpc>
                <a:spcPct val="120000"/>
              </a:lnSpc>
            </a:pPr>
            <a:r>
              <a:rPr lang="es-ES" sz="950" dirty="0">
                <a:solidFill>
                  <a:srgbClr val="94A3B8"/>
                </a:solidFill>
                <a:latin typeface="Arial" pitchFamily="34" charset="0"/>
                <a:cs typeface="Arial" pitchFamily="34" charset="-120"/>
              </a:rPr>
              <a:t>Analista QA 	: Renato Garcia</a:t>
            </a:r>
          </a:p>
          <a:p>
            <a:pPr>
              <a:lnSpc>
                <a:spcPct val="120000"/>
              </a:lnSpc>
            </a:pPr>
            <a:r>
              <a:rPr lang="es-ES" sz="950" noProof="0" dirty="0">
                <a:solidFill>
                  <a:srgbClr val="94A3B8"/>
                </a:solidFill>
                <a:latin typeface="Arial" pitchFamily="34" charset="0"/>
                <a:cs typeface="Arial" pitchFamily="34" charset="-120"/>
              </a:rPr>
              <a:t>Asignación	: 50%</a:t>
            </a: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EE692644-6E67-FE86-F469-AA31F6722A06}"/>
              </a:ext>
            </a:extLst>
          </p:cNvPr>
          <p:cNvSpPr/>
          <p:nvPr/>
        </p:nvSpPr>
        <p:spPr>
          <a:xfrm>
            <a:off x="4846320" y="1051560"/>
            <a:ext cx="3840480" cy="86868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A9E0348D-511F-A2A1-A92D-46E5694F1820}"/>
              </a:ext>
            </a:extLst>
          </p:cNvPr>
          <p:cNvSpPr/>
          <p:nvPr/>
        </p:nvSpPr>
        <p:spPr>
          <a:xfrm>
            <a:off x="4846320" y="1051560"/>
            <a:ext cx="36576" cy="86868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BBC20F33-92DD-F165-10F2-A5726BD568F3}"/>
              </a:ext>
            </a:extLst>
          </p:cNvPr>
          <p:cNvSpPr/>
          <p:nvPr/>
        </p:nvSpPr>
        <p:spPr>
          <a:xfrm>
            <a:off x="5029200" y="1124712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750" b="1" kern="0" spc="150" noProof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OBSERVACIONES</a:t>
            </a:r>
            <a:endParaRPr lang="es-CL" sz="750" noProof="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4B9AD6D8-2C4F-D12C-707B-D2EA1CC173D9}"/>
              </a:ext>
            </a:extLst>
          </p:cNvPr>
          <p:cNvSpPr/>
          <p:nvPr/>
        </p:nvSpPr>
        <p:spPr>
          <a:xfrm>
            <a:off x="5029200" y="132588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s-ES" sz="950" dirty="0">
                <a:solidFill>
                  <a:srgbClr val="94A3B8"/>
                </a:solidFill>
                <a:latin typeface="Arial" pitchFamily="34" charset="0"/>
                <a:cs typeface="Arial" pitchFamily="34" charset="-120"/>
              </a:rPr>
              <a:t>Se realizará planificación para tomar los requerimientos</a:t>
            </a:r>
            <a:endParaRPr lang="es-ES" sz="950" noProof="0" dirty="0">
              <a:solidFill>
                <a:srgbClr val="94A3B8"/>
              </a:solidFill>
              <a:latin typeface="Arial" pitchFamily="34" charset="0"/>
              <a:cs typeface="Arial" pitchFamily="34" charset="-120"/>
            </a:endParaRPr>
          </a:p>
        </p:txBody>
      </p:sp>
      <p:pic>
        <p:nvPicPr>
          <p:cNvPr id="28" name="Image 0" descr="preencoded.png">
            <a:extLst>
              <a:ext uri="{FF2B5EF4-FFF2-40B4-BE49-F238E27FC236}">
                <a16:creationId xmlns:a16="http://schemas.microsoft.com/office/drawing/2014/main" id="{3D8E3641-F37A-3F81-FCBE-8BFC6C4447D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548640" y="4709160"/>
            <a:ext cx="914400" cy="173736"/>
          </a:xfrm>
          <a:prstGeom prst="rect">
            <a:avLst/>
          </a:prstGeom>
        </p:spPr>
      </p:pic>
      <p:sp>
        <p:nvSpPr>
          <p:cNvPr id="29" name="Text 26">
            <a:extLst>
              <a:ext uri="{FF2B5EF4-FFF2-40B4-BE49-F238E27FC236}">
                <a16:creationId xmlns:a16="http://schemas.microsoft.com/office/drawing/2014/main" id="{A05C261F-59E4-BD0D-47B4-185E7AB14245}"/>
              </a:ext>
            </a:extLst>
          </p:cNvPr>
          <p:cNvSpPr/>
          <p:nvPr/>
        </p:nvSpPr>
        <p:spPr>
          <a:xfrm>
            <a:off x="7315200" y="47091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s-CL" sz="900" noProof="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de 13</a:t>
            </a:r>
            <a:endParaRPr lang="es-CL" sz="900" noProof="0" dirty="0"/>
          </a:p>
        </p:txBody>
      </p:sp>
      <p:sp>
        <p:nvSpPr>
          <p:cNvPr id="37" name="LabelBar 210">
            <a:extLst>
              <a:ext uri="{FF2B5EF4-FFF2-40B4-BE49-F238E27FC236}">
                <a16:creationId xmlns:a16="http://schemas.microsoft.com/office/drawing/2014/main" id="{16855040-7617-8962-BE06-4A1FEF1E3440}"/>
              </a:ext>
            </a:extLst>
          </p:cNvPr>
          <p:cNvSpPr txBox="1"/>
          <p:nvPr/>
        </p:nvSpPr>
        <p:spPr>
          <a:xfrm>
            <a:off x="457200" y="2328945"/>
            <a:ext cx="8221858" cy="280000"/>
          </a:xfrm>
          <a:prstGeom prst="rect">
            <a:avLst/>
          </a:prstGeom>
          <a:solidFill>
            <a:srgbClr val="2D8DBB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9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MÉTRICAS POR HISTORIA DE USUARIO — TRACKING</a:t>
            </a:r>
          </a:p>
        </p:txBody>
      </p:sp>
      <p:graphicFrame>
        <p:nvGraphicFramePr>
          <p:cNvPr id="10" name="Tabla QA Metricas 291">
            <a:extLst>
              <a:ext uri="{FF2B5EF4-FFF2-40B4-BE49-F238E27FC236}">
                <a16:creationId xmlns:a16="http://schemas.microsoft.com/office/drawing/2014/main" id="{0E74240E-FAB1-2380-E10C-16ECCC611E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9586542"/>
              </p:ext>
            </p:extLst>
          </p:nvPr>
        </p:nvGraphicFramePr>
        <p:xfrm>
          <a:off x="457200" y="2649015"/>
          <a:ext cx="8221858" cy="1560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309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88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99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99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99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996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6215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90000">
                <a:tc>
                  <a:txBody>
                    <a:bodyPr/>
                    <a:lstStyle/>
                    <a:p>
                      <a:pPr algn="ctr"/>
                      <a:r>
                        <a:rPr lang="es-ES" sz="820" b="1" spc="-100" dirty="0">
                          <a:solidFill>
                            <a:srgbClr val="FFFFFF"/>
                          </a:solidFill>
                          <a:latin typeface="Calibri"/>
                        </a:rPr>
                        <a:t>Historia de Usuario</a:t>
                      </a:r>
                    </a:p>
                  </a:txBody>
                  <a:tcPr marL="60960" marR="60960"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820" b="1" spc="-100" dirty="0">
                          <a:solidFill>
                            <a:srgbClr val="FFFFFF"/>
                          </a:solidFill>
                          <a:latin typeface="Calibri"/>
                        </a:rPr>
                        <a:t>Estado</a:t>
                      </a:r>
                    </a:p>
                  </a:txBody>
                  <a:tcPr marL="60960" marR="60960"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820" b="1" spc="-100" dirty="0">
                          <a:solidFill>
                            <a:srgbClr val="FFFFFF"/>
                          </a:solidFill>
                          <a:latin typeface="Calibri"/>
                        </a:rPr>
                        <a:t>Consultas
Levantadas</a:t>
                      </a:r>
                    </a:p>
                  </a:txBody>
                  <a:tcPr marL="60960" marR="60960"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820" b="1" spc="-100" dirty="0">
                          <a:solidFill>
                            <a:srgbClr val="FFFFFF"/>
                          </a:solidFill>
                          <a:latin typeface="Calibri"/>
                        </a:rPr>
                        <a:t>CA
Validados</a:t>
                      </a:r>
                    </a:p>
                  </a:txBody>
                  <a:tcPr marL="60960" marR="60960"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820" b="1" spc="-100" dirty="0">
                          <a:solidFill>
                            <a:srgbClr val="FFFFFF"/>
                          </a:solidFill>
                          <a:latin typeface="Calibri"/>
                        </a:rPr>
                        <a:t>Casos
Diseñados</a:t>
                      </a:r>
                    </a:p>
                  </a:txBody>
                  <a:tcPr marL="60960" marR="60960"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820" b="1" spc="-100" dirty="0">
                          <a:solidFill>
                            <a:srgbClr val="FFFFFF"/>
                          </a:solidFill>
                          <a:latin typeface="Calibri"/>
                        </a:rPr>
                        <a:t>Casos
Ejecutados</a:t>
                      </a:r>
                    </a:p>
                  </a:txBody>
                  <a:tcPr marL="60960" marR="60960"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820" b="1" spc="-100" dirty="0">
                          <a:solidFill>
                            <a:srgbClr val="FFFFFF"/>
                          </a:solidFill>
                          <a:latin typeface="Calibri"/>
                        </a:rPr>
                        <a:t>Bugs
Detectados</a:t>
                      </a:r>
                    </a:p>
                  </a:txBody>
                  <a:tcPr marL="60960" marR="60960">
                    <a:solidFill>
                      <a:srgbClr val="1A52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000">
                <a:tc>
                  <a:txBody>
                    <a:bodyPr/>
                    <a:lstStyle/>
                    <a:p>
                      <a:pPr algn="l"/>
                      <a:r>
                        <a:rPr lang="es-ES" sz="820" b="0" dirty="0">
                          <a:solidFill>
                            <a:srgbClr val="1C2833"/>
                          </a:solidFill>
                          <a:latin typeface="+mn-lt"/>
                        </a:rPr>
                        <a:t>RM01 – Contexto inicial de parametrización</a:t>
                      </a:r>
                      <a:endParaRPr lang="es-ES" sz="820" b="0" dirty="0">
                        <a:solidFill>
                          <a:srgbClr val="1C2833"/>
                        </a:solidFill>
                        <a:latin typeface="Calibri"/>
                      </a:endParaRPr>
                    </a:p>
                  </a:txBody>
                  <a:tcPr marL="60960" marR="60960">
                    <a:solidFill>
                      <a:srgbClr val="EB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820" b="1" dirty="0">
                          <a:solidFill>
                            <a:schemeClr val="tx1"/>
                          </a:solidFill>
                          <a:latin typeface="Calibri"/>
                        </a:rPr>
                        <a:t>Análisis</a:t>
                      </a:r>
                    </a:p>
                  </a:txBody>
                  <a:tcPr marL="60960" marR="6096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820" b="0" dirty="0">
                          <a:solidFill>
                            <a:srgbClr val="1C2833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60960" marR="60960">
                    <a:solidFill>
                      <a:srgbClr val="EB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820" b="0" dirty="0">
                          <a:solidFill>
                            <a:srgbClr val="1C2833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60960" marR="60960">
                    <a:solidFill>
                      <a:srgbClr val="EB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820" b="0" dirty="0">
                          <a:solidFill>
                            <a:srgbClr val="1C2833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60960" marR="60960">
                    <a:solidFill>
                      <a:srgbClr val="EB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820" b="0" dirty="0">
                          <a:solidFill>
                            <a:srgbClr val="1C2833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60960" marR="60960">
                    <a:solidFill>
                      <a:srgbClr val="EB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820" b="0" dirty="0">
                          <a:solidFill>
                            <a:srgbClr val="1C2833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60960" marR="60960">
                    <a:solidFill>
                      <a:srgbClr val="EB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000">
                <a:tc>
                  <a:txBody>
                    <a:bodyPr/>
                    <a:lstStyle/>
                    <a:p>
                      <a:pPr algn="l"/>
                      <a:r>
                        <a:rPr lang="es-ES" sz="820" b="0" dirty="0">
                          <a:solidFill>
                            <a:srgbClr val="1C2833"/>
                          </a:solidFill>
                          <a:latin typeface="+mn-lt"/>
                        </a:rPr>
                        <a:t>RM03 – Identificación visual de notas aperturables</a:t>
                      </a:r>
                      <a:endParaRPr lang="es-ES" sz="820" b="0" dirty="0">
                        <a:solidFill>
                          <a:srgbClr val="1C2833"/>
                        </a:solidFill>
                        <a:latin typeface="Calibri"/>
                      </a:endParaRPr>
                    </a:p>
                  </a:txBody>
                  <a:tcPr marL="60960" marR="60960">
                    <a:solidFill>
                      <a:srgbClr val="EB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820" b="1" dirty="0">
                          <a:solidFill>
                            <a:schemeClr val="tx1"/>
                          </a:solidFill>
                          <a:latin typeface="+mn-lt"/>
                        </a:rPr>
                        <a:t>Análisis</a:t>
                      </a:r>
                    </a:p>
                    <a:p>
                      <a:pPr algn="ctr"/>
                      <a:endParaRPr lang="es-ES" sz="820" b="1" dirty="0">
                        <a:solidFill>
                          <a:srgbClr val="1E8449"/>
                        </a:solidFill>
                        <a:latin typeface="Calibri"/>
                      </a:endParaRPr>
                    </a:p>
                  </a:txBody>
                  <a:tcPr marL="60960" marR="6096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820" b="0" dirty="0">
                          <a:solidFill>
                            <a:srgbClr val="1C2833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60960" marR="60960">
                    <a:solidFill>
                      <a:srgbClr val="EB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820" b="0" dirty="0">
                          <a:solidFill>
                            <a:srgbClr val="1C2833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60960" marR="60960">
                    <a:solidFill>
                      <a:srgbClr val="EB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820" b="0" dirty="0">
                          <a:solidFill>
                            <a:srgbClr val="1C2833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60960" marR="60960">
                    <a:solidFill>
                      <a:srgbClr val="EB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820" b="0" dirty="0">
                          <a:solidFill>
                            <a:srgbClr val="1C2833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60960" marR="60960">
                    <a:solidFill>
                      <a:srgbClr val="EB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820" b="0" dirty="0">
                          <a:solidFill>
                            <a:srgbClr val="1C2833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60960" marR="60960">
                    <a:solidFill>
                      <a:srgbClr val="EB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2906994"/>
                  </a:ext>
                </a:extLst>
              </a:tr>
              <a:tr h="390000">
                <a:tc>
                  <a:txBody>
                    <a:bodyPr/>
                    <a:lstStyle/>
                    <a:p>
                      <a:pPr algn="l"/>
                      <a:r>
                        <a:rPr lang="es-ES" sz="820" b="0" dirty="0">
                          <a:solidFill>
                            <a:srgbClr val="1C2833"/>
                          </a:solidFill>
                          <a:latin typeface="+mn-lt"/>
                        </a:rPr>
                        <a:t>RM04 – Configuración de reglas habilitables o deshabilitables</a:t>
                      </a:r>
                      <a:endParaRPr lang="es-ES" sz="820" b="0" dirty="0">
                        <a:solidFill>
                          <a:srgbClr val="1C2833"/>
                        </a:solidFill>
                        <a:latin typeface="Calibri"/>
                      </a:endParaRPr>
                    </a:p>
                  </a:txBody>
                  <a:tcPr marL="60960" marR="60960">
                    <a:solidFill>
                      <a:srgbClr val="EB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820" b="1" dirty="0">
                          <a:solidFill>
                            <a:schemeClr val="tx1"/>
                          </a:solidFill>
                          <a:latin typeface="+mn-lt"/>
                        </a:rPr>
                        <a:t>Análisis</a:t>
                      </a:r>
                    </a:p>
                    <a:p>
                      <a:pPr algn="ctr"/>
                      <a:endParaRPr lang="es-ES" sz="820" b="1" dirty="0">
                        <a:solidFill>
                          <a:srgbClr val="1E8449"/>
                        </a:solidFill>
                        <a:latin typeface="Calibri"/>
                      </a:endParaRPr>
                    </a:p>
                  </a:txBody>
                  <a:tcPr marL="60960" marR="6096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820" b="0" dirty="0">
                          <a:solidFill>
                            <a:srgbClr val="1C2833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60960" marR="60960">
                    <a:solidFill>
                      <a:srgbClr val="EB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820" b="0" dirty="0">
                          <a:solidFill>
                            <a:srgbClr val="1C2833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60960" marR="60960">
                    <a:solidFill>
                      <a:srgbClr val="EB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820" b="0" dirty="0">
                          <a:solidFill>
                            <a:srgbClr val="1C2833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60960" marR="60960">
                    <a:solidFill>
                      <a:srgbClr val="EB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820" b="0" dirty="0">
                          <a:solidFill>
                            <a:srgbClr val="1C2833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60960" marR="60960">
                    <a:solidFill>
                      <a:srgbClr val="EB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820" b="0" dirty="0">
                          <a:solidFill>
                            <a:srgbClr val="1C2833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60960" marR="60960">
                    <a:solidFill>
                      <a:srgbClr val="EB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91087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83463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2EACCC-42D7-D653-0807-B36E40732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EFDE1B2-4108-D617-3380-E61459A03B29}"/>
              </a:ext>
            </a:extLst>
          </p:cNvPr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E09F3BC-0A1A-EA83-ADCD-E395AE07BB70}"/>
              </a:ext>
            </a:extLst>
          </p:cNvPr>
          <p:cNvSpPr/>
          <p:nvPr/>
        </p:nvSpPr>
        <p:spPr>
          <a:xfrm>
            <a:off x="457200" y="3200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3400" b="1" noProof="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</a:t>
            </a:r>
            <a:endParaRPr lang="es-CL" sz="3400" noProof="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D064D77-F616-C842-D6FF-088CC259C858}"/>
              </a:ext>
            </a:extLst>
          </p:cNvPr>
          <p:cNvSpPr/>
          <p:nvPr/>
        </p:nvSpPr>
        <p:spPr>
          <a:xfrm>
            <a:off x="457200" y="1051560"/>
            <a:ext cx="3840480" cy="86868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6002413-95E9-DDC8-4EE1-2E9D74BE65E4}"/>
              </a:ext>
            </a:extLst>
          </p:cNvPr>
          <p:cNvSpPr/>
          <p:nvPr/>
        </p:nvSpPr>
        <p:spPr>
          <a:xfrm>
            <a:off x="457200" y="1051560"/>
            <a:ext cx="36576" cy="86868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03DF601-F2B4-015F-A780-BEA5DE8F3E22}"/>
              </a:ext>
            </a:extLst>
          </p:cNvPr>
          <p:cNvSpPr/>
          <p:nvPr/>
        </p:nvSpPr>
        <p:spPr>
          <a:xfrm>
            <a:off x="640080" y="1124712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750" b="1" kern="0" spc="150" dirty="0">
                <a:solidFill>
                  <a:srgbClr val="22C55E"/>
                </a:solidFill>
                <a:latin typeface="Arial" pitchFamily="34" charset="0"/>
                <a:cs typeface="Arial" pitchFamily="34" charset="-120"/>
              </a:rPr>
              <a:t>EQUIPO</a:t>
            </a:r>
            <a:endParaRPr lang="es-CL" sz="750" noProof="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997162A-0CE8-4A2F-F9D6-D874F2616B75}"/>
              </a:ext>
            </a:extLst>
          </p:cNvPr>
          <p:cNvSpPr/>
          <p:nvPr/>
        </p:nvSpPr>
        <p:spPr>
          <a:xfrm>
            <a:off x="640080" y="132588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s-ES" sz="950" noProof="0" dirty="0">
                <a:solidFill>
                  <a:srgbClr val="94A3B8"/>
                </a:solidFill>
                <a:latin typeface="Arial" pitchFamily="34" charset="0"/>
                <a:cs typeface="Arial" pitchFamily="34" charset="-120"/>
              </a:rPr>
              <a:t>Jefe de Proyecto	: Jorge Collao</a:t>
            </a:r>
          </a:p>
          <a:p>
            <a:pPr>
              <a:lnSpc>
                <a:spcPct val="120000"/>
              </a:lnSpc>
            </a:pPr>
            <a:r>
              <a:rPr lang="es-ES" sz="950" dirty="0">
                <a:solidFill>
                  <a:srgbClr val="94A3B8"/>
                </a:solidFill>
                <a:latin typeface="Arial" pitchFamily="34" charset="0"/>
                <a:cs typeface="Arial" pitchFamily="34" charset="-120"/>
              </a:rPr>
              <a:t>Analista QA 	: Braulio Benardis</a:t>
            </a:r>
          </a:p>
          <a:p>
            <a:pPr>
              <a:lnSpc>
                <a:spcPct val="120000"/>
              </a:lnSpc>
            </a:pPr>
            <a:r>
              <a:rPr lang="es-ES" sz="950" noProof="0" dirty="0">
                <a:solidFill>
                  <a:srgbClr val="94A3B8"/>
                </a:solidFill>
                <a:latin typeface="Arial" pitchFamily="34" charset="0"/>
                <a:cs typeface="Arial" pitchFamily="34" charset="-120"/>
              </a:rPr>
              <a:t>Asignación	: 100%</a:t>
            </a: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70A0A893-6479-F2C8-E3DE-193F192F61AE}"/>
              </a:ext>
            </a:extLst>
          </p:cNvPr>
          <p:cNvSpPr/>
          <p:nvPr/>
        </p:nvSpPr>
        <p:spPr>
          <a:xfrm>
            <a:off x="4846320" y="1051559"/>
            <a:ext cx="3840480" cy="1254035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DB487FDC-BB90-8861-4BB4-614623520EFD}"/>
              </a:ext>
            </a:extLst>
          </p:cNvPr>
          <p:cNvSpPr/>
          <p:nvPr/>
        </p:nvSpPr>
        <p:spPr>
          <a:xfrm>
            <a:off x="4846320" y="1051560"/>
            <a:ext cx="36576" cy="86868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DE21DA9C-CCC3-E1E0-7C24-A77997FEC729}"/>
              </a:ext>
            </a:extLst>
          </p:cNvPr>
          <p:cNvSpPr/>
          <p:nvPr/>
        </p:nvSpPr>
        <p:spPr>
          <a:xfrm>
            <a:off x="4846320" y="1030128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750" b="1" kern="0" spc="150" noProof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OBSERVACIONES</a:t>
            </a:r>
            <a:endParaRPr lang="es-CL" sz="750" noProof="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6D20E4DD-E148-954D-C211-7543380C8434}"/>
              </a:ext>
            </a:extLst>
          </p:cNvPr>
          <p:cNvSpPr/>
          <p:nvPr/>
        </p:nvSpPr>
        <p:spPr>
          <a:xfrm>
            <a:off x="4846320" y="1234439"/>
            <a:ext cx="3474720" cy="1136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s-ES" sz="950" dirty="0">
                <a:solidFill>
                  <a:srgbClr val="94A3B8"/>
                </a:solidFill>
                <a:latin typeface="Arial" pitchFamily="34" charset="0"/>
                <a:cs typeface="Arial" pitchFamily="34" charset="-120"/>
              </a:rPr>
              <a:t>Incidente 14977 : Se completa ciclo </a:t>
            </a:r>
            <a:r>
              <a:rPr lang="es-ES" sz="950">
                <a:solidFill>
                  <a:srgbClr val="94A3B8"/>
                </a:solidFill>
                <a:latin typeface="Arial" pitchFamily="34" charset="0"/>
                <a:cs typeface="Arial" pitchFamily="34" charset="-120"/>
              </a:rPr>
              <a:t>de certificación y </a:t>
            </a:r>
            <a:r>
              <a:rPr lang="es-ES" sz="950" dirty="0">
                <a:solidFill>
                  <a:srgbClr val="94A3B8"/>
                </a:solidFill>
                <a:latin typeface="Arial" pitchFamily="34" charset="0"/>
                <a:cs typeface="Arial" pitchFamily="34" charset="-120"/>
              </a:rPr>
              <a:t>se reporta un bug (Entregado)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s-ES" sz="950" dirty="0">
                <a:solidFill>
                  <a:srgbClr val="94A3B8"/>
                </a:solidFill>
                <a:latin typeface="Arial" pitchFamily="34" charset="0"/>
                <a:cs typeface="Arial" pitchFamily="34" charset="-120"/>
              </a:rPr>
              <a:t>Incidente 13936 : Pendiente por soluciones de bug reportados.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s-ES" sz="950" dirty="0">
                <a:solidFill>
                  <a:srgbClr val="94A3B8"/>
                </a:solidFill>
                <a:latin typeface="Arial" pitchFamily="34" charset="0"/>
                <a:cs typeface="Arial" pitchFamily="34" charset="-120"/>
              </a:rPr>
              <a:t>Incidente 14937 : Pendiente por soluciones de bug reportados.</a:t>
            </a:r>
            <a:br>
              <a:rPr lang="es-ES" sz="950" dirty="0">
                <a:solidFill>
                  <a:srgbClr val="94A3B8"/>
                </a:solidFill>
                <a:latin typeface="Arial" pitchFamily="34" charset="0"/>
                <a:cs typeface="Arial" pitchFamily="34" charset="-120"/>
              </a:rPr>
            </a:br>
            <a:endParaRPr lang="es-ES" sz="950" noProof="0" dirty="0">
              <a:solidFill>
                <a:srgbClr val="94A3B8"/>
              </a:solidFill>
              <a:latin typeface="Arial" pitchFamily="34" charset="0"/>
              <a:cs typeface="Arial" pitchFamily="34" charset="-120"/>
            </a:endParaRPr>
          </a:p>
        </p:txBody>
      </p:sp>
      <p:pic>
        <p:nvPicPr>
          <p:cNvPr id="28" name="Image 0" descr="preencoded.png">
            <a:extLst>
              <a:ext uri="{FF2B5EF4-FFF2-40B4-BE49-F238E27FC236}">
                <a16:creationId xmlns:a16="http://schemas.microsoft.com/office/drawing/2014/main" id="{2C0DC1FA-17D6-5453-9C3D-B17AC2F0CE5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548640" y="4709160"/>
            <a:ext cx="914400" cy="173736"/>
          </a:xfrm>
          <a:prstGeom prst="rect">
            <a:avLst/>
          </a:prstGeom>
        </p:spPr>
      </p:pic>
      <p:sp>
        <p:nvSpPr>
          <p:cNvPr id="29" name="Text 26">
            <a:extLst>
              <a:ext uri="{FF2B5EF4-FFF2-40B4-BE49-F238E27FC236}">
                <a16:creationId xmlns:a16="http://schemas.microsoft.com/office/drawing/2014/main" id="{CAB5E275-E291-F8DC-F86B-9785912FD3B9}"/>
              </a:ext>
            </a:extLst>
          </p:cNvPr>
          <p:cNvSpPr/>
          <p:nvPr/>
        </p:nvSpPr>
        <p:spPr>
          <a:xfrm>
            <a:off x="7315200" y="47091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s-CL" sz="900" noProof="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de 13</a:t>
            </a:r>
            <a:endParaRPr lang="es-CL" sz="900" noProof="0" dirty="0"/>
          </a:p>
        </p:txBody>
      </p:sp>
      <p:sp>
        <p:nvSpPr>
          <p:cNvPr id="37" name="LabelBar 210">
            <a:extLst>
              <a:ext uri="{FF2B5EF4-FFF2-40B4-BE49-F238E27FC236}">
                <a16:creationId xmlns:a16="http://schemas.microsoft.com/office/drawing/2014/main" id="{0E6249AF-FE81-DC33-7F9D-A8FE00E4BCCB}"/>
              </a:ext>
            </a:extLst>
          </p:cNvPr>
          <p:cNvSpPr txBox="1"/>
          <p:nvPr/>
        </p:nvSpPr>
        <p:spPr>
          <a:xfrm>
            <a:off x="479359" y="2587530"/>
            <a:ext cx="8221858" cy="280000"/>
          </a:xfrm>
          <a:prstGeom prst="rect">
            <a:avLst/>
          </a:prstGeom>
          <a:solidFill>
            <a:srgbClr val="2D8DBB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9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MÉTRICAS POR HISTORIA DE USUARIO — DEC</a:t>
            </a:r>
          </a:p>
        </p:txBody>
      </p:sp>
      <p:graphicFrame>
        <p:nvGraphicFramePr>
          <p:cNvPr id="8" name="Tabla QA Metricas 311">
            <a:extLst>
              <a:ext uri="{FF2B5EF4-FFF2-40B4-BE49-F238E27FC236}">
                <a16:creationId xmlns:a16="http://schemas.microsoft.com/office/drawing/2014/main" id="{80CA3E8F-E537-59BA-2E6F-B971F50844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0791662"/>
              </p:ext>
            </p:extLst>
          </p:nvPr>
        </p:nvGraphicFramePr>
        <p:xfrm>
          <a:off x="493777" y="2880597"/>
          <a:ext cx="8221857" cy="163634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356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79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93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93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62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49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6086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90000">
                <a:tc>
                  <a:txBody>
                    <a:bodyPr/>
                    <a:lstStyle/>
                    <a:p>
                      <a:pPr algn="ctr"/>
                      <a:r>
                        <a:rPr lang="es-ES" sz="820" b="1" spc="-100" dirty="0">
                          <a:solidFill>
                            <a:srgbClr val="FFFFFF"/>
                          </a:solidFill>
                          <a:latin typeface="Calibri"/>
                        </a:rPr>
                        <a:t>Historia de Usuario</a:t>
                      </a:r>
                    </a:p>
                  </a:txBody>
                  <a:tcPr marL="60960" marR="60960"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820" b="1" spc="-100" dirty="0">
                          <a:solidFill>
                            <a:srgbClr val="FFFFFF"/>
                          </a:solidFill>
                          <a:latin typeface="Calibri"/>
                        </a:rPr>
                        <a:t>Estado</a:t>
                      </a:r>
                    </a:p>
                  </a:txBody>
                  <a:tcPr marL="60960" marR="60960"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820" b="1" spc="-100" dirty="0">
                          <a:solidFill>
                            <a:srgbClr val="FFFFFF"/>
                          </a:solidFill>
                          <a:latin typeface="Calibri"/>
                        </a:rPr>
                        <a:t>Consultas
Levantadas</a:t>
                      </a:r>
                    </a:p>
                  </a:txBody>
                  <a:tcPr marL="60960" marR="60960"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820" b="1" spc="-100" dirty="0">
                          <a:solidFill>
                            <a:srgbClr val="FFFFFF"/>
                          </a:solidFill>
                          <a:latin typeface="Calibri"/>
                        </a:rPr>
                        <a:t>CA
Validados</a:t>
                      </a:r>
                    </a:p>
                  </a:txBody>
                  <a:tcPr marL="60960" marR="60960"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820" b="1" spc="-100" dirty="0">
                          <a:solidFill>
                            <a:srgbClr val="FFFFFF"/>
                          </a:solidFill>
                          <a:latin typeface="Calibri"/>
                        </a:rPr>
                        <a:t>Casos
Diseñados</a:t>
                      </a:r>
                    </a:p>
                  </a:txBody>
                  <a:tcPr marL="60960" marR="60960"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820" b="1" spc="-100" dirty="0">
                          <a:solidFill>
                            <a:srgbClr val="FFFFFF"/>
                          </a:solidFill>
                          <a:latin typeface="Calibri"/>
                        </a:rPr>
                        <a:t>Casos
Ejecutados</a:t>
                      </a:r>
                    </a:p>
                  </a:txBody>
                  <a:tcPr marL="60960" marR="60960"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820" b="1" spc="-100" dirty="0">
                          <a:solidFill>
                            <a:srgbClr val="FFFFFF"/>
                          </a:solidFill>
                          <a:latin typeface="Calibri"/>
                        </a:rPr>
                        <a:t>Bugs
Detectados</a:t>
                      </a:r>
                    </a:p>
                  </a:txBody>
                  <a:tcPr marL="60960" marR="60960">
                    <a:solidFill>
                      <a:srgbClr val="1A52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000">
                <a:tc>
                  <a:txBody>
                    <a:bodyPr/>
                    <a:lstStyle/>
                    <a:p>
                      <a:pPr algn="l"/>
                      <a:r>
                        <a:rPr lang="es-ES" sz="820" b="0" dirty="0">
                          <a:solidFill>
                            <a:srgbClr val="1C2833"/>
                          </a:solidFill>
                          <a:latin typeface="Calibri"/>
                        </a:rPr>
                        <a:t>Incidente 14977 — </a:t>
                      </a:r>
                      <a:r>
                        <a:rPr lang="es-MX" sz="820" b="0" dirty="0">
                          <a:solidFill>
                            <a:srgbClr val="1C2833"/>
                          </a:solidFill>
                          <a:latin typeface="Calibri"/>
                        </a:rPr>
                        <a:t>Cuando una persona se matricula y da la oportunidad por ganada, el servicio cambia datos en Salesforce (nombre, apellidos, nacionalidad)</a:t>
                      </a:r>
                      <a:endParaRPr lang="es-ES" sz="820" b="0" dirty="0">
                        <a:solidFill>
                          <a:srgbClr val="1C2833"/>
                        </a:solidFill>
                        <a:latin typeface="Calibri"/>
                      </a:endParaRPr>
                    </a:p>
                  </a:txBody>
                  <a:tcPr marL="60960" marR="60960">
                    <a:solidFill>
                      <a:srgbClr val="EB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800" b="1" dirty="0">
                          <a:solidFill>
                            <a:schemeClr val="tx1"/>
                          </a:solidFill>
                          <a:latin typeface="+mn-lt"/>
                        </a:rPr>
                        <a:t>Devuelto a Desarrollo</a:t>
                      </a:r>
                    </a:p>
                  </a:txBody>
                  <a:tcPr marL="60960" marR="6096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820" b="0" dirty="0">
                          <a:solidFill>
                            <a:srgbClr val="1C283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60960" marR="60960">
                    <a:solidFill>
                      <a:srgbClr val="EB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820" b="0" dirty="0">
                          <a:solidFill>
                            <a:srgbClr val="1C283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60960" marR="60960">
                    <a:solidFill>
                      <a:srgbClr val="EB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820" b="0" dirty="0">
                          <a:solidFill>
                            <a:srgbClr val="1C283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60960" marR="60960">
                    <a:solidFill>
                      <a:srgbClr val="EB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820" b="0" dirty="0">
                          <a:solidFill>
                            <a:srgbClr val="1C2833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L="60960" marR="60960">
                    <a:solidFill>
                      <a:srgbClr val="EB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820" b="0" dirty="0">
                          <a:solidFill>
                            <a:srgbClr val="1C28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0960" marR="60960">
                    <a:solidFill>
                      <a:srgbClr val="EB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000">
                <a:tc>
                  <a:txBody>
                    <a:bodyPr/>
                    <a:lstStyle/>
                    <a:p>
                      <a:pPr algn="l"/>
                      <a:r>
                        <a:rPr lang="es-MX" sz="820" b="0" dirty="0" err="1">
                          <a:solidFill>
                            <a:srgbClr val="1C2833"/>
                          </a:solidFill>
                          <a:latin typeface="Calibri"/>
                        </a:rPr>
                        <a:t>User</a:t>
                      </a:r>
                      <a:r>
                        <a:rPr lang="es-MX" sz="820" b="0" dirty="0">
                          <a:solidFill>
                            <a:srgbClr val="1C2833"/>
                          </a:solidFill>
                          <a:latin typeface="Calibri"/>
                        </a:rPr>
                        <a:t> </a:t>
                      </a:r>
                      <a:r>
                        <a:rPr lang="es-MX" sz="820" b="0" dirty="0" err="1">
                          <a:solidFill>
                            <a:srgbClr val="1C2833"/>
                          </a:solidFill>
                          <a:latin typeface="Calibri"/>
                        </a:rPr>
                        <a:t>Story</a:t>
                      </a:r>
                      <a:r>
                        <a:rPr lang="es-MX" sz="820" b="0" dirty="0">
                          <a:solidFill>
                            <a:srgbClr val="1C2833"/>
                          </a:solidFill>
                          <a:latin typeface="Calibri"/>
                        </a:rPr>
                        <a:t> 13936</a:t>
                      </a:r>
                      <a:r>
                        <a:rPr lang="es-ES" sz="820" b="0" dirty="0">
                          <a:solidFill>
                            <a:srgbClr val="1C2833"/>
                          </a:solidFill>
                          <a:latin typeface="Calibri"/>
                        </a:rPr>
                        <a:t>—</a:t>
                      </a:r>
                      <a:r>
                        <a:rPr lang="es-MX" sz="820" b="0" dirty="0">
                          <a:solidFill>
                            <a:srgbClr val="1C2833"/>
                          </a:solidFill>
                          <a:latin typeface="Calibri"/>
                        </a:rPr>
                        <a:t> </a:t>
                      </a:r>
                      <a:r>
                        <a:rPr lang="es-MX" sz="820" b="0" dirty="0" err="1">
                          <a:solidFill>
                            <a:srgbClr val="1C2833"/>
                          </a:solidFill>
                          <a:latin typeface="Calibri"/>
                        </a:rPr>
                        <a:t>Enpoint</a:t>
                      </a:r>
                      <a:r>
                        <a:rPr lang="es-MX" sz="820" b="0" dirty="0">
                          <a:solidFill>
                            <a:srgbClr val="1C2833"/>
                          </a:solidFill>
                          <a:latin typeface="Calibri"/>
                        </a:rPr>
                        <a:t> de creación de postulación para Salesforce. (Ciclo 2)</a:t>
                      </a:r>
                      <a:endParaRPr lang="es-ES" sz="820" b="0" dirty="0">
                        <a:solidFill>
                          <a:srgbClr val="1C2833"/>
                        </a:solidFill>
                        <a:latin typeface="Calibri"/>
                      </a:endParaRPr>
                    </a:p>
                  </a:txBody>
                  <a:tcPr marL="60960" marR="60960"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820" b="1" dirty="0">
                          <a:solidFill>
                            <a:schemeClr val="tx1"/>
                          </a:solidFill>
                          <a:latin typeface="+mn-lt"/>
                        </a:rPr>
                        <a:t>Devuelto a Desarrollo</a:t>
                      </a:r>
                    </a:p>
                  </a:txBody>
                  <a:tcPr marL="60960" marR="6096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820" b="0" dirty="0">
                          <a:solidFill>
                            <a:srgbClr val="1C283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60960" marR="60960"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820" b="0" dirty="0">
                          <a:solidFill>
                            <a:srgbClr val="1C2833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 marL="60960" marR="60960"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820" b="0" dirty="0">
                          <a:solidFill>
                            <a:srgbClr val="1C2833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 marL="60960" marR="60960"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820" b="0" dirty="0">
                          <a:solidFill>
                            <a:srgbClr val="1C2833"/>
                          </a:solidFill>
                          <a:latin typeface="Calibri"/>
                        </a:rPr>
                        <a:t>27</a:t>
                      </a:r>
                    </a:p>
                  </a:txBody>
                  <a:tcPr marL="60960" marR="60960"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820" b="0" dirty="0">
                          <a:solidFill>
                            <a:srgbClr val="1C2833"/>
                          </a:solidFill>
                          <a:latin typeface="Calibri"/>
                        </a:rPr>
                        <a:t>15 </a:t>
                      </a:r>
                      <a:r>
                        <a:rPr lang="es-ES" sz="820" b="0" dirty="0">
                          <a:solidFill>
                            <a:srgbClr val="1C2833"/>
                          </a:solidFill>
                          <a:latin typeface="Calibri"/>
                          <a:sym typeface="Wingdings" panose="05000000000000000000" pitchFamily="2" charset="2"/>
                        </a:rPr>
                        <a:t> 4 activos</a:t>
                      </a:r>
                      <a:endParaRPr lang="es-ES" sz="820" b="0" dirty="0">
                        <a:solidFill>
                          <a:srgbClr val="1C2833"/>
                        </a:solidFill>
                        <a:latin typeface="Calibri"/>
                      </a:endParaRPr>
                    </a:p>
                  </a:txBody>
                  <a:tcPr marL="60960" marR="60960">
                    <a:solidFill>
                      <a:srgbClr val="D6E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820" b="0" dirty="0">
                          <a:solidFill>
                            <a:schemeClr val="tx1"/>
                          </a:solidFill>
                          <a:latin typeface="+mn-lt"/>
                        </a:rPr>
                        <a:t>Incidente 14937 — </a:t>
                      </a:r>
                      <a:r>
                        <a:rPr lang="es-MX" sz="820" b="0" dirty="0">
                          <a:solidFill>
                            <a:schemeClr val="tx1"/>
                          </a:solidFill>
                          <a:latin typeface="+mn-lt"/>
                        </a:rPr>
                        <a:t>No se puede postular en programas de la DEC a personas con pasaporte.</a:t>
                      </a:r>
                      <a:endParaRPr lang="es-ES" sz="82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0960" marR="60960"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820" b="1" dirty="0">
                          <a:solidFill>
                            <a:schemeClr val="tx1"/>
                          </a:solidFill>
                          <a:latin typeface="Calibri"/>
                        </a:rPr>
                        <a:t>Devuelto a Desarrollo</a:t>
                      </a:r>
                    </a:p>
                  </a:txBody>
                  <a:tcPr marL="60960" marR="6096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820" b="0" dirty="0">
                          <a:solidFill>
                            <a:srgbClr val="1C2833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60960" marR="60960"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820" b="0" dirty="0">
                          <a:solidFill>
                            <a:srgbClr val="1C2833"/>
                          </a:solidFill>
                          <a:latin typeface="Calibri"/>
                        </a:rPr>
                        <a:t>123</a:t>
                      </a:r>
                    </a:p>
                  </a:txBody>
                  <a:tcPr marL="60960" marR="60960"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820" b="0" dirty="0">
                          <a:solidFill>
                            <a:srgbClr val="1C2833"/>
                          </a:solidFill>
                          <a:latin typeface="Calibri"/>
                        </a:rPr>
                        <a:t>123</a:t>
                      </a:r>
                    </a:p>
                  </a:txBody>
                  <a:tcPr marL="60960" marR="60960"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820" b="0" dirty="0">
                          <a:solidFill>
                            <a:srgbClr val="1C2833"/>
                          </a:solidFill>
                          <a:latin typeface="Calibri"/>
                        </a:rPr>
                        <a:t>72</a:t>
                      </a:r>
                    </a:p>
                  </a:txBody>
                  <a:tcPr marL="60960" marR="60960"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820" b="0" dirty="0">
                          <a:solidFill>
                            <a:srgbClr val="1C283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60960" marR="60960">
                    <a:solidFill>
                      <a:srgbClr val="D6E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5808602"/>
                  </a:ext>
                </a:extLst>
              </a:tr>
            </a:tbl>
          </a:graphicData>
        </a:graphic>
      </p:graphicFrame>
      <p:pic>
        <p:nvPicPr>
          <p:cNvPr id="9" name="Picture 2" descr="Logos - Imagen UDD">
            <a:extLst>
              <a:ext uri="{FF2B5EF4-FFF2-40B4-BE49-F238E27FC236}">
                <a16:creationId xmlns:a16="http://schemas.microsoft.com/office/drawing/2014/main" id="{D7B8349A-D193-6D92-0CB4-3F52867D2F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6823" y="0"/>
            <a:ext cx="1828800" cy="642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75120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731520"/>
            <a:ext cx="18288" cy="365760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3" name="Shape 1"/>
          <p:cNvSpPr/>
          <p:nvPr/>
        </p:nvSpPr>
        <p:spPr>
          <a:xfrm>
            <a:off x="8046720" y="3840480"/>
            <a:ext cx="54864" cy="54864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4" name="Shape 2"/>
          <p:cNvSpPr/>
          <p:nvPr/>
        </p:nvSpPr>
        <p:spPr>
          <a:xfrm>
            <a:off x="8174736" y="3840480"/>
            <a:ext cx="54864" cy="54864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5" name="Shape 3"/>
          <p:cNvSpPr/>
          <p:nvPr/>
        </p:nvSpPr>
        <p:spPr>
          <a:xfrm>
            <a:off x="8302752" y="3840480"/>
            <a:ext cx="54864" cy="54864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6" name="Shape 4"/>
          <p:cNvSpPr/>
          <p:nvPr/>
        </p:nvSpPr>
        <p:spPr>
          <a:xfrm>
            <a:off x="8430768" y="3840480"/>
            <a:ext cx="54864" cy="5486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7" name="Shape 5"/>
          <p:cNvSpPr/>
          <p:nvPr/>
        </p:nvSpPr>
        <p:spPr>
          <a:xfrm>
            <a:off x="8046720" y="3968496"/>
            <a:ext cx="54864" cy="54864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8" name="Shape 6"/>
          <p:cNvSpPr/>
          <p:nvPr/>
        </p:nvSpPr>
        <p:spPr>
          <a:xfrm>
            <a:off x="8174736" y="3968496"/>
            <a:ext cx="54864" cy="54864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9" name="Shape 7"/>
          <p:cNvSpPr/>
          <p:nvPr/>
        </p:nvSpPr>
        <p:spPr>
          <a:xfrm>
            <a:off x="8302752" y="3968496"/>
            <a:ext cx="54864" cy="54864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10" name="Shape 8"/>
          <p:cNvSpPr/>
          <p:nvPr/>
        </p:nvSpPr>
        <p:spPr>
          <a:xfrm>
            <a:off x="8430768" y="3968496"/>
            <a:ext cx="54864" cy="54864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11" name="Shape 9"/>
          <p:cNvSpPr/>
          <p:nvPr/>
        </p:nvSpPr>
        <p:spPr>
          <a:xfrm>
            <a:off x="8046720" y="4096512"/>
            <a:ext cx="54864" cy="54864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12" name="Shape 10"/>
          <p:cNvSpPr/>
          <p:nvPr/>
        </p:nvSpPr>
        <p:spPr>
          <a:xfrm>
            <a:off x="8174736" y="4096512"/>
            <a:ext cx="54864" cy="54864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13" name="Shape 11"/>
          <p:cNvSpPr/>
          <p:nvPr/>
        </p:nvSpPr>
        <p:spPr>
          <a:xfrm>
            <a:off x="8302752" y="4096512"/>
            <a:ext cx="54864" cy="54864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14" name="Shape 12"/>
          <p:cNvSpPr/>
          <p:nvPr/>
        </p:nvSpPr>
        <p:spPr>
          <a:xfrm>
            <a:off x="8430768" y="4096512"/>
            <a:ext cx="54864" cy="54864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s-CL" noProof="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0" y="1097280"/>
            <a:ext cx="3291840" cy="64008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3474720" y="1965960"/>
            <a:ext cx="2194560" cy="7315"/>
          </a:xfrm>
          <a:prstGeom prst="rect">
            <a:avLst/>
          </a:prstGeom>
          <a:solidFill>
            <a:srgbClr val="475569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18" name="Text 15"/>
          <p:cNvSpPr/>
          <p:nvPr/>
        </p:nvSpPr>
        <p:spPr>
          <a:xfrm>
            <a:off x="457200" y="257860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L" sz="2800" b="1" noProof="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Gracias</a:t>
            </a:r>
            <a:endParaRPr lang="es-CL" sz="2800" noProof="0" dirty="0"/>
          </a:p>
        </p:txBody>
      </p:sp>
      <p:sp>
        <p:nvSpPr>
          <p:cNvPr id="20" name="Text 17"/>
          <p:cNvSpPr/>
          <p:nvPr/>
        </p:nvSpPr>
        <p:spPr>
          <a:xfrm>
            <a:off x="457200" y="37033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L" sz="1050" noProof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contacto@inovabiz.com  |  www.inovabiz.com  |  +562 2269 0490</a:t>
            </a:r>
            <a:endParaRPr lang="es-CL" sz="1050" noProof="0" dirty="0"/>
          </a:p>
        </p:txBody>
      </p:sp>
      <p:sp>
        <p:nvSpPr>
          <p:cNvPr id="21" name="Shape 18"/>
          <p:cNvSpPr/>
          <p:nvPr/>
        </p:nvSpPr>
        <p:spPr>
          <a:xfrm>
            <a:off x="0" y="5074920"/>
            <a:ext cx="4572000" cy="18288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22" name="Shape 19"/>
          <p:cNvSpPr/>
          <p:nvPr/>
        </p:nvSpPr>
        <p:spPr>
          <a:xfrm>
            <a:off x="4572000" y="5074920"/>
            <a:ext cx="4572000" cy="18288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23" name="Text 20"/>
          <p:cNvSpPr/>
          <p:nvPr/>
        </p:nvSpPr>
        <p:spPr>
          <a:xfrm>
            <a:off x="457200" y="46634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L" sz="800" kern="0" spc="300" noProof="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&amp; BUSINESS</a:t>
            </a:r>
            <a:endParaRPr lang="es-CL" sz="800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lcf76f155ced4ddcb4097134ff3c332f xmlns="585fb102-c2dc-4ed3-bdea-a3859d49f146">
      <Terms xmlns="http://schemas.microsoft.com/office/infopath/2007/PartnerControls"/>
    </lcf76f155ced4ddcb4097134ff3c332f>
    <TaxCatchAll xmlns="a19e4f86-6dd1-4744-81e0-f1e55ba7d5dd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E4374FE006EF34987061464706B0180" ma:contentTypeVersion="17" ma:contentTypeDescription="Crear nuevo documento." ma:contentTypeScope="" ma:versionID="c022bceeb600e2cb0b89fe896dd53140">
  <xsd:schema xmlns:xsd="http://www.w3.org/2001/XMLSchema" xmlns:xs="http://www.w3.org/2001/XMLSchema" xmlns:p="http://schemas.microsoft.com/office/2006/metadata/properties" xmlns:ns1="http://schemas.microsoft.com/sharepoint/v3" xmlns:ns2="585fb102-c2dc-4ed3-bdea-a3859d49f146" xmlns:ns3="a19e4f86-6dd1-4744-81e0-f1e55ba7d5dd" targetNamespace="http://schemas.microsoft.com/office/2006/metadata/properties" ma:root="true" ma:fieldsID="a96563691cd68754ebecb623b9fe3679" ns1:_="" ns2:_="" ns3:_="">
    <xsd:import namespace="http://schemas.microsoft.com/sharepoint/v3"/>
    <xsd:import namespace="585fb102-c2dc-4ed3-bdea-a3859d49f146"/>
    <xsd:import namespace="a19e4f86-6dd1-4744-81e0-f1e55ba7d5d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Location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3" nillable="true" ma:displayName="Propiedades de la Directiva de cumplimiento unificado" ma:hidden="true" ma:internalName="_ip_UnifiedCompliancePolicyProperties">
      <xsd:simpleType>
        <xsd:restriction base="dms:Note"/>
      </xsd:simpleType>
    </xsd:element>
    <xsd:element name="_ip_UnifiedCompliancePolicyUIAction" ma:index="24" nillable="true" ma:displayName="Acción de IU de la Directiva de cumplimiento unificado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85fb102-c2dc-4ed3-bdea-a3859d49f14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Etiquetas de imagen" ma:readOnly="false" ma:fieldId="{5cf76f15-5ced-4ddc-b409-7134ff3c332f}" ma:taxonomyMulti="true" ma:sspId="0615fee7-db70-4110-afcb-57a9481dc6a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9e4f86-6dd1-4744-81e0-f1e55ba7d5dd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6a8f4735-dc36-4a09-843e-c9cc4f1dc01e}" ma:internalName="TaxCatchAll" ma:showField="CatchAllData" ma:web="a19e4f86-6dd1-4744-81e0-f1e55ba7d5d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ACAFD05-CF0F-405A-A609-22766104A6FB}">
  <ds:schemaRefs>
    <ds:schemaRef ds:uri="http://schemas.microsoft.com/office/2006/documentManagement/types"/>
    <ds:schemaRef ds:uri="http://purl.org/dc/elements/1.1/"/>
    <ds:schemaRef ds:uri="585fb102-c2dc-4ed3-bdea-a3859d49f146"/>
    <ds:schemaRef ds:uri="http://schemas.microsoft.com/sharepoint/v3"/>
    <ds:schemaRef ds:uri="http://www.w3.org/XML/1998/namespace"/>
    <ds:schemaRef ds:uri="http://schemas.openxmlformats.org/package/2006/metadata/core-properties"/>
    <ds:schemaRef ds:uri="http://schemas.microsoft.com/office/infopath/2007/PartnerControls"/>
    <ds:schemaRef ds:uri="http://purl.org/dc/terms/"/>
    <ds:schemaRef ds:uri="a19e4f86-6dd1-4744-81e0-f1e55ba7d5dd"/>
    <ds:schemaRef ds:uri="http://schemas.microsoft.com/office/2006/metadata/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4CFA43AC-0306-4EE7-A830-32D8A6A4329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585fb102-c2dc-4ed3-bdea-a3859d49f146"/>
    <ds:schemaRef ds:uri="a19e4f86-6dd1-4744-81e0-f1e55ba7d5d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D84540D-EFC7-427F-A464-DF5E582D5D78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146dfa7a-73f6-4095-95d6-113df6b678bc}" enabled="0" method="" siteId="{146dfa7a-73f6-4095-95d6-113df6b678bc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271</TotalTime>
  <Words>782</Words>
  <Application>Microsoft Office PowerPoint</Application>
  <PresentationFormat>Presentación en pantalla (16:9)</PresentationFormat>
  <Paragraphs>236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InovaBiz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InovaBiz</dc:creator>
  <cp:lastModifiedBy>Braulio Esteban Benardis</cp:lastModifiedBy>
  <cp:revision>8</cp:revision>
  <dcterms:created xsi:type="dcterms:W3CDTF">2026-03-25T16:24:36Z</dcterms:created>
  <dcterms:modified xsi:type="dcterms:W3CDTF">2026-04-02T20:51:15Z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0x010100DE4374FE006EF34987061464706B0180</vt:lpwstr>
  </property>
</Properties>
</file>